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9" r:id="rId1"/>
  </p:sldMasterIdLst>
  <p:notesMasterIdLst>
    <p:notesMasterId r:id="rId22"/>
  </p:notesMasterIdLst>
  <p:sldIdLst>
    <p:sldId id="27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embeddedFontLst>
    <p:embeddedFont>
      <p:font typeface="Roboto" panose="02000000000000000000"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596FA54-F9A0-43AD-BEA4-D8A777AA7D07}">
  <a:tblStyle styleId="{B596FA54-F9A0-43AD-BEA4-D8A777AA7D07}"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06" d="100"/>
          <a:sy n="206" d="100"/>
        </p:scale>
        <p:origin x="504" y="1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
        <p:cNvGrpSpPr/>
        <p:nvPr/>
      </p:nvGrpSpPr>
      <p:grpSpPr>
        <a:xfrm>
          <a:off x="0" y="0"/>
          <a:ext cx="0" cy="0"/>
          <a:chOff x="0" y="0"/>
          <a:chExt cx="0" cy="0"/>
        </a:xfrm>
      </p:grpSpPr>
      <p:sp>
        <p:nvSpPr>
          <p:cNvPr id="25" name="Google Shape;25;g3eacfad29c4_0_7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 name="Google Shape;26;g3eacfad29c4_0_7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Hoş geldiniz. Bu sunum Marmara Üniversitesi Bilgisayar Mühendisliği Bölümü bitirme projemizin savunmasıdır. Projemizin başlığı: Büyük Dil Modelleri ile Güvenlik Açığı Analizi ve Güvenli Kodlama: LoRA Tabanlı Bir Yaklaşım.</a:t>
            </a:r>
            <a:endParaRPr/>
          </a:p>
        </p:txBody>
      </p:sp>
      <p:sp>
        <p:nvSpPr>
          <p:cNvPr id="27" name="Google Shape;27;g3eacfad29c4_0_7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
        <p:cNvGrpSpPr/>
        <p:nvPr/>
      </p:nvGrpSpPr>
      <p:grpSpPr>
        <a:xfrm>
          <a:off x="0" y="0"/>
          <a:ext cx="0" cy="0"/>
          <a:chOff x="0" y="0"/>
          <a:chExt cx="0" cy="0"/>
        </a:xfrm>
      </p:grpSpPr>
      <p:sp>
        <p:nvSpPr>
          <p:cNvPr id="25" name="Google Shape;2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 name="Google Shape;2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Gündem: Problem tanımı ve motivasyonu, literatür taramasını, kullandığımız veri setlerini, LoRA yöntemimizi, değerlendirme metriklerini, deney sonuçlarını ve genel karşılaştırma ile sonucu ele alacağız.</a:t>
            </a:r>
            <a:endParaRPr/>
          </a:p>
        </p:txBody>
      </p:sp>
      <p:sp>
        <p:nvSpPr>
          <p:cNvPr id="27" name="Google Shape;2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 name="Google Shape;6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LLM kullanımı yaygınlaşıyor fakat genel amaçlı modeller güvenlik tespitinde yetersiz. GitHub Copilot ürettiği kodların ~%40'ında güvenlik açığı içerebildiği gösterilmiş. Bu çalışmada Qwen 2.5 Coder 7B modelini 4 farklı veri setiyle LoRA ince ayarına tabi tutarak özelleştirdik.</a:t>
            </a:r>
            <a:endParaRPr/>
          </a:p>
        </p:txBody>
      </p:sp>
      <p:sp>
        <p:nvSpPr>
          <p:cNvPr id="62" name="Google Shape;6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 name="Google Shape;8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Dört temel katkımız: birincisi alan-özel fine-tuning pipeline, ikincisi heterojen veri entegrasyonu, üçüncüsü parametre verimli 4-bit LoRA eğitimi, dördüncüsü güvenlik asistanı çıktısı.</a:t>
            </a:r>
            <a:endParaRPr/>
          </a:p>
        </p:txBody>
      </p:sp>
      <p:sp>
        <p:nvSpPr>
          <p:cNvPr id="84" name="Google Shape;8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 name="Google Shape;110;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Literatürde zafiyet tespiti için transformer tabanlı modeller başarılı sonuçlar veriyor. Mevcut çalışmaların büyük bölümü tek bir veri seti veya tek bir göreve odaklanıyor. Biz ise dört farklı veri setini birleştirerek hem zafiyet tespiti hem güvenli kodlama hem de genel siber güvenlik muhakemesini kapsıyoruz.</a:t>
            </a:r>
            <a:endParaRPr/>
          </a:p>
        </p:txBody>
      </p:sp>
      <p:sp>
        <p:nvSpPr>
          <p:cNvPr id="111" name="Google Shape;111;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Dört veri seti farklı görevlere odaklanıyor: CodeSearchNet genel kod anlama için, BigVul sistem düzeyinde zafiyet için, SecureCode-Web OWASP odaklı web güvenliği için, Fenrir genel siber güvenlik muhakemesi için. Toplam 515.187 örnek.</a:t>
            </a:r>
            <a:endParaRPr/>
          </a:p>
        </p:txBody>
      </p:sp>
      <p:sp>
        <p:nvSpPr>
          <p:cNvPr id="119" name="Google Shape;11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LoRA'da orijinal ağırlık matrisi dondurulup yanına iki küçük matris B ve A ekleniyor. Rank 16 seçtik; bu, çok daha az parametre eğitmek anlamına geliyor. Alpha 32 ile adaptasyon ölçekleniyor. 4-bit kuantizasyon ve Unsloth ile eğitim verimini artırdık. 7 farklı transformer katmanına LoRA uyguladık.</a:t>
            </a:r>
            <a:endParaRPr/>
          </a:p>
        </p:txBody>
      </p:sp>
      <p:sp>
        <p:nvSpPr>
          <p:cNvPr id="150" name="Google Shape;150;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eacfad29c4_0_4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eacfad29c4_0_4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LoRA'da orijinal ağırlık matrisi dondurulup yanına iki küçük matris B ve A ekleniyor. Rank 16 seçtik; bu, çok daha az parametre eğitmek anlamına geliyor. Alpha 32 ile adaptasyon ölçekleniyor. 4-bit kuantizasyon ve Unsloth ile eğitim verimini artırdık. 7 farklı transformer katmanına LoRA uyguladık.</a:t>
            </a:r>
            <a:endParaRPr/>
          </a:p>
        </p:txBody>
      </p:sp>
      <p:sp>
        <p:nvSpPr>
          <p:cNvPr id="161" name="Google Shape;161;g3eacfad29c4_0_45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eacfad29c4_0_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g3eacfad29c4_0_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LoRA'da orijinal ağırlık matrisi dondurulup yanına iki küçük matris B ve A ekleniyor. Rank 16 seçtik; bu, çok daha az parametre eğitmek anlamına geliyor. Alpha 32 ile adaptasyon ölçekleniyor. 4-bit kuantizasyon ve Unsloth ile eğitim verimini artırdık. 7 farklı transformer katmanına LoRA uyguladık.</a:t>
            </a:r>
            <a:endParaRPr/>
          </a:p>
        </p:txBody>
      </p:sp>
      <p:sp>
        <p:nvSpPr>
          <p:cNvPr id="186" name="Google Shape;186;g3eacfad29c4_0_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9" name="Google Shape;209;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Üç metrik grubu kullandık. Sınıflandırma metrikleri için güvenlik anahtar kelimeleri (vulnerability, CVE, injection vb.) üzerinden ikili etiket oluşturduk. ROUGE metrikleri metin benzerliğini ölçüyor. Semantik benzerlik için SentenceTransformers'ın MiniLM modeliyle kosinüs benzerliği hesapladık.</a:t>
            </a:r>
            <a:endParaRPr/>
          </a:p>
        </p:txBody>
      </p:sp>
      <p:sp>
        <p:nvSpPr>
          <p:cNvPr id="210" name="Google Shape;210;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BigVul sonuçları en çarpıcı olanlar. Temel modelin F1, Precision ve Recall değerleri sıfırken ince ayar sonrasında F1 0.90'a yükseldi. Bu, modelin başlangıçta güvenlik açıklarını hiç sınıflandıramazken ince ayar sonrasında çok başarılı hale geldiğini gösteriyor. ROUGE-1'de 1136, semantik benzerlikte 153 artış var.</a:t>
            </a:r>
            <a:endParaRPr/>
          </a:p>
        </p:txBody>
      </p:sp>
      <p:sp>
        <p:nvSpPr>
          <p:cNvPr id="250" name="Google Shape;250;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SecureCode-Web'de karışık bir tablo var. Precision artarken Recall düştü. Modelin daha seçici hale geldiğini görüyoruz - tespit ettiğinde daha doğru ama bazı açıkları kaçırıyor. Veri setinin küçük hacmi ve BigVul + Fenrir'in baskın etkisi bu sonuçları açıklıyor. Semantik benzerlik artmaya devam etti.</a:t>
            </a:r>
            <a:endParaRPr/>
          </a:p>
        </p:txBody>
      </p:sp>
      <p:sp>
        <p:nvSpPr>
          <p:cNvPr id="268" name="Google Shape;268;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Fenrir-v2.1 sonuçları genel olarak olumlu. Tüm metriklerde iyileşme gözlemlendi. Recall yüzde 14, semantik benzerlik yüzde 19, ROUGE-L yüzde 30 arttı. 99.870 örnek içeren bu büyük veri seti modelin siber güvenlik muhakemesini önemli ölçüde geliştirdi.</a:t>
            </a:r>
            <a:endParaRPr/>
          </a:p>
        </p:txBody>
      </p:sp>
      <p:sp>
        <p:nvSpPr>
          <p:cNvPr id="279" name="Google Shape;279;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Karşılaştırma tablosunda yeşil artışları, kırmızı düşüşleri gösteriyor. BigVul'da hemen tüm metrikler dramatik biçimde iyileşti. Fenrir'de de kapsamlı iyileşme var. SecureCode-Web bazı metriklerde düştü ancak precision ve semantic benzerlik arttı. Genel tabloya bakıldığında fine-tuning başarılı.</a:t>
            </a:r>
            <a:endParaRPr/>
          </a:p>
        </p:txBody>
      </p:sp>
      <p:sp>
        <p:nvSpPr>
          <p:cNvPr id="299" name="Google Shape;299;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3eacfad29c4_0_5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g3eacfad29c4_0_5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050">
                <a:solidFill>
                  <a:srgbClr val="1F1F1F"/>
                </a:solidFill>
                <a:highlight>
                  <a:srgbClr val="E9EEF6"/>
                </a:highlight>
                <a:latin typeface="Roboto"/>
                <a:ea typeface="Roboto"/>
                <a:cs typeface="Roboto"/>
                <a:sym typeface="Roboto"/>
              </a:rPr>
              <a:t>Enabling advanced security features like Windows Defender Application Control (WDAC) and Credential Guard fundamentally alters the risk landscape for SharePoint privilege-escalation paths by introducing additional layers of isolation and integrity verification. These features significantly reduce the attack surface available to adversaries attempting to exploit SharePoint vulnerabilities, particularly those involving credential theft or lateral movement. ### Risk Landscape Transformation **Credential Guard**: This feature isolates credentials within a virtualized environment, preventing unauthorized access even if an attacker gains kernel-level privileges. For SharePoint environments, this means that even if an attacker compromises a server hosting SharePoint services, they cannot extract cached credentials or Kerberos tickets used for authentication. This directly mitigates techniques such as T1003 (OS Credential Dumping) and T1552 (Unsecured Credentials), which are commonly exploited in SharePoint environments. **WDAC**: By enforcing digital signatures on applications and drivers, WDAC ensures that only trusted code executes on the system. This is particularly effective against techniques like T1546 (Event Triggered Execution) where attackers might attempt to inject malicious code into legitimate processes. In SharePoint scenarios, this prevents unauthorized modifications to SharePoint components or web parts, reducing the risk of privilege escalation through compromised extensions. ### Compensating Controls Despite these enhancements, several compensating controls remain essential: **Network Segmentation**: Implementing strict network segmentation ensures that SharePoint servers are isolated from other critical systems. This limits lateral movement opportunities even if an attacker bypasses Credential Guard or WDAC. **Privileged Access Management (PAM)**: Using PAM solutions to manage administrative access reduces the window of opportunity for privilege escalation. This includes implementing just-in-time access and multi-factor authentication for administrative accounts. **Monitoring and Logging**: Enhanced logging and monitoring capabilities are crucial for detecting anomalous activities. Tools like Microsoft Sentinel can provide real-time visibility into SharePoint usage patterns, enabling rapid detection of suspicious behavior indicative of privilege escalation attempts. **Patch Management**: Ensuring timely patching of all SharePoint components and underlying operating systems remains fundamental. Unpatched vulnerabilities can be exploited regardless of security features like Credential Guard and WDAC. ### Detection Opportunities Advanced security features enhance detection capabilities by providing more granular visibility into system activities. For instance, Credential Guard logs events related to credential isolation, while WDAC generates audit logs for code execution attempts. These logs can be correlated with SharePoint-specific telemetry to identify potential privilege-escalation attempts. ### Conclusion While Credential Guard and WDAC significantly reduce the risk of credential theft and unauthorized code execution in SharePoint environments, they do not eliminate all threats. Organizations must continue to implement robust compensating controls, maintain strong patch management practices, and leverage comprehensive monitoring and logging to ensure a resilient security posture. </a:t>
            </a:r>
            <a:r>
              <a:rPr lang="en-US" sz="1100">
                <a:latin typeface="Arial"/>
                <a:ea typeface="Arial"/>
                <a:cs typeface="Arial"/>
                <a:sym typeface="Arial"/>
              </a:rPr>
              <a:t> </a:t>
            </a:r>
            <a:endParaRPr/>
          </a:p>
        </p:txBody>
      </p:sp>
      <p:sp>
        <p:nvSpPr>
          <p:cNvPr id="308" name="Google Shape;308;g3eacfad29c4_0_5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eacfad29c4_0_5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0" name="Google Shape;320;g3eacfad29c4_0_5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050">
                <a:solidFill>
                  <a:srgbClr val="1F1F1F"/>
                </a:solidFill>
                <a:highlight>
                  <a:srgbClr val="E9EEF6"/>
                </a:highlight>
                <a:latin typeface="Roboto"/>
                <a:ea typeface="Roboto"/>
                <a:cs typeface="Roboto"/>
                <a:sym typeface="Roboto"/>
              </a:rPr>
              <a:t>Enabling advanced security features like Windows Defender Application Control (WDAC) and Credential Guard fundamentally alters the risk landscape for SharePoint privilege-escalation paths by introducing additional layers of isolation and integrity verification. These features significantly reduce the attack surface available to adversaries attempting to exploit SharePoint vulnerabilities, particularly those involving credential theft or lateral movement. ### Risk Landscape Transformation **Credential Guard**: This feature isolates credentials within a virtualized environment, preventing unauthorized access even if an attacker gains kernel-level privileges. For SharePoint environments, this means that even if an attacker compromises a server hosting SharePoint services, they cannot extract cached credentials or Kerberos tickets used for authentication. This directly mitigates techniques such as T1003 (OS Credential Dumping) and T1552 (Unsecured Credentials), which are commonly exploited in SharePoint environments. **WDAC**: By enforcing digital signatures on applications and drivers, WDAC ensures that only trusted code executes on the system. This is particularly effective against techniques like T1546 (Event Triggered Execution) where attackers might attempt to inject malicious code into legitimate processes. In SharePoint scenarios, this prevents unauthorized modifications to SharePoint components or web parts, reducing the risk of privilege escalation through compromised extensions. ### Compensating Controls Despite these enhancements, several compensating controls remain essential: **Network Segmentation**: Implementing strict network segmentation ensures that SharePoint servers are isolated from other critical systems. This limits lateral movement opportunities even if an attacker bypasses Credential Guard or WDAC. **Privileged Access Management (PAM)**: Using PAM solutions to manage administrative access reduces the window of opportunity for privilege escalation. This includes implementing just-in-time access and multi-factor authentication for administrative accounts. **Monitoring and Logging**: Enhanced logging and monitoring capabilities are crucial for detecting anomalous activities. Tools like Microsoft Sentinel can provide real-time visibility into SharePoint usage patterns, enabling rapid detection of suspicious behavior indicative of privilege escalation attempts. **Patch Management**: Ensuring timely patching of all SharePoint components and underlying operating systems remains fundamental. Unpatched vulnerabilities can be exploited regardless of security features like Credential Guard and WDAC. ### Detection Opportunities Advanced security features enhance detection capabilities by providing more granular visibility into system activities. For instance, Credential Guard logs events related to credential isolation, while WDAC generates audit logs for code execution attempts. These logs can be correlated with SharePoint-specific telemetry to identify potential privilege-escalation attempts. ### Conclusion While Credential Guard and WDAC significantly reduce the risk of credential theft and unauthorized code execution in SharePoint environments, they do not eliminate all threats. Organizations must continue to implement robust compensating controls, maintain strong patch management practices, and leverage comprehensive monitoring and logging to ensure a resilient security posture. </a:t>
            </a:r>
            <a:r>
              <a:rPr lang="en-US" sz="1100">
                <a:latin typeface="Arial"/>
                <a:ea typeface="Arial"/>
                <a:cs typeface="Arial"/>
                <a:sym typeface="Arial"/>
              </a:rPr>
              <a:t> </a:t>
            </a:r>
            <a:endParaRPr/>
          </a:p>
        </p:txBody>
      </p:sp>
      <p:sp>
        <p:nvSpPr>
          <p:cNvPr id="321" name="Google Shape;321;g3eacfad29c4_0_5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3eacfad29c4_0_6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3" name="Google Shape;333;g3eacfad29c4_0_6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Özet: LoRA yaklaşımımız başarılı oldu. En çarpıcı sonuç BigVul'da, temel model sıfırdan zafiyet tespiti öğrendi. Fenrir kapsamlı iyileşme sağladı. SecureCode-Web kısmen farklı davrandı ama bu gelecek çalışmaları motive ediyor. Heterojen veri kullanımı siber güvenlik LLM geliştirmede etkili bir yaklaşım.</a:t>
            </a:r>
            <a:endParaRPr/>
          </a:p>
        </p:txBody>
      </p:sp>
      <p:sp>
        <p:nvSpPr>
          <p:cNvPr id="334" name="Google Shape;334;g3eacfad29c4_0_6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0" name="Google Shape;36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Gelecek çalışmalar: veri seti genişletme, daha büyük modeller, gerçek dünya testi, RLHF entegrasyonu, adversarial sağlamlık ve CI/CD entegrasyonu. Bu çalışma birçok ilginç araştırma sorusunu açıyor.</a:t>
            </a:r>
            <a:endParaRPr/>
          </a:p>
        </p:txBody>
      </p:sp>
      <p:sp>
        <p:nvSpPr>
          <p:cNvPr id="361" name="Google Shape;361;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1" name="Google Shape;391;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Kaynakça slaydı. 8 temel referansımız var: DiverseVul, CASTLE, Copilot güvenlik analizi, LineVul, SecureBERT, LoRA, SQL Injection tespiti ve SVEN.</a:t>
            </a:r>
            <a:endParaRPr/>
          </a:p>
        </p:txBody>
      </p:sp>
      <p:sp>
        <p:nvSpPr>
          <p:cNvPr id="392" name="Google Shape;392;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9" name="Google Shape;399;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Sunumu tamamladım. Sorularınızı bekliyorum.</a:t>
            </a:r>
            <a:endParaRPr/>
          </a:p>
        </p:txBody>
      </p:sp>
      <p:sp>
        <p:nvSpPr>
          <p:cNvPr id="400" name="Google Shape;400;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
        <p:cNvGrpSpPr/>
        <p:nvPr/>
      </p:nvGrpSpPr>
      <p:grpSpPr>
        <a:xfrm>
          <a:off x="0" y="0"/>
          <a:ext cx="0" cy="0"/>
          <a:chOff x="0" y="0"/>
          <a:chExt cx="0" cy="0"/>
        </a:xfrm>
      </p:grpSpPr>
      <p:sp>
        <p:nvSpPr>
          <p:cNvPr id="29" name="Google Shape;29;p4"/>
          <p:cNvSpPr/>
          <p:nvPr/>
        </p:nvSpPr>
        <p:spPr>
          <a:xfrm>
            <a:off x="457200" y="256032"/>
            <a:ext cx="8229600" cy="2742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ctr" rtl="0">
              <a:spcBef>
                <a:spcPts val="0"/>
              </a:spcBef>
              <a:spcAft>
                <a:spcPts val="0"/>
              </a:spcAft>
              <a:buNone/>
            </a:pPr>
            <a:r>
              <a:rPr lang="en-US" sz="900" b="0" i="0">
                <a:solidFill>
                  <a:srgbClr val="4A5568"/>
                </a:solidFill>
                <a:latin typeface="Calibri"/>
                <a:ea typeface="Calibri"/>
                <a:cs typeface="Calibri"/>
                <a:sym typeface="Calibri"/>
              </a:rPr>
              <a:t>MARMARA ÜNİVERSİTESİ • TEKNOLOJİ FAKÜLTESİ • BİLGİSAYAR MÜHENDİSLİĞİ BÖLÜMÜ</a:t>
            </a:r>
            <a:endParaRPr sz="900" b="0" i="0">
              <a:solidFill>
                <a:srgbClr val="4A5568"/>
              </a:solidFill>
              <a:latin typeface="Calibri"/>
              <a:ea typeface="Calibri"/>
              <a:cs typeface="Calibri"/>
              <a:sym typeface="Calibri"/>
            </a:endParaRPr>
          </a:p>
        </p:txBody>
      </p:sp>
      <p:sp>
        <p:nvSpPr>
          <p:cNvPr id="30" name="Google Shape;30;p4"/>
          <p:cNvSpPr/>
          <p:nvPr/>
        </p:nvSpPr>
        <p:spPr>
          <a:xfrm>
            <a:off x="457200" y="685800"/>
            <a:ext cx="8229600" cy="16458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ctr" rtl="0">
              <a:spcBef>
                <a:spcPts val="0"/>
              </a:spcBef>
              <a:spcAft>
                <a:spcPts val="0"/>
              </a:spcAft>
              <a:buNone/>
            </a:pPr>
            <a:r>
              <a:rPr lang="en-US" sz="3000" b="1" i="0">
                <a:solidFill>
                  <a:srgbClr val="0A1628"/>
                </a:solidFill>
                <a:latin typeface="Calibri"/>
                <a:ea typeface="Calibri"/>
                <a:cs typeface="Calibri"/>
                <a:sym typeface="Calibri"/>
              </a:rPr>
              <a:t>Büyük Dil Modelleri ile</a:t>
            </a:r>
            <a:endParaRPr sz="3000" b="1" i="0">
              <a:solidFill>
                <a:srgbClr val="0A1628"/>
              </a:solidFill>
              <a:latin typeface="Calibri"/>
              <a:ea typeface="Calibri"/>
              <a:cs typeface="Calibri"/>
              <a:sym typeface="Calibri"/>
            </a:endParaRPr>
          </a:p>
          <a:p>
            <a:pPr marL="0" lvl="0" indent="0" algn="ctr" rtl="0">
              <a:spcBef>
                <a:spcPts val="0"/>
              </a:spcBef>
              <a:spcAft>
                <a:spcPts val="0"/>
              </a:spcAft>
              <a:buNone/>
            </a:pPr>
            <a:r>
              <a:rPr lang="en-US" sz="3000" b="1" i="0">
                <a:solidFill>
                  <a:srgbClr val="0A1628"/>
                </a:solidFill>
                <a:latin typeface="Calibri"/>
                <a:ea typeface="Calibri"/>
                <a:cs typeface="Calibri"/>
                <a:sym typeface="Calibri"/>
              </a:rPr>
              <a:t>Güvenlik Açığı Analizi ve Güvenli Kodlama</a:t>
            </a:r>
            <a:endParaRPr sz="3000" b="1" i="0">
              <a:solidFill>
                <a:srgbClr val="0A1628"/>
              </a:solidFill>
              <a:latin typeface="Calibri"/>
              <a:ea typeface="Calibri"/>
              <a:cs typeface="Calibri"/>
              <a:sym typeface="Calibri"/>
            </a:endParaRPr>
          </a:p>
        </p:txBody>
      </p:sp>
      <p:sp>
        <p:nvSpPr>
          <p:cNvPr id="31" name="Google Shape;31;p4"/>
          <p:cNvSpPr/>
          <p:nvPr/>
        </p:nvSpPr>
        <p:spPr>
          <a:xfrm>
            <a:off x="2286000" y="2423160"/>
            <a:ext cx="4572000" cy="548700"/>
          </a:xfrm>
          <a:prstGeom prst="roundRect">
            <a:avLst>
              <a:gd name="adj" fmla="val 13333"/>
            </a:avLst>
          </a:prstGeom>
          <a:solidFill>
            <a:srgbClr val="0A7E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2286000" y="2423160"/>
            <a:ext cx="4572000" cy="548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Calibri"/>
              <a:buNone/>
            </a:pPr>
            <a:r>
              <a:rPr lang="en-US" sz="1700" b="1" i="0" u="none" strike="noStrike" cap="none">
                <a:solidFill>
                  <a:srgbClr val="FFFFFF"/>
                </a:solidFill>
                <a:latin typeface="Calibri"/>
                <a:ea typeface="Calibri"/>
                <a:cs typeface="Calibri"/>
                <a:sym typeface="Calibri"/>
              </a:rPr>
              <a:t>LoRA Tabanlı Bir Yaklaşım</a:t>
            </a:r>
            <a:endParaRPr sz="1700" b="0" i="0" u="none" strike="noStrike" cap="none">
              <a:solidFill>
                <a:schemeClr val="dk1"/>
              </a:solidFill>
              <a:latin typeface="Calibri"/>
              <a:ea typeface="Calibri"/>
              <a:cs typeface="Calibri"/>
              <a:sym typeface="Calibri"/>
            </a:endParaRPr>
          </a:p>
        </p:txBody>
      </p:sp>
      <p:sp>
        <p:nvSpPr>
          <p:cNvPr id="33" name="Google Shape;33;p4"/>
          <p:cNvSpPr/>
          <p:nvPr/>
        </p:nvSpPr>
        <p:spPr>
          <a:xfrm>
            <a:off x="457200" y="3200400"/>
            <a:ext cx="8229600" cy="3201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ctr" rtl="0">
              <a:spcBef>
                <a:spcPts val="0"/>
              </a:spcBef>
              <a:spcAft>
                <a:spcPts val="0"/>
              </a:spcAft>
              <a:buNone/>
            </a:pPr>
            <a:r>
              <a:rPr lang="en-US" sz="1300" b="0" i="0" dirty="0">
                <a:solidFill>
                  <a:srgbClr val="1A2332"/>
                </a:solidFill>
                <a:latin typeface="Calibri"/>
                <a:ea typeface="Calibri"/>
                <a:cs typeface="Calibri"/>
                <a:sym typeface="Calibri"/>
              </a:rPr>
              <a:t>Ahmet Erdem </a:t>
            </a:r>
            <a:r>
              <a:rPr lang="en-US" sz="1300" b="0" i="0" dirty="0" err="1">
                <a:solidFill>
                  <a:srgbClr val="1A2332"/>
                </a:solidFill>
                <a:latin typeface="Calibri"/>
                <a:ea typeface="Calibri"/>
                <a:cs typeface="Calibri"/>
                <a:sym typeface="Calibri"/>
              </a:rPr>
              <a:t>Yabacı</a:t>
            </a:r>
            <a:r>
              <a:rPr lang="en-US" sz="1300" b="0" i="0" dirty="0">
                <a:solidFill>
                  <a:srgbClr val="1A2332"/>
                </a:solidFill>
                <a:latin typeface="Calibri"/>
                <a:ea typeface="Calibri"/>
                <a:cs typeface="Calibri"/>
                <a:sym typeface="Calibri"/>
              </a:rPr>
              <a:t> • Ali Mete </a:t>
            </a:r>
            <a:r>
              <a:rPr lang="en-US" sz="1300" b="0" i="0" dirty="0" err="1">
                <a:solidFill>
                  <a:srgbClr val="1A2332"/>
                </a:solidFill>
                <a:latin typeface="Calibri"/>
                <a:ea typeface="Calibri"/>
                <a:cs typeface="Calibri"/>
                <a:sym typeface="Calibri"/>
              </a:rPr>
              <a:t>Çıplak</a:t>
            </a:r>
            <a:r>
              <a:rPr lang="en-US" sz="1300" b="0" i="0" dirty="0">
                <a:solidFill>
                  <a:srgbClr val="1A2332"/>
                </a:solidFill>
                <a:latin typeface="Calibri"/>
                <a:ea typeface="Calibri"/>
                <a:cs typeface="Calibri"/>
                <a:sym typeface="Calibri"/>
              </a:rPr>
              <a:t> • </a:t>
            </a:r>
            <a:r>
              <a:rPr lang="en-US" sz="1300" b="0" i="0" dirty="0" err="1">
                <a:solidFill>
                  <a:srgbClr val="1A2332"/>
                </a:solidFill>
                <a:latin typeface="Calibri"/>
                <a:ea typeface="Calibri"/>
                <a:cs typeface="Calibri"/>
                <a:sym typeface="Calibri"/>
              </a:rPr>
              <a:t>Ertunga</a:t>
            </a:r>
            <a:r>
              <a:rPr lang="en-US" sz="1300" b="0" i="0" dirty="0">
                <a:solidFill>
                  <a:srgbClr val="1A2332"/>
                </a:solidFill>
                <a:latin typeface="Calibri"/>
                <a:ea typeface="Calibri"/>
                <a:cs typeface="Calibri"/>
                <a:sym typeface="Calibri"/>
              </a:rPr>
              <a:t> Yusuf </a:t>
            </a:r>
            <a:r>
              <a:rPr lang="en-US" sz="1300" b="0" i="0" dirty="0" err="1">
                <a:solidFill>
                  <a:srgbClr val="1A2332"/>
                </a:solidFill>
                <a:latin typeface="Calibri"/>
                <a:ea typeface="Calibri"/>
                <a:cs typeface="Calibri"/>
                <a:sym typeface="Calibri"/>
              </a:rPr>
              <a:t>Ocak</a:t>
            </a:r>
            <a:r>
              <a:rPr lang="en-US" sz="1300" b="0" i="0" dirty="0">
                <a:solidFill>
                  <a:srgbClr val="1A2332"/>
                </a:solidFill>
                <a:latin typeface="Calibri"/>
                <a:ea typeface="Calibri"/>
                <a:cs typeface="Calibri"/>
                <a:sym typeface="Calibri"/>
              </a:rPr>
              <a:t> • Fatih Eren Durmuş</a:t>
            </a:r>
            <a:endParaRPr sz="1300" b="0" i="0" dirty="0">
              <a:solidFill>
                <a:srgbClr val="1A2332"/>
              </a:solidFill>
              <a:latin typeface="Calibri"/>
              <a:ea typeface="Calibri"/>
              <a:cs typeface="Calibri"/>
              <a:sym typeface="Calibri"/>
            </a:endParaRPr>
          </a:p>
        </p:txBody>
      </p:sp>
      <p:sp>
        <p:nvSpPr>
          <p:cNvPr id="34" name="Google Shape;34;p4"/>
          <p:cNvSpPr/>
          <p:nvPr/>
        </p:nvSpPr>
        <p:spPr>
          <a:xfrm>
            <a:off x="457200" y="3584448"/>
            <a:ext cx="8229600" cy="2742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ctr" rtl="0">
              <a:spcBef>
                <a:spcPts val="0"/>
              </a:spcBef>
              <a:spcAft>
                <a:spcPts val="0"/>
              </a:spcAft>
              <a:buNone/>
            </a:pPr>
            <a:r>
              <a:rPr lang="en-US" sz="1100" b="0" i="0">
                <a:solidFill>
                  <a:srgbClr val="4A5568"/>
                </a:solidFill>
                <a:latin typeface="Calibri"/>
                <a:ea typeface="Calibri"/>
                <a:cs typeface="Calibri"/>
                <a:sym typeface="Calibri"/>
              </a:rPr>
              <a:t>Danışman: Doç. Dr. Ayşe Berna ALTINEL GİRGİN</a:t>
            </a:r>
            <a:endParaRPr sz="1100" b="0" i="0">
              <a:solidFill>
                <a:srgbClr val="4A5568"/>
              </a:solidFill>
              <a:latin typeface="Calibri"/>
              <a:ea typeface="Calibri"/>
              <a:cs typeface="Calibri"/>
              <a:sym typeface="Calibri"/>
            </a:endParaRPr>
          </a:p>
        </p:txBody>
      </p:sp>
      <p:sp>
        <p:nvSpPr>
          <p:cNvPr id="35" name="Google Shape;35;p4"/>
          <p:cNvSpPr/>
          <p:nvPr/>
        </p:nvSpPr>
        <p:spPr>
          <a:xfrm>
            <a:off x="1828800" y="3977640"/>
            <a:ext cx="5486400" cy="22800"/>
          </a:xfrm>
          <a:prstGeom prst="rect">
            <a:avLst/>
          </a:prstGeom>
          <a:solidFill>
            <a:srgbClr val="0A7E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4"/>
          <p:cNvSpPr/>
          <p:nvPr/>
        </p:nvSpPr>
        <p:spPr>
          <a:xfrm>
            <a:off x="457200" y="4069080"/>
            <a:ext cx="8229600" cy="2742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ctr" rtl="0">
              <a:spcBef>
                <a:spcPts val="0"/>
              </a:spcBef>
              <a:spcAft>
                <a:spcPts val="0"/>
              </a:spcAft>
              <a:buNone/>
            </a:pPr>
            <a:r>
              <a:rPr lang="en-US" sz="1000" b="0" i="0">
                <a:solidFill>
                  <a:srgbClr val="64748B"/>
                </a:solidFill>
                <a:latin typeface="Calibri"/>
                <a:ea typeface="Calibri"/>
                <a:cs typeface="Calibri"/>
                <a:sym typeface="Calibri"/>
              </a:rPr>
              <a:t>İstanbul, Haziran 2026</a:t>
            </a:r>
            <a:endParaRPr sz="1000" b="0" i="0">
              <a:solidFill>
                <a:srgbClr val="64748B"/>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
        <p:cNvGrpSpPr/>
        <p:nvPr/>
      </p:nvGrpSpPr>
      <p:grpSpPr>
        <a:xfrm>
          <a:off x="0" y="0"/>
          <a:ext cx="0" cy="0"/>
          <a:chOff x="0" y="0"/>
          <a:chExt cx="0" cy="0"/>
        </a:xfrm>
      </p:grpSpPr>
      <p:sp>
        <p:nvSpPr>
          <p:cNvPr id="29" name="Google Shape;29;p4"/>
          <p:cNvSpPr/>
          <p:nvPr/>
        </p:nvSpPr>
        <p:spPr>
          <a:xfrm>
            <a:off x="457200" y="201168"/>
            <a:ext cx="822960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A1628"/>
              </a:buClr>
              <a:buSzPts val="2800"/>
              <a:buFont typeface="Calibri"/>
              <a:buNone/>
            </a:pPr>
            <a:r>
              <a:rPr lang="en-US" sz="2800" b="1" i="0" u="none" strike="noStrike" cap="none">
                <a:solidFill>
                  <a:srgbClr val="0A1628"/>
                </a:solidFill>
                <a:latin typeface="Calibri"/>
                <a:ea typeface="Calibri"/>
                <a:cs typeface="Calibri"/>
                <a:sym typeface="Calibri"/>
              </a:rPr>
              <a:t>Gündem</a:t>
            </a:r>
            <a:endParaRPr sz="2800" b="0" i="0" u="none" strike="noStrike" cap="none">
              <a:solidFill>
                <a:schemeClr val="dk1"/>
              </a:solidFill>
              <a:latin typeface="Calibri"/>
              <a:ea typeface="Calibri"/>
              <a:cs typeface="Calibri"/>
              <a:sym typeface="Calibri"/>
            </a:endParaRPr>
          </a:p>
        </p:txBody>
      </p:sp>
      <p:sp>
        <p:nvSpPr>
          <p:cNvPr id="30" name="Google Shape;30;p4"/>
          <p:cNvSpPr/>
          <p:nvPr/>
        </p:nvSpPr>
        <p:spPr>
          <a:xfrm>
            <a:off x="457200" y="932688"/>
            <a:ext cx="8229600" cy="22860"/>
          </a:xfrm>
          <a:prstGeom prst="rect">
            <a:avLst/>
          </a:prstGeom>
          <a:solidFill>
            <a:srgbClr val="DBEA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a:off x="548640" y="1097280"/>
            <a:ext cx="3931920" cy="658368"/>
          </a:xfrm>
          <a:prstGeom prst="roundRect">
            <a:avLst>
              <a:gd name="adj" fmla="val 11111"/>
            </a:avLst>
          </a:prstGeom>
          <a:solidFill>
            <a:srgbClr val="F7FA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548640" y="1097280"/>
            <a:ext cx="548640" cy="658368"/>
          </a:xfrm>
          <a:prstGeom prst="roundRect">
            <a:avLst>
              <a:gd name="adj" fmla="val 8333"/>
            </a:avLst>
          </a:prstGeom>
          <a:solidFill>
            <a:srgbClr val="0A7E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a:off x="548640" y="1097280"/>
            <a:ext cx="548640"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01</a:t>
            </a:r>
            <a:endParaRPr sz="1300" b="0" i="0" u="none" strike="noStrike" cap="none">
              <a:solidFill>
                <a:schemeClr val="dk1"/>
              </a:solidFill>
              <a:latin typeface="Calibri"/>
              <a:ea typeface="Calibri"/>
              <a:cs typeface="Calibri"/>
              <a:sym typeface="Calibri"/>
            </a:endParaRPr>
          </a:p>
        </p:txBody>
      </p:sp>
      <p:sp>
        <p:nvSpPr>
          <p:cNvPr id="34" name="Google Shape;34;p4"/>
          <p:cNvSpPr/>
          <p:nvPr/>
        </p:nvSpPr>
        <p:spPr>
          <a:xfrm>
            <a:off x="1234440" y="1097280"/>
            <a:ext cx="3108960" cy="6583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332"/>
              </a:buClr>
              <a:buSzPts val="1400"/>
              <a:buFont typeface="Calibri"/>
              <a:buNone/>
            </a:pPr>
            <a:r>
              <a:rPr lang="en-US" sz="1400" b="0" i="0" u="none" strike="noStrike" cap="none">
                <a:solidFill>
                  <a:srgbClr val="1A2332"/>
                </a:solidFill>
                <a:latin typeface="Calibri"/>
                <a:ea typeface="Calibri"/>
                <a:cs typeface="Calibri"/>
                <a:sym typeface="Calibri"/>
              </a:rPr>
              <a:t>Problem Tanımı &amp; Motivasyon</a:t>
            </a:r>
            <a:endParaRPr sz="1400" b="0" i="0" u="none" strike="noStrike" cap="none">
              <a:solidFill>
                <a:schemeClr val="dk1"/>
              </a:solidFill>
              <a:latin typeface="Calibri"/>
              <a:ea typeface="Calibri"/>
              <a:cs typeface="Calibri"/>
              <a:sym typeface="Calibri"/>
            </a:endParaRPr>
          </a:p>
        </p:txBody>
      </p:sp>
      <p:sp>
        <p:nvSpPr>
          <p:cNvPr id="35" name="Google Shape;35;p4"/>
          <p:cNvSpPr/>
          <p:nvPr/>
        </p:nvSpPr>
        <p:spPr>
          <a:xfrm>
            <a:off x="548640" y="1965960"/>
            <a:ext cx="3931920" cy="658368"/>
          </a:xfrm>
          <a:prstGeom prst="roundRect">
            <a:avLst>
              <a:gd name="adj" fmla="val 11111"/>
            </a:avLst>
          </a:prstGeom>
          <a:solidFill>
            <a:srgbClr val="F7FA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4"/>
          <p:cNvSpPr/>
          <p:nvPr/>
        </p:nvSpPr>
        <p:spPr>
          <a:xfrm>
            <a:off x="548640" y="1965960"/>
            <a:ext cx="548640" cy="658368"/>
          </a:xfrm>
          <a:prstGeom prst="roundRect">
            <a:avLst>
              <a:gd name="adj" fmla="val 8333"/>
            </a:avLst>
          </a:prstGeom>
          <a:solidFill>
            <a:srgbClr val="0E9F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4"/>
          <p:cNvSpPr/>
          <p:nvPr/>
        </p:nvSpPr>
        <p:spPr>
          <a:xfrm>
            <a:off x="548640" y="1965960"/>
            <a:ext cx="548640"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02</a:t>
            </a:r>
            <a:endParaRPr sz="1300" b="0" i="0" u="none" strike="noStrike" cap="none">
              <a:solidFill>
                <a:schemeClr val="dk1"/>
              </a:solidFill>
              <a:latin typeface="Calibri"/>
              <a:ea typeface="Calibri"/>
              <a:cs typeface="Calibri"/>
              <a:sym typeface="Calibri"/>
            </a:endParaRPr>
          </a:p>
        </p:txBody>
      </p:sp>
      <p:sp>
        <p:nvSpPr>
          <p:cNvPr id="38" name="Google Shape;38;p4"/>
          <p:cNvSpPr/>
          <p:nvPr/>
        </p:nvSpPr>
        <p:spPr>
          <a:xfrm>
            <a:off x="1234440" y="1965960"/>
            <a:ext cx="3108960" cy="6583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332"/>
              </a:buClr>
              <a:buSzPts val="1400"/>
              <a:buFont typeface="Calibri"/>
              <a:buNone/>
            </a:pPr>
            <a:r>
              <a:rPr lang="en-US" sz="1400" b="0" i="0" u="none" strike="noStrike" cap="none">
                <a:solidFill>
                  <a:srgbClr val="1A2332"/>
                </a:solidFill>
                <a:latin typeface="Calibri"/>
                <a:ea typeface="Calibri"/>
                <a:cs typeface="Calibri"/>
                <a:sym typeface="Calibri"/>
              </a:rPr>
              <a:t>Literatür Taraması</a:t>
            </a:r>
            <a:endParaRPr sz="1400" b="0" i="0" u="none" strike="noStrike" cap="none">
              <a:solidFill>
                <a:schemeClr val="dk1"/>
              </a:solidFill>
              <a:latin typeface="Calibri"/>
              <a:ea typeface="Calibri"/>
              <a:cs typeface="Calibri"/>
              <a:sym typeface="Calibri"/>
            </a:endParaRPr>
          </a:p>
        </p:txBody>
      </p:sp>
      <p:sp>
        <p:nvSpPr>
          <p:cNvPr id="39" name="Google Shape;39;p4"/>
          <p:cNvSpPr/>
          <p:nvPr/>
        </p:nvSpPr>
        <p:spPr>
          <a:xfrm>
            <a:off x="548640" y="2834640"/>
            <a:ext cx="3931920" cy="658368"/>
          </a:xfrm>
          <a:prstGeom prst="roundRect">
            <a:avLst>
              <a:gd name="adj" fmla="val 11111"/>
            </a:avLst>
          </a:prstGeom>
          <a:solidFill>
            <a:srgbClr val="F7FA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a:off x="548640" y="2834640"/>
            <a:ext cx="548640" cy="658368"/>
          </a:xfrm>
          <a:prstGeom prst="roundRect">
            <a:avLst>
              <a:gd name="adj" fmla="val 8333"/>
            </a:avLst>
          </a:prstGeom>
          <a:solidFill>
            <a:srgbClr val="D977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548640" y="2834640"/>
            <a:ext cx="548640"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03</a:t>
            </a:r>
            <a:endParaRPr sz="1300" b="0" i="0" u="none" strike="noStrike" cap="none">
              <a:solidFill>
                <a:schemeClr val="dk1"/>
              </a:solidFill>
              <a:latin typeface="Calibri"/>
              <a:ea typeface="Calibri"/>
              <a:cs typeface="Calibri"/>
              <a:sym typeface="Calibri"/>
            </a:endParaRPr>
          </a:p>
        </p:txBody>
      </p:sp>
      <p:sp>
        <p:nvSpPr>
          <p:cNvPr id="42" name="Google Shape;42;p4"/>
          <p:cNvSpPr/>
          <p:nvPr/>
        </p:nvSpPr>
        <p:spPr>
          <a:xfrm>
            <a:off x="1234440" y="2834640"/>
            <a:ext cx="3108960" cy="6583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332"/>
              </a:buClr>
              <a:buSzPts val="1400"/>
              <a:buFont typeface="Calibri"/>
              <a:buNone/>
            </a:pPr>
            <a:r>
              <a:rPr lang="en-US" sz="1400" b="0" i="0" u="none" strike="noStrike" cap="none">
                <a:solidFill>
                  <a:srgbClr val="1A2332"/>
                </a:solidFill>
                <a:latin typeface="Calibri"/>
                <a:ea typeface="Calibri"/>
                <a:cs typeface="Calibri"/>
                <a:sym typeface="Calibri"/>
              </a:rPr>
              <a:t>Veri Setleri</a:t>
            </a:r>
            <a:endParaRPr sz="1400" b="0" i="0" u="none" strike="noStrike" cap="none">
              <a:solidFill>
                <a:schemeClr val="dk1"/>
              </a:solidFill>
              <a:latin typeface="Calibri"/>
              <a:ea typeface="Calibri"/>
              <a:cs typeface="Calibri"/>
              <a:sym typeface="Calibri"/>
            </a:endParaRPr>
          </a:p>
        </p:txBody>
      </p:sp>
      <p:sp>
        <p:nvSpPr>
          <p:cNvPr id="43" name="Google Shape;43;p4"/>
          <p:cNvSpPr/>
          <p:nvPr/>
        </p:nvSpPr>
        <p:spPr>
          <a:xfrm>
            <a:off x="548640" y="3703320"/>
            <a:ext cx="3931920" cy="658368"/>
          </a:xfrm>
          <a:prstGeom prst="roundRect">
            <a:avLst>
              <a:gd name="adj" fmla="val 11111"/>
            </a:avLst>
          </a:prstGeom>
          <a:solidFill>
            <a:srgbClr val="F7FA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a:off x="548640" y="3703320"/>
            <a:ext cx="548640" cy="658368"/>
          </a:xfrm>
          <a:prstGeom prst="roundRect">
            <a:avLst>
              <a:gd name="adj" fmla="val 8333"/>
            </a:avLst>
          </a:prstGeom>
          <a:solidFill>
            <a:srgbClr val="7C3A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4"/>
          <p:cNvSpPr/>
          <p:nvPr/>
        </p:nvSpPr>
        <p:spPr>
          <a:xfrm>
            <a:off x="548640" y="3703320"/>
            <a:ext cx="548640"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04</a:t>
            </a:r>
            <a:endParaRPr sz="1300" b="0" i="0" u="none" strike="noStrike" cap="none">
              <a:solidFill>
                <a:schemeClr val="dk1"/>
              </a:solidFill>
              <a:latin typeface="Calibri"/>
              <a:ea typeface="Calibri"/>
              <a:cs typeface="Calibri"/>
              <a:sym typeface="Calibri"/>
            </a:endParaRPr>
          </a:p>
        </p:txBody>
      </p:sp>
      <p:sp>
        <p:nvSpPr>
          <p:cNvPr id="46" name="Google Shape;46;p4"/>
          <p:cNvSpPr/>
          <p:nvPr/>
        </p:nvSpPr>
        <p:spPr>
          <a:xfrm>
            <a:off x="1234440" y="3703320"/>
            <a:ext cx="3108960" cy="6583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332"/>
              </a:buClr>
              <a:buSzPts val="1400"/>
              <a:buFont typeface="Calibri"/>
              <a:buNone/>
            </a:pPr>
            <a:r>
              <a:rPr lang="en-US" sz="1400" b="0" i="0" u="none" strike="noStrike" cap="none">
                <a:solidFill>
                  <a:srgbClr val="1A2332"/>
                </a:solidFill>
                <a:latin typeface="Calibri"/>
                <a:ea typeface="Calibri"/>
                <a:cs typeface="Calibri"/>
                <a:sym typeface="Calibri"/>
              </a:rPr>
              <a:t>Yöntem: LoRA Fine-Tuning</a:t>
            </a:r>
            <a:endParaRPr sz="1400" b="0" i="0" u="none" strike="noStrike" cap="none">
              <a:solidFill>
                <a:schemeClr val="dk1"/>
              </a:solidFill>
              <a:latin typeface="Calibri"/>
              <a:ea typeface="Calibri"/>
              <a:cs typeface="Calibri"/>
              <a:sym typeface="Calibri"/>
            </a:endParaRPr>
          </a:p>
        </p:txBody>
      </p:sp>
      <p:sp>
        <p:nvSpPr>
          <p:cNvPr id="47" name="Google Shape;47;p4"/>
          <p:cNvSpPr/>
          <p:nvPr/>
        </p:nvSpPr>
        <p:spPr>
          <a:xfrm>
            <a:off x="4846320" y="1097280"/>
            <a:ext cx="3931920" cy="658368"/>
          </a:xfrm>
          <a:prstGeom prst="roundRect">
            <a:avLst>
              <a:gd name="adj" fmla="val 11111"/>
            </a:avLst>
          </a:prstGeom>
          <a:solidFill>
            <a:srgbClr val="F7FA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4"/>
          <p:cNvSpPr/>
          <p:nvPr/>
        </p:nvSpPr>
        <p:spPr>
          <a:xfrm>
            <a:off x="4846320" y="1097280"/>
            <a:ext cx="548640" cy="658368"/>
          </a:xfrm>
          <a:prstGeom prst="roundRect">
            <a:avLst>
              <a:gd name="adj" fmla="val 8333"/>
            </a:avLst>
          </a:prstGeom>
          <a:solidFill>
            <a:srgbClr val="0A7E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4"/>
          <p:cNvSpPr/>
          <p:nvPr/>
        </p:nvSpPr>
        <p:spPr>
          <a:xfrm>
            <a:off x="4846320" y="1097280"/>
            <a:ext cx="548640"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05</a:t>
            </a:r>
            <a:endParaRPr sz="1300" b="0" i="0" u="none" strike="noStrike" cap="none">
              <a:solidFill>
                <a:schemeClr val="dk1"/>
              </a:solidFill>
              <a:latin typeface="Calibri"/>
              <a:ea typeface="Calibri"/>
              <a:cs typeface="Calibri"/>
              <a:sym typeface="Calibri"/>
            </a:endParaRPr>
          </a:p>
        </p:txBody>
      </p:sp>
      <p:sp>
        <p:nvSpPr>
          <p:cNvPr id="50" name="Google Shape;50;p4"/>
          <p:cNvSpPr/>
          <p:nvPr/>
        </p:nvSpPr>
        <p:spPr>
          <a:xfrm>
            <a:off x="5532120" y="1097280"/>
            <a:ext cx="3108960" cy="6583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332"/>
              </a:buClr>
              <a:buSzPts val="1400"/>
              <a:buFont typeface="Calibri"/>
              <a:buNone/>
            </a:pPr>
            <a:r>
              <a:rPr lang="en-US" sz="1400" b="0" i="0" u="none" strike="noStrike" cap="none">
                <a:solidFill>
                  <a:srgbClr val="1A2332"/>
                </a:solidFill>
                <a:latin typeface="Calibri"/>
                <a:ea typeface="Calibri"/>
                <a:cs typeface="Calibri"/>
                <a:sym typeface="Calibri"/>
              </a:rPr>
              <a:t>Değerlendirme Metrikleri</a:t>
            </a:r>
            <a:endParaRPr sz="1400" b="0" i="0" u="none" strike="noStrike" cap="none">
              <a:solidFill>
                <a:schemeClr val="dk1"/>
              </a:solidFill>
              <a:latin typeface="Calibri"/>
              <a:ea typeface="Calibri"/>
              <a:cs typeface="Calibri"/>
              <a:sym typeface="Calibri"/>
            </a:endParaRPr>
          </a:p>
        </p:txBody>
      </p:sp>
      <p:sp>
        <p:nvSpPr>
          <p:cNvPr id="51" name="Google Shape;51;p4"/>
          <p:cNvSpPr/>
          <p:nvPr/>
        </p:nvSpPr>
        <p:spPr>
          <a:xfrm>
            <a:off x="4846320" y="1965960"/>
            <a:ext cx="3931920" cy="658368"/>
          </a:xfrm>
          <a:prstGeom prst="roundRect">
            <a:avLst>
              <a:gd name="adj" fmla="val 11111"/>
            </a:avLst>
          </a:prstGeom>
          <a:solidFill>
            <a:srgbClr val="F7FA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4846320" y="1965960"/>
            <a:ext cx="548640" cy="658368"/>
          </a:xfrm>
          <a:prstGeom prst="roundRect">
            <a:avLst>
              <a:gd name="adj" fmla="val 8333"/>
            </a:avLst>
          </a:prstGeom>
          <a:solidFill>
            <a:srgbClr val="0E9F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p:nvPr/>
        </p:nvSpPr>
        <p:spPr>
          <a:xfrm>
            <a:off x="4846320" y="1965960"/>
            <a:ext cx="548640"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06</a:t>
            </a:r>
            <a:endParaRPr sz="1300" b="0" i="0" u="none" strike="noStrike" cap="none">
              <a:solidFill>
                <a:schemeClr val="dk1"/>
              </a:solidFill>
              <a:latin typeface="Calibri"/>
              <a:ea typeface="Calibri"/>
              <a:cs typeface="Calibri"/>
              <a:sym typeface="Calibri"/>
            </a:endParaRPr>
          </a:p>
        </p:txBody>
      </p:sp>
      <p:sp>
        <p:nvSpPr>
          <p:cNvPr id="54" name="Google Shape;54;p4"/>
          <p:cNvSpPr/>
          <p:nvPr/>
        </p:nvSpPr>
        <p:spPr>
          <a:xfrm>
            <a:off x="5532120" y="1965960"/>
            <a:ext cx="3108960" cy="6583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332"/>
              </a:buClr>
              <a:buSzPts val="1400"/>
              <a:buFont typeface="Calibri"/>
              <a:buNone/>
            </a:pPr>
            <a:r>
              <a:rPr lang="en-US" sz="1400" b="0" i="0" u="none" strike="noStrike" cap="none">
                <a:solidFill>
                  <a:srgbClr val="1A2332"/>
                </a:solidFill>
                <a:latin typeface="Calibri"/>
                <a:ea typeface="Calibri"/>
                <a:cs typeface="Calibri"/>
                <a:sym typeface="Calibri"/>
              </a:rPr>
              <a:t>Deney Sonuçları</a:t>
            </a:r>
            <a:endParaRPr sz="1400" b="0" i="0" u="none" strike="noStrike" cap="none">
              <a:solidFill>
                <a:schemeClr val="dk1"/>
              </a:solidFill>
              <a:latin typeface="Calibri"/>
              <a:ea typeface="Calibri"/>
              <a:cs typeface="Calibri"/>
              <a:sym typeface="Calibri"/>
            </a:endParaRPr>
          </a:p>
        </p:txBody>
      </p:sp>
      <p:sp>
        <p:nvSpPr>
          <p:cNvPr id="55" name="Google Shape;55;p4"/>
          <p:cNvSpPr/>
          <p:nvPr/>
        </p:nvSpPr>
        <p:spPr>
          <a:xfrm>
            <a:off x="4846320" y="2834640"/>
            <a:ext cx="3931920" cy="658368"/>
          </a:xfrm>
          <a:prstGeom prst="roundRect">
            <a:avLst>
              <a:gd name="adj" fmla="val 11111"/>
            </a:avLst>
          </a:prstGeom>
          <a:solidFill>
            <a:srgbClr val="F7FA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4"/>
          <p:cNvSpPr/>
          <p:nvPr/>
        </p:nvSpPr>
        <p:spPr>
          <a:xfrm>
            <a:off x="4846320" y="2834640"/>
            <a:ext cx="548640" cy="658368"/>
          </a:xfrm>
          <a:prstGeom prst="roundRect">
            <a:avLst>
              <a:gd name="adj" fmla="val 8333"/>
            </a:avLst>
          </a:prstGeom>
          <a:solidFill>
            <a:srgbClr val="00C4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4"/>
          <p:cNvSpPr/>
          <p:nvPr/>
        </p:nvSpPr>
        <p:spPr>
          <a:xfrm>
            <a:off x="4846320" y="2834640"/>
            <a:ext cx="548640" cy="6583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07</a:t>
            </a:r>
            <a:endParaRPr sz="1300" b="0" i="0" u="none" strike="noStrike" cap="none">
              <a:solidFill>
                <a:schemeClr val="dk1"/>
              </a:solidFill>
              <a:latin typeface="Calibri"/>
              <a:ea typeface="Calibri"/>
              <a:cs typeface="Calibri"/>
              <a:sym typeface="Calibri"/>
            </a:endParaRPr>
          </a:p>
        </p:txBody>
      </p:sp>
      <p:sp>
        <p:nvSpPr>
          <p:cNvPr id="58" name="Google Shape;58;p4"/>
          <p:cNvSpPr/>
          <p:nvPr/>
        </p:nvSpPr>
        <p:spPr>
          <a:xfrm>
            <a:off x="5532120" y="2834640"/>
            <a:ext cx="3108960" cy="6583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332"/>
              </a:buClr>
              <a:buSzPts val="1400"/>
              <a:buFont typeface="Calibri"/>
              <a:buNone/>
            </a:pPr>
            <a:r>
              <a:rPr lang="en-US" sz="1400" b="0" i="0" u="none" strike="noStrike" cap="none">
                <a:solidFill>
                  <a:srgbClr val="1A2332"/>
                </a:solidFill>
                <a:latin typeface="Calibri"/>
                <a:ea typeface="Calibri"/>
                <a:cs typeface="Calibri"/>
                <a:sym typeface="Calibri"/>
              </a:rPr>
              <a:t>Karşılaştırma &amp; Sonuç</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3"/>
        <p:cNvGrpSpPr/>
        <p:nvPr/>
      </p:nvGrpSpPr>
      <p:grpSpPr>
        <a:xfrm>
          <a:off x="0" y="0"/>
          <a:ext cx="0" cy="0"/>
          <a:chOff x="0" y="0"/>
          <a:chExt cx="0" cy="0"/>
        </a:xfrm>
      </p:grpSpPr>
      <p:sp>
        <p:nvSpPr>
          <p:cNvPr id="64" name="Google Shape;64;p5"/>
          <p:cNvSpPr/>
          <p:nvPr/>
        </p:nvSpPr>
        <p:spPr>
          <a:xfrm>
            <a:off x="457200" y="201168"/>
            <a:ext cx="822960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A1628"/>
              </a:buClr>
              <a:buSzPts val="2800"/>
              <a:buFont typeface="Calibri"/>
              <a:buNone/>
            </a:pPr>
            <a:r>
              <a:rPr lang="en-US" sz="2800" b="1" i="0" u="none" strike="noStrike" cap="none">
                <a:solidFill>
                  <a:srgbClr val="0A1628"/>
                </a:solidFill>
                <a:latin typeface="Calibri"/>
                <a:ea typeface="Calibri"/>
                <a:cs typeface="Calibri"/>
                <a:sym typeface="Calibri"/>
              </a:rPr>
              <a:t>Problem Tanımı &amp; Motivasyon</a:t>
            </a:r>
            <a:endParaRPr sz="2800" b="0" i="0" u="none" strike="noStrike" cap="none">
              <a:solidFill>
                <a:schemeClr val="dk1"/>
              </a:solidFill>
              <a:latin typeface="Calibri"/>
              <a:ea typeface="Calibri"/>
              <a:cs typeface="Calibri"/>
              <a:sym typeface="Calibri"/>
            </a:endParaRPr>
          </a:p>
        </p:txBody>
      </p:sp>
      <p:sp>
        <p:nvSpPr>
          <p:cNvPr id="65" name="Google Shape;65;p5"/>
          <p:cNvSpPr/>
          <p:nvPr/>
        </p:nvSpPr>
        <p:spPr>
          <a:xfrm>
            <a:off x="457200" y="932688"/>
            <a:ext cx="8229600" cy="22860"/>
          </a:xfrm>
          <a:prstGeom prst="rect">
            <a:avLst/>
          </a:prstGeom>
          <a:solidFill>
            <a:srgbClr val="DBEA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5"/>
          <p:cNvSpPr/>
          <p:nvPr/>
        </p:nvSpPr>
        <p:spPr>
          <a:xfrm>
            <a:off x="365760" y="1051560"/>
            <a:ext cx="5029200" cy="3520440"/>
          </a:xfrm>
          <a:prstGeom prst="roundRect">
            <a:avLst>
              <a:gd name="adj" fmla="val 2597"/>
            </a:avLst>
          </a:prstGeom>
          <a:solidFill>
            <a:srgbClr val="F0F7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5"/>
          <p:cNvSpPr/>
          <p:nvPr/>
        </p:nvSpPr>
        <p:spPr>
          <a:xfrm>
            <a:off x="548640" y="1143000"/>
            <a:ext cx="466344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A7EC2"/>
              </a:buClr>
              <a:buSzPts val="1500"/>
              <a:buFont typeface="Calibri"/>
              <a:buNone/>
            </a:pPr>
            <a:r>
              <a:rPr lang="en-US" sz="1500" b="1" i="0" u="none" strike="noStrike" cap="none">
                <a:solidFill>
                  <a:srgbClr val="0A7EC2"/>
                </a:solidFill>
                <a:latin typeface="Calibri"/>
                <a:ea typeface="Calibri"/>
                <a:cs typeface="Calibri"/>
                <a:sym typeface="Calibri"/>
              </a:rPr>
              <a:t>Problem</a:t>
            </a:r>
            <a:endParaRPr sz="1500" b="0" i="0" u="none" strike="noStrike" cap="none">
              <a:solidFill>
                <a:schemeClr val="dk1"/>
              </a:solidFill>
              <a:latin typeface="Calibri"/>
              <a:ea typeface="Calibri"/>
              <a:cs typeface="Calibri"/>
              <a:sym typeface="Calibri"/>
            </a:endParaRPr>
          </a:p>
        </p:txBody>
      </p:sp>
      <p:sp>
        <p:nvSpPr>
          <p:cNvPr id="68" name="Google Shape;68;p5"/>
          <p:cNvSpPr/>
          <p:nvPr/>
        </p:nvSpPr>
        <p:spPr>
          <a:xfrm>
            <a:off x="548640" y="1536192"/>
            <a:ext cx="4663440" cy="283464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A2332"/>
              </a:buClr>
              <a:buSzPts val="1300"/>
              <a:buFont typeface="Calibri"/>
              <a:buChar char="•"/>
            </a:pPr>
            <a:r>
              <a:rPr lang="en-US" sz="1300" b="0" i="0" u="none" strike="noStrike" cap="none">
                <a:solidFill>
                  <a:srgbClr val="1A2332"/>
                </a:solidFill>
                <a:latin typeface="Calibri"/>
                <a:ea typeface="Calibri"/>
                <a:cs typeface="Calibri"/>
                <a:sym typeface="Calibri"/>
              </a:rPr>
              <a:t>LLM'ler yazılım geliştirmede devrim yaratıyor</a:t>
            </a:r>
            <a:endParaRPr sz="1300" b="0" i="0" u="none" strike="noStrike" cap="none">
              <a:solidFill>
                <a:schemeClr val="dk1"/>
              </a:solidFill>
              <a:latin typeface="Calibri"/>
              <a:ea typeface="Calibri"/>
              <a:cs typeface="Calibri"/>
              <a:sym typeface="Calibri"/>
            </a:endParaRPr>
          </a:p>
          <a:p>
            <a:pPr marL="342900" marR="0" lvl="0" indent="-342900" algn="l" rtl="0">
              <a:spcBef>
                <a:spcPts val="1000"/>
              </a:spcBef>
              <a:spcAft>
                <a:spcPts val="0"/>
              </a:spcAft>
              <a:buClr>
                <a:srgbClr val="1A2332"/>
              </a:buClr>
              <a:buSzPts val="1300"/>
              <a:buFont typeface="Calibri"/>
              <a:buChar char="•"/>
            </a:pPr>
            <a:r>
              <a:rPr lang="en-US" sz="1300" b="0" i="0" u="none" strike="noStrike" cap="none">
                <a:solidFill>
                  <a:srgbClr val="1A2332"/>
                </a:solidFill>
                <a:latin typeface="Calibri"/>
                <a:ea typeface="Calibri"/>
                <a:cs typeface="Calibri"/>
                <a:sym typeface="Calibri"/>
              </a:rPr>
              <a:t>Genel amaçlı modeller güvenlik açığı tespitinde sınırlı performans sergiliyor</a:t>
            </a:r>
            <a:endParaRPr sz="1300" b="0" i="0" u="none" strike="noStrike" cap="none">
              <a:solidFill>
                <a:schemeClr val="dk1"/>
              </a:solidFill>
              <a:latin typeface="Calibri"/>
              <a:ea typeface="Calibri"/>
              <a:cs typeface="Calibri"/>
              <a:sym typeface="Calibri"/>
            </a:endParaRPr>
          </a:p>
          <a:p>
            <a:pPr marL="342900" marR="0" lvl="0" indent="-342900" algn="l" rtl="0">
              <a:spcBef>
                <a:spcPts val="1000"/>
              </a:spcBef>
              <a:spcAft>
                <a:spcPts val="0"/>
              </a:spcAft>
              <a:buClr>
                <a:srgbClr val="1A2332"/>
              </a:buClr>
              <a:buSzPts val="1300"/>
              <a:buFont typeface="Calibri"/>
              <a:buChar char="•"/>
            </a:pPr>
            <a:r>
              <a:rPr lang="en-US" sz="1300" b="0" i="0" u="none" strike="noStrike" cap="none">
                <a:solidFill>
                  <a:srgbClr val="1A2332"/>
                </a:solidFill>
                <a:latin typeface="Calibri"/>
                <a:ea typeface="Calibri"/>
                <a:cs typeface="Calibri"/>
                <a:sym typeface="Calibri"/>
              </a:rPr>
              <a:t>LLM'ler ürettiği kodda güvensiz kalıplar </a:t>
            </a:r>
            <a:r>
              <a:rPr lang="en-US" sz="1300">
                <a:solidFill>
                  <a:srgbClr val="1A2332"/>
                </a:solidFill>
                <a:latin typeface="Calibri"/>
                <a:ea typeface="Calibri"/>
                <a:cs typeface="Calibri"/>
                <a:sym typeface="Calibri"/>
              </a:rPr>
              <a:t>barındırabiliyor</a:t>
            </a:r>
            <a:r>
              <a:rPr lang="en-US" sz="1300" b="0" i="0" u="none" strike="noStrike" cap="none">
                <a:solidFill>
                  <a:srgbClr val="1A2332"/>
                </a:solidFill>
                <a:latin typeface="Calibri"/>
                <a:ea typeface="Calibri"/>
                <a:cs typeface="Calibri"/>
                <a:sym typeface="Calibri"/>
              </a:rPr>
              <a:t> (Pearce vd., 2022)</a:t>
            </a:r>
            <a:endParaRPr sz="1300" b="0" i="0" u="none" strike="noStrike" cap="none">
              <a:solidFill>
                <a:schemeClr val="dk1"/>
              </a:solidFill>
              <a:latin typeface="Calibri"/>
              <a:ea typeface="Calibri"/>
              <a:cs typeface="Calibri"/>
              <a:sym typeface="Calibri"/>
            </a:endParaRPr>
          </a:p>
          <a:p>
            <a:pPr marL="342900" marR="0" lvl="0" indent="-342900" algn="l" rtl="0">
              <a:spcBef>
                <a:spcPts val="1000"/>
              </a:spcBef>
              <a:spcAft>
                <a:spcPts val="0"/>
              </a:spcAft>
              <a:buClr>
                <a:srgbClr val="1A2332"/>
              </a:buClr>
              <a:buSzPts val="1300"/>
              <a:buFont typeface="Calibri"/>
              <a:buChar char="•"/>
            </a:pPr>
            <a:r>
              <a:rPr lang="en-US" sz="1300" b="0" i="0" u="none" strike="noStrike" cap="none">
                <a:solidFill>
                  <a:srgbClr val="1A2332"/>
                </a:solidFill>
                <a:latin typeface="Calibri"/>
                <a:ea typeface="Calibri"/>
                <a:cs typeface="Calibri"/>
                <a:sym typeface="Calibri"/>
              </a:rPr>
              <a:t>Güvenlik-kritik sistemler için özel modellere ihtiyaç var</a:t>
            </a:r>
            <a:endParaRPr sz="1300" b="0" i="0" u="none" strike="noStrike" cap="none">
              <a:solidFill>
                <a:schemeClr val="dk1"/>
              </a:solidFill>
              <a:latin typeface="Calibri"/>
              <a:ea typeface="Calibri"/>
              <a:cs typeface="Calibri"/>
              <a:sym typeface="Calibri"/>
            </a:endParaRPr>
          </a:p>
          <a:p>
            <a:pPr marL="342900" marR="0" lvl="0" indent="-342900" algn="l" rtl="0">
              <a:spcBef>
                <a:spcPts val="1000"/>
              </a:spcBef>
              <a:spcAft>
                <a:spcPts val="0"/>
              </a:spcAft>
              <a:buClr>
                <a:srgbClr val="1A2332"/>
              </a:buClr>
              <a:buSzPts val="1300"/>
              <a:buFont typeface="Calibri"/>
              <a:buChar char="•"/>
            </a:pPr>
            <a:r>
              <a:rPr lang="en-US" sz="1300" b="0" i="0" u="none" strike="noStrike" cap="none">
                <a:solidFill>
                  <a:srgbClr val="1A2332"/>
                </a:solidFill>
                <a:latin typeface="Calibri"/>
                <a:ea typeface="Calibri"/>
                <a:cs typeface="Calibri"/>
                <a:sym typeface="Calibri"/>
              </a:rPr>
              <a:t>Tam ince ayar hesaplama açısından son derece maliyetli</a:t>
            </a:r>
            <a:endParaRPr sz="1300" b="0" i="0" u="none" strike="noStrike" cap="none">
              <a:solidFill>
                <a:schemeClr val="dk1"/>
              </a:solidFill>
              <a:latin typeface="Calibri"/>
              <a:ea typeface="Calibri"/>
              <a:cs typeface="Calibri"/>
              <a:sym typeface="Calibri"/>
            </a:endParaRPr>
          </a:p>
        </p:txBody>
      </p:sp>
      <p:sp>
        <p:nvSpPr>
          <p:cNvPr id="69" name="Google Shape;69;p5"/>
          <p:cNvSpPr/>
          <p:nvPr/>
        </p:nvSpPr>
        <p:spPr>
          <a:xfrm>
            <a:off x="5669280" y="1051560"/>
            <a:ext cx="3017520" cy="1051560"/>
          </a:xfrm>
          <a:prstGeom prst="roundRect">
            <a:avLst>
              <a:gd name="adj" fmla="val 8696"/>
            </a:avLst>
          </a:prstGeom>
          <a:solidFill>
            <a:srgbClr val="0A1628"/>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5"/>
          <p:cNvSpPr/>
          <p:nvPr/>
        </p:nvSpPr>
        <p:spPr>
          <a:xfrm>
            <a:off x="5760720" y="1124712"/>
            <a:ext cx="2834640"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4E8"/>
              </a:buClr>
              <a:buSzPts val="1000"/>
              <a:buFont typeface="Calibri"/>
              <a:buNone/>
            </a:pPr>
            <a:r>
              <a:rPr lang="en-US" sz="1000" b="0" i="0" u="none" strike="noStrike" cap="none">
                <a:solidFill>
                  <a:srgbClr val="00C4E8"/>
                </a:solidFill>
                <a:latin typeface="Calibri"/>
                <a:ea typeface="Calibri"/>
                <a:cs typeface="Calibri"/>
                <a:sym typeface="Calibri"/>
              </a:rPr>
              <a:t>GitHub Copilot Analizi</a:t>
            </a:r>
            <a:endParaRPr sz="1000" b="0" i="0" u="none" strike="noStrike" cap="none">
              <a:solidFill>
                <a:schemeClr val="dk1"/>
              </a:solidFill>
              <a:latin typeface="Calibri"/>
              <a:ea typeface="Calibri"/>
              <a:cs typeface="Calibri"/>
              <a:sym typeface="Calibri"/>
            </a:endParaRPr>
          </a:p>
        </p:txBody>
      </p:sp>
      <p:sp>
        <p:nvSpPr>
          <p:cNvPr id="71" name="Google Shape;71;p5"/>
          <p:cNvSpPr/>
          <p:nvPr/>
        </p:nvSpPr>
        <p:spPr>
          <a:xfrm>
            <a:off x="5760720" y="1344168"/>
            <a:ext cx="283464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~40%</a:t>
            </a:r>
            <a:endParaRPr sz="2200" b="0" i="0" u="none" strike="noStrike" cap="none">
              <a:solidFill>
                <a:schemeClr val="dk1"/>
              </a:solidFill>
              <a:latin typeface="Calibri"/>
              <a:ea typeface="Calibri"/>
              <a:cs typeface="Calibri"/>
              <a:sym typeface="Calibri"/>
            </a:endParaRPr>
          </a:p>
        </p:txBody>
      </p:sp>
      <p:sp>
        <p:nvSpPr>
          <p:cNvPr id="72" name="Google Shape;72;p5"/>
          <p:cNvSpPr/>
          <p:nvPr/>
        </p:nvSpPr>
        <p:spPr>
          <a:xfrm>
            <a:off x="5760720" y="1837944"/>
            <a:ext cx="2834640"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AACCDD"/>
              </a:buClr>
              <a:buSzPts val="1000"/>
              <a:buFont typeface="Calibri"/>
              <a:buNone/>
            </a:pPr>
            <a:r>
              <a:rPr lang="en-US" sz="1000" b="0" i="0" u="none" strike="noStrike" cap="none">
                <a:solidFill>
                  <a:srgbClr val="AACCDD"/>
                </a:solidFill>
                <a:latin typeface="Calibri"/>
                <a:ea typeface="Calibri"/>
                <a:cs typeface="Calibri"/>
                <a:sym typeface="Calibri"/>
              </a:rPr>
              <a:t>üretilen kodda güvenlik açığı riski</a:t>
            </a:r>
            <a:endParaRPr sz="1000" b="0" i="0" u="none" strike="noStrike" cap="none">
              <a:solidFill>
                <a:schemeClr val="dk1"/>
              </a:solidFill>
              <a:latin typeface="Calibri"/>
              <a:ea typeface="Calibri"/>
              <a:cs typeface="Calibri"/>
              <a:sym typeface="Calibri"/>
            </a:endParaRPr>
          </a:p>
        </p:txBody>
      </p:sp>
      <p:sp>
        <p:nvSpPr>
          <p:cNvPr id="73" name="Google Shape;73;p5"/>
          <p:cNvSpPr/>
          <p:nvPr/>
        </p:nvSpPr>
        <p:spPr>
          <a:xfrm>
            <a:off x="5669280" y="2240280"/>
            <a:ext cx="3017520" cy="1051560"/>
          </a:xfrm>
          <a:prstGeom prst="roundRect">
            <a:avLst>
              <a:gd name="adj" fmla="val 8696"/>
            </a:avLst>
          </a:prstGeom>
          <a:solidFill>
            <a:srgbClr val="0A7EC2"/>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5760720" y="2313432"/>
            <a:ext cx="2834640"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Temel Model Seçimi</a:t>
            </a:r>
            <a:endParaRPr sz="1000" b="0" i="0" u="none" strike="noStrike" cap="none">
              <a:solidFill>
                <a:schemeClr val="dk1"/>
              </a:solidFill>
              <a:latin typeface="Calibri"/>
              <a:ea typeface="Calibri"/>
              <a:cs typeface="Calibri"/>
              <a:sym typeface="Calibri"/>
            </a:endParaRPr>
          </a:p>
        </p:txBody>
      </p:sp>
      <p:sp>
        <p:nvSpPr>
          <p:cNvPr id="75" name="Google Shape;75;p5"/>
          <p:cNvSpPr/>
          <p:nvPr/>
        </p:nvSpPr>
        <p:spPr>
          <a:xfrm>
            <a:off x="5669225" y="2532900"/>
            <a:ext cx="30174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Qwen 2.5</a:t>
            </a:r>
            <a:r>
              <a:rPr lang="en-US" sz="2200">
                <a:solidFill>
                  <a:schemeClr val="dk1"/>
                </a:solidFill>
                <a:latin typeface="Calibri"/>
                <a:ea typeface="Calibri"/>
                <a:cs typeface="Calibri"/>
                <a:sym typeface="Calibri"/>
              </a:rPr>
              <a:t> </a:t>
            </a:r>
            <a:r>
              <a:rPr lang="en-US" sz="2200" b="1" i="0" u="none" strike="noStrike" cap="none">
                <a:solidFill>
                  <a:srgbClr val="FFFFFF"/>
                </a:solidFill>
                <a:latin typeface="Calibri"/>
                <a:ea typeface="Calibri"/>
                <a:cs typeface="Calibri"/>
                <a:sym typeface="Calibri"/>
              </a:rPr>
              <a:t>Coder 7B</a:t>
            </a:r>
            <a:endParaRPr sz="2200" b="0" i="0" u="none" strike="noStrike" cap="none">
              <a:solidFill>
                <a:schemeClr val="dk1"/>
              </a:solidFill>
              <a:latin typeface="Calibri"/>
              <a:ea typeface="Calibri"/>
              <a:cs typeface="Calibri"/>
              <a:sym typeface="Calibri"/>
            </a:endParaRPr>
          </a:p>
        </p:txBody>
      </p:sp>
      <p:sp>
        <p:nvSpPr>
          <p:cNvPr id="76" name="Google Shape;76;p5"/>
          <p:cNvSpPr/>
          <p:nvPr/>
        </p:nvSpPr>
        <p:spPr>
          <a:xfrm>
            <a:off x="5760720" y="3026664"/>
            <a:ext cx="2834640"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C8E6F8"/>
              </a:buClr>
              <a:buSzPts val="1000"/>
              <a:buFont typeface="Calibri"/>
              <a:buNone/>
            </a:pPr>
            <a:r>
              <a:rPr lang="en-US" sz="1000" b="0" i="0" u="none" strike="noStrike" cap="none">
                <a:solidFill>
                  <a:srgbClr val="C8E6F8"/>
                </a:solidFill>
                <a:latin typeface="Calibri"/>
                <a:ea typeface="Calibri"/>
                <a:cs typeface="Calibri"/>
                <a:sym typeface="Calibri"/>
              </a:rPr>
              <a:t>siber güvenlik ince ayarı uygulandı</a:t>
            </a:r>
            <a:endParaRPr sz="1000" b="0" i="0" u="none" strike="noStrike" cap="none">
              <a:solidFill>
                <a:schemeClr val="dk1"/>
              </a:solidFill>
              <a:latin typeface="Calibri"/>
              <a:ea typeface="Calibri"/>
              <a:cs typeface="Calibri"/>
              <a:sym typeface="Calibri"/>
            </a:endParaRPr>
          </a:p>
        </p:txBody>
      </p:sp>
      <p:sp>
        <p:nvSpPr>
          <p:cNvPr id="77" name="Google Shape;77;p5"/>
          <p:cNvSpPr/>
          <p:nvPr/>
        </p:nvSpPr>
        <p:spPr>
          <a:xfrm>
            <a:off x="5669280" y="3429000"/>
            <a:ext cx="3017520" cy="1051560"/>
          </a:xfrm>
          <a:prstGeom prst="roundRect">
            <a:avLst>
              <a:gd name="adj" fmla="val 8696"/>
            </a:avLst>
          </a:prstGeom>
          <a:solidFill>
            <a:srgbClr val="F0F7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a:off x="5760720" y="3502152"/>
            <a:ext cx="2834640"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A7EC2"/>
              </a:buClr>
              <a:buSzPts val="1000"/>
              <a:buFont typeface="Calibri"/>
              <a:buNone/>
            </a:pPr>
            <a:r>
              <a:rPr lang="en-US" sz="1000" b="0" i="0" u="none" strike="noStrike" cap="none">
                <a:solidFill>
                  <a:srgbClr val="0A7EC2"/>
                </a:solidFill>
                <a:latin typeface="Calibri"/>
                <a:ea typeface="Calibri"/>
                <a:cs typeface="Calibri"/>
                <a:sym typeface="Calibri"/>
              </a:rPr>
              <a:t>Eğitim Veri Seti</a:t>
            </a:r>
            <a:endParaRPr sz="1000" b="0" i="0" u="none" strike="noStrike" cap="none">
              <a:solidFill>
                <a:schemeClr val="dk1"/>
              </a:solidFill>
              <a:latin typeface="Calibri"/>
              <a:ea typeface="Calibri"/>
              <a:cs typeface="Calibri"/>
              <a:sym typeface="Calibri"/>
            </a:endParaRPr>
          </a:p>
        </p:txBody>
      </p:sp>
      <p:sp>
        <p:nvSpPr>
          <p:cNvPr id="79" name="Google Shape;79;p5"/>
          <p:cNvSpPr/>
          <p:nvPr/>
        </p:nvSpPr>
        <p:spPr>
          <a:xfrm>
            <a:off x="5760720" y="3721608"/>
            <a:ext cx="283464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A1628"/>
              </a:buClr>
              <a:buSzPts val="2200"/>
              <a:buFont typeface="Calibri"/>
              <a:buNone/>
            </a:pPr>
            <a:r>
              <a:rPr lang="en-US" sz="2200" b="1" i="0" u="none" strike="noStrike" cap="none">
                <a:solidFill>
                  <a:srgbClr val="0A1628"/>
                </a:solidFill>
                <a:latin typeface="Calibri"/>
                <a:ea typeface="Calibri"/>
                <a:cs typeface="Calibri"/>
                <a:sym typeface="Calibri"/>
              </a:rPr>
              <a:t>515.187</a:t>
            </a:r>
            <a:endParaRPr sz="2200" b="0" i="0" u="none" strike="noStrike" cap="none">
              <a:solidFill>
                <a:schemeClr val="dk1"/>
              </a:solidFill>
              <a:latin typeface="Calibri"/>
              <a:ea typeface="Calibri"/>
              <a:cs typeface="Calibri"/>
              <a:sym typeface="Calibri"/>
            </a:endParaRPr>
          </a:p>
        </p:txBody>
      </p:sp>
      <p:sp>
        <p:nvSpPr>
          <p:cNvPr id="80" name="Google Shape;80;p5"/>
          <p:cNvSpPr/>
          <p:nvPr/>
        </p:nvSpPr>
        <p:spPr>
          <a:xfrm>
            <a:off x="5760720" y="4215384"/>
            <a:ext cx="2834640" cy="228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4A5568"/>
              </a:buClr>
              <a:buSzPts val="1000"/>
              <a:buFont typeface="Calibri"/>
              <a:buNone/>
            </a:pPr>
            <a:r>
              <a:rPr lang="en-US" sz="1000" b="0" i="0" u="none" strike="noStrike" cap="none">
                <a:solidFill>
                  <a:srgbClr val="4A5568"/>
                </a:solidFill>
                <a:latin typeface="Calibri"/>
                <a:ea typeface="Calibri"/>
                <a:cs typeface="Calibri"/>
                <a:sym typeface="Calibri"/>
              </a:rPr>
              <a:t>toplam örnek (4 farklı kaynak)</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5"/>
        <p:cNvGrpSpPr/>
        <p:nvPr/>
      </p:nvGrpSpPr>
      <p:grpSpPr>
        <a:xfrm>
          <a:off x="0" y="0"/>
          <a:ext cx="0" cy="0"/>
          <a:chOff x="0" y="0"/>
          <a:chExt cx="0" cy="0"/>
        </a:xfrm>
      </p:grpSpPr>
      <p:sp>
        <p:nvSpPr>
          <p:cNvPr id="86" name="Google Shape;86;p6"/>
          <p:cNvSpPr/>
          <p:nvPr/>
        </p:nvSpPr>
        <p:spPr>
          <a:xfrm>
            <a:off x="457200" y="201168"/>
            <a:ext cx="822960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A1628"/>
              </a:buClr>
              <a:buSzPts val="2800"/>
              <a:buFont typeface="Calibri"/>
              <a:buNone/>
            </a:pPr>
            <a:r>
              <a:rPr lang="en-US" sz="2800" b="1" i="0" u="none" strike="noStrike" cap="none">
                <a:solidFill>
                  <a:srgbClr val="0A1628"/>
                </a:solidFill>
                <a:latin typeface="Calibri"/>
                <a:ea typeface="Calibri"/>
                <a:cs typeface="Calibri"/>
                <a:sym typeface="Calibri"/>
              </a:rPr>
              <a:t>Çalışmanın Temel Katkıları</a:t>
            </a:r>
            <a:endParaRPr sz="2800" b="0" i="0" u="none" strike="noStrike" cap="none">
              <a:solidFill>
                <a:schemeClr val="dk1"/>
              </a:solidFill>
              <a:latin typeface="Calibri"/>
              <a:ea typeface="Calibri"/>
              <a:cs typeface="Calibri"/>
              <a:sym typeface="Calibri"/>
            </a:endParaRPr>
          </a:p>
        </p:txBody>
      </p:sp>
      <p:sp>
        <p:nvSpPr>
          <p:cNvPr id="87" name="Google Shape;87;p6"/>
          <p:cNvSpPr/>
          <p:nvPr/>
        </p:nvSpPr>
        <p:spPr>
          <a:xfrm>
            <a:off x="457200" y="932688"/>
            <a:ext cx="8229600" cy="22860"/>
          </a:xfrm>
          <a:prstGeom prst="rect">
            <a:avLst/>
          </a:prstGeom>
          <a:solidFill>
            <a:srgbClr val="DBEA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6"/>
          <p:cNvSpPr/>
          <p:nvPr/>
        </p:nvSpPr>
        <p:spPr>
          <a:xfrm>
            <a:off x="365760" y="1097280"/>
            <a:ext cx="4023360" cy="1600200"/>
          </a:xfrm>
          <a:prstGeom prst="roundRect">
            <a:avLst>
              <a:gd name="adj" fmla="val 5714"/>
            </a:avLst>
          </a:prstGeom>
          <a:solidFill>
            <a:srgbClr val="F8FB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6"/>
          <p:cNvSpPr/>
          <p:nvPr/>
        </p:nvSpPr>
        <p:spPr>
          <a:xfrm>
            <a:off x="530352" y="1298448"/>
            <a:ext cx="384048" cy="384048"/>
          </a:xfrm>
          <a:prstGeom prst="roundRect">
            <a:avLst>
              <a:gd name="adj" fmla="val 11905"/>
            </a:avLst>
          </a:prstGeom>
          <a:solidFill>
            <a:srgbClr val="0A7E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6"/>
          <p:cNvSpPr/>
          <p:nvPr/>
        </p:nvSpPr>
        <p:spPr>
          <a:xfrm>
            <a:off x="530352" y="1298448"/>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en-US" sz="1500" b="1" i="0" u="none" strike="noStrike" cap="none">
                <a:solidFill>
                  <a:srgbClr val="FFFFFF"/>
                </a:solidFill>
                <a:latin typeface="Calibri"/>
                <a:ea typeface="Calibri"/>
                <a:cs typeface="Calibri"/>
                <a:sym typeface="Calibri"/>
              </a:rPr>
              <a:t>1</a:t>
            </a:r>
            <a:endParaRPr sz="1500" b="0" i="0" u="none" strike="noStrike" cap="none">
              <a:solidFill>
                <a:schemeClr val="dk1"/>
              </a:solidFill>
              <a:latin typeface="Calibri"/>
              <a:ea typeface="Calibri"/>
              <a:cs typeface="Calibri"/>
              <a:sym typeface="Calibri"/>
            </a:endParaRPr>
          </a:p>
        </p:txBody>
      </p:sp>
      <p:sp>
        <p:nvSpPr>
          <p:cNvPr id="91" name="Google Shape;91;p6"/>
          <p:cNvSpPr/>
          <p:nvPr/>
        </p:nvSpPr>
        <p:spPr>
          <a:xfrm>
            <a:off x="1051560" y="1261872"/>
            <a:ext cx="32004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332"/>
              </a:buClr>
              <a:buSzPts val="1300"/>
              <a:buFont typeface="Calibri"/>
              <a:buNone/>
            </a:pPr>
            <a:r>
              <a:rPr lang="en-US" sz="1300" b="1" i="0" u="none" strike="noStrike" cap="none">
                <a:solidFill>
                  <a:srgbClr val="1A2332"/>
                </a:solidFill>
                <a:latin typeface="Calibri"/>
                <a:ea typeface="Calibri"/>
                <a:cs typeface="Calibri"/>
                <a:sym typeface="Calibri"/>
              </a:rPr>
              <a:t>Alan-Özel Fine-Tuning Pipeline</a:t>
            </a:r>
            <a:endParaRPr sz="1300" b="0" i="0" u="none" strike="noStrike" cap="none">
              <a:solidFill>
                <a:schemeClr val="dk1"/>
              </a:solidFill>
              <a:latin typeface="Calibri"/>
              <a:ea typeface="Calibri"/>
              <a:cs typeface="Calibri"/>
              <a:sym typeface="Calibri"/>
            </a:endParaRPr>
          </a:p>
        </p:txBody>
      </p:sp>
      <p:sp>
        <p:nvSpPr>
          <p:cNvPr id="92" name="Google Shape;92;p6"/>
          <p:cNvSpPr/>
          <p:nvPr/>
        </p:nvSpPr>
        <p:spPr>
          <a:xfrm>
            <a:off x="548640" y="1755648"/>
            <a:ext cx="3657600" cy="84124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A5568"/>
              </a:buClr>
              <a:buSzPts val="1200"/>
              <a:buFont typeface="Calibri"/>
              <a:buNone/>
            </a:pPr>
            <a:r>
              <a:rPr lang="en-US" sz="1200" b="0" i="0" u="none" strike="noStrike" cap="none">
                <a:solidFill>
                  <a:srgbClr val="4A5568"/>
                </a:solidFill>
                <a:latin typeface="Calibri"/>
                <a:ea typeface="Calibri"/>
                <a:cs typeface="Calibri"/>
                <a:sym typeface="Calibri"/>
              </a:rPr>
              <a:t>Kod odaklı modern bir LLM (Qwen 2.5 Coder 7B) için siber güvenlik ince ayar iş hattı geliştirildi.</a:t>
            </a:r>
            <a:endParaRPr sz="1200" b="0" i="0" u="none" strike="noStrike" cap="none">
              <a:solidFill>
                <a:schemeClr val="dk1"/>
              </a:solidFill>
              <a:latin typeface="Calibri"/>
              <a:ea typeface="Calibri"/>
              <a:cs typeface="Calibri"/>
              <a:sym typeface="Calibri"/>
            </a:endParaRPr>
          </a:p>
        </p:txBody>
      </p:sp>
      <p:sp>
        <p:nvSpPr>
          <p:cNvPr id="93" name="Google Shape;93;p6"/>
          <p:cNvSpPr/>
          <p:nvPr/>
        </p:nvSpPr>
        <p:spPr>
          <a:xfrm>
            <a:off x="4754880" y="1097280"/>
            <a:ext cx="4023360" cy="1600200"/>
          </a:xfrm>
          <a:prstGeom prst="roundRect">
            <a:avLst>
              <a:gd name="adj" fmla="val 5714"/>
            </a:avLst>
          </a:prstGeom>
          <a:solidFill>
            <a:srgbClr val="F8FB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6"/>
          <p:cNvSpPr/>
          <p:nvPr/>
        </p:nvSpPr>
        <p:spPr>
          <a:xfrm>
            <a:off x="4919472" y="1298448"/>
            <a:ext cx="384048" cy="384048"/>
          </a:xfrm>
          <a:prstGeom prst="roundRect">
            <a:avLst>
              <a:gd name="adj" fmla="val 11905"/>
            </a:avLst>
          </a:prstGeom>
          <a:solidFill>
            <a:srgbClr val="0E9F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6"/>
          <p:cNvSpPr/>
          <p:nvPr/>
        </p:nvSpPr>
        <p:spPr>
          <a:xfrm>
            <a:off x="4919472" y="1298448"/>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en-US" sz="1500" b="1" i="0" u="none" strike="noStrike" cap="none">
                <a:solidFill>
                  <a:srgbClr val="FFFFFF"/>
                </a:solidFill>
                <a:latin typeface="Calibri"/>
                <a:ea typeface="Calibri"/>
                <a:cs typeface="Calibri"/>
                <a:sym typeface="Calibri"/>
              </a:rPr>
              <a:t>2</a:t>
            </a:r>
            <a:endParaRPr sz="1500" b="0" i="0" u="none" strike="noStrike" cap="none">
              <a:solidFill>
                <a:schemeClr val="dk1"/>
              </a:solidFill>
              <a:latin typeface="Calibri"/>
              <a:ea typeface="Calibri"/>
              <a:cs typeface="Calibri"/>
              <a:sym typeface="Calibri"/>
            </a:endParaRPr>
          </a:p>
        </p:txBody>
      </p:sp>
      <p:sp>
        <p:nvSpPr>
          <p:cNvPr id="96" name="Google Shape;96;p6"/>
          <p:cNvSpPr/>
          <p:nvPr/>
        </p:nvSpPr>
        <p:spPr>
          <a:xfrm>
            <a:off x="5440680" y="1261872"/>
            <a:ext cx="32004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332"/>
              </a:buClr>
              <a:buSzPts val="1300"/>
              <a:buFont typeface="Calibri"/>
              <a:buNone/>
            </a:pPr>
            <a:r>
              <a:rPr lang="en-US" sz="1300" b="1" i="0" u="none" strike="noStrike" cap="none">
                <a:solidFill>
                  <a:srgbClr val="1A2332"/>
                </a:solidFill>
                <a:latin typeface="Calibri"/>
                <a:ea typeface="Calibri"/>
                <a:cs typeface="Calibri"/>
                <a:sym typeface="Calibri"/>
              </a:rPr>
              <a:t>Heterojen Veri Entegrasyonu</a:t>
            </a:r>
            <a:endParaRPr sz="1300" b="0" i="0" u="none" strike="noStrike" cap="none">
              <a:solidFill>
                <a:schemeClr val="dk1"/>
              </a:solidFill>
              <a:latin typeface="Calibri"/>
              <a:ea typeface="Calibri"/>
              <a:cs typeface="Calibri"/>
              <a:sym typeface="Calibri"/>
            </a:endParaRPr>
          </a:p>
        </p:txBody>
      </p:sp>
      <p:sp>
        <p:nvSpPr>
          <p:cNvPr id="97" name="Google Shape;97;p6"/>
          <p:cNvSpPr/>
          <p:nvPr/>
        </p:nvSpPr>
        <p:spPr>
          <a:xfrm>
            <a:off x="4937760" y="1755648"/>
            <a:ext cx="3657600" cy="84124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A5568"/>
              </a:buClr>
              <a:buSzPts val="1200"/>
              <a:buFont typeface="Calibri"/>
              <a:buNone/>
            </a:pPr>
            <a:r>
              <a:rPr lang="en-US" sz="1200" b="0" i="0" u="none" strike="noStrike" cap="none">
                <a:solidFill>
                  <a:srgbClr val="4A5568"/>
                </a:solidFill>
                <a:latin typeface="Calibri"/>
                <a:ea typeface="Calibri"/>
                <a:cs typeface="Calibri"/>
                <a:sym typeface="Calibri"/>
              </a:rPr>
              <a:t>4 farklı veri seti tek bir talimat uyarlama iş akışında birleştirilerek çeşitli güvenlik görevleri kapsandı.</a:t>
            </a:r>
            <a:endParaRPr sz="1200" b="0" i="0" u="none" strike="noStrike" cap="none">
              <a:solidFill>
                <a:schemeClr val="dk1"/>
              </a:solidFill>
              <a:latin typeface="Calibri"/>
              <a:ea typeface="Calibri"/>
              <a:cs typeface="Calibri"/>
              <a:sym typeface="Calibri"/>
            </a:endParaRPr>
          </a:p>
        </p:txBody>
      </p:sp>
      <p:sp>
        <p:nvSpPr>
          <p:cNvPr id="98" name="Google Shape;98;p6"/>
          <p:cNvSpPr/>
          <p:nvPr/>
        </p:nvSpPr>
        <p:spPr>
          <a:xfrm>
            <a:off x="365760" y="2926080"/>
            <a:ext cx="4023360" cy="1600200"/>
          </a:xfrm>
          <a:prstGeom prst="roundRect">
            <a:avLst>
              <a:gd name="adj" fmla="val 5714"/>
            </a:avLst>
          </a:prstGeom>
          <a:solidFill>
            <a:srgbClr val="F8FB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6"/>
          <p:cNvSpPr/>
          <p:nvPr/>
        </p:nvSpPr>
        <p:spPr>
          <a:xfrm>
            <a:off x="530352" y="3127248"/>
            <a:ext cx="384048" cy="384048"/>
          </a:xfrm>
          <a:prstGeom prst="roundRect">
            <a:avLst>
              <a:gd name="adj" fmla="val 11905"/>
            </a:avLst>
          </a:prstGeom>
          <a:solidFill>
            <a:srgbClr val="7C3A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6"/>
          <p:cNvSpPr/>
          <p:nvPr/>
        </p:nvSpPr>
        <p:spPr>
          <a:xfrm>
            <a:off x="530352" y="3127248"/>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en-US" sz="1500" b="1" i="0" u="none" strike="noStrike" cap="none">
                <a:solidFill>
                  <a:srgbClr val="FFFFFF"/>
                </a:solidFill>
                <a:latin typeface="Calibri"/>
                <a:ea typeface="Calibri"/>
                <a:cs typeface="Calibri"/>
                <a:sym typeface="Calibri"/>
              </a:rPr>
              <a:t>3</a:t>
            </a:r>
            <a:endParaRPr sz="1500" b="0" i="0" u="none" strike="noStrike" cap="none">
              <a:solidFill>
                <a:schemeClr val="dk1"/>
              </a:solidFill>
              <a:latin typeface="Calibri"/>
              <a:ea typeface="Calibri"/>
              <a:cs typeface="Calibri"/>
              <a:sym typeface="Calibri"/>
            </a:endParaRPr>
          </a:p>
        </p:txBody>
      </p:sp>
      <p:sp>
        <p:nvSpPr>
          <p:cNvPr id="101" name="Google Shape;101;p6"/>
          <p:cNvSpPr/>
          <p:nvPr/>
        </p:nvSpPr>
        <p:spPr>
          <a:xfrm>
            <a:off x="1051560" y="3090672"/>
            <a:ext cx="32004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332"/>
              </a:buClr>
              <a:buSzPts val="1300"/>
              <a:buFont typeface="Calibri"/>
              <a:buNone/>
            </a:pPr>
            <a:r>
              <a:rPr lang="en-US" sz="1300" b="1" i="0" u="none" strike="noStrike" cap="none">
                <a:solidFill>
                  <a:srgbClr val="1A2332"/>
                </a:solidFill>
                <a:latin typeface="Calibri"/>
                <a:ea typeface="Calibri"/>
                <a:cs typeface="Calibri"/>
                <a:sym typeface="Calibri"/>
              </a:rPr>
              <a:t>Parametre Verimli Eğitim</a:t>
            </a:r>
            <a:endParaRPr sz="1300" b="0" i="0" u="none" strike="noStrike" cap="none">
              <a:solidFill>
                <a:schemeClr val="dk1"/>
              </a:solidFill>
              <a:latin typeface="Calibri"/>
              <a:ea typeface="Calibri"/>
              <a:cs typeface="Calibri"/>
              <a:sym typeface="Calibri"/>
            </a:endParaRPr>
          </a:p>
        </p:txBody>
      </p:sp>
      <p:sp>
        <p:nvSpPr>
          <p:cNvPr id="102" name="Google Shape;102;p6"/>
          <p:cNvSpPr/>
          <p:nvPr/>
        </p:nvSpPr>
        <p:spPr>
          <a:xfrm>
            <a:off x="548640" y="3584448"/>
            <a:ext cx="3657600" cy="84124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A5568"/>
              </a:buClr>
              <a:buSzPts val="1200"/>
              <a:buFont typeface="Calibri"/>
              <a:buNone/>
            </a:pPr>
            <a:r>
              <a:rPr lang="en-US" sz="1200" b="0" i="0" u="none" strike="noStrike" cap="none">
                <a:solidFill>
                  <a:srgbClr val="4A5568"/>
                </a:solidFill>
                <a:latin typeface="Calibri"/>
                <a:ea typeface="Calibri"/>
                <a:cs typeface="Calibri"/>
                <a:sym typeface="Calibri"/>
              </a:rPr>
              <a:t>4-bit kuantizasyon + LoRA (r=16) ile bellek gereksinimi önemli ölçüde azaltıldı, Unsloth ile hızlandırıldı.</a:t>
            </a:r>
            <a:endParaRPr sz="1200" b="0" i="0" u="none" strike="noStrike" cap="none">
              <a:solidFill>
                <a:schemeClr val="dk1"/>
              </a:solidFill>
              <a:latin typeface="Calibri"/>
              <a:ea typeface="Calibri"/>
              <a:cs typeface="Calibri"/>
              <a:sym typeface="Calibri"/>
            </a:endParaRPr>
          </a:p>
        </p:txBody>
      </p:sp>
      <p:sp>
        <p:nvSpPr>
          <p:cNvPr id="103" name="Google Shape;103;p6"/>
          <p:cNvSpPr/>
          <p:nvPr/>
        </p:nvSpPr>
        <p:spPr>
          <a:xfrm>
            <a:off x="4754880" y="2926080"/>
            <a:ext cx="4023360" cy="1600200"/>
          </a:xfrm>
          <a:prstGeom prst="roundRect">
            <a:avLst>
              <a:gd name="adj" fmla="val 5714"/>
            </a:avLst>
          </a:prstGeom>
          <a:solidFill>
            <a:srgbClr val="F8FB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6"/>
          <p:cNvSpPr/>
          <p:nvPr/>
        </p:nvSpPr>
        <p:spPr>
          <a:xfrm>
            <a:off x="4919472" y="3127248"/>
            <a:ext cx="384048" cy="384048"/>
          </a:xfrm>
          <a:prstGeom prst="roundRect">
            <a:avLst>
              <a:gd name="adj" fmla="val 11905"/>
            </a:avLst>
          </a:prstGeom>
          <a:solidFill>
            <a:srgbClr val="D977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6"/>
          <p:cNvSpPr/>
          <p:nvPr/>
        </p:nvSpPr>
        <p:spPr>
          <a:xfrm>
            <a:off x="4919472" y="3127248"/>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Calibri"/>
              <a:buNone/>
            </a:pPr>
            <a:r>
              <a:rPr lang="en-US" sz="1500" b="1" i="0" u="none" strike="noStrike" cap="none">
                <a:solidFill>
                  <a:srgbClr val="FFFFFF"/>
                </a:solidFill>
                <a:latin typeface="Calibri"/>
                <a:ea typeface="Calibri"/>
                <a:cs typeface="Calibri"/>
                <a:sym typeface="Calibri"/>
              </a:rPr>
              <a:t>4</a:t>
            </a:r>
            <a:endParaRPr sz="1500" b="0" i="0" u="none" strike="noStrike" cap="none">
              <a:solidFill>
                <a:schemeClr val="dk1"/>
              </a:solidFill>
              <a:latin typeface="Calibri"/>
              <a:ea typeface="Calibri"/>
              <a:cs typeface="Calibri"/>
              <a:sym typeface="Calibri"/>
            </a:endParaRPr>
          </a:p>
        </p:txBody>
      </p:sp>
      <p:sp>
        <p:nvSpPr>
          <p:cNvPr id="106" name="Google Shape;106;p6"/>
          <p:cNvSpPr/>
          <p:nvPr/>
        </p:nvSpPr>
        <p:spPr>
          <a:xfrm>
            <a:off x="5440680" y="3090672"/>
            <a:ext cx="32004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332"/>
              </a:buClr>
              <a:buSzPts val="1300"/>
              <a:buFont typeface="Calibri"/>
              <a:buNone/>
            </a:pPr>
            <a:r>
              <a:rPr lang="en-US" sz="1300" b="1" i="0" u="none" strike="noStrike" cap="none">
                <a:solidFill>
                  <a:srgbClr val="1A2332"/>
                </a:solidFill>
                <a:latin typeface="Calibri"/>
                <a:ea typeface="Calibri"/>
                <a:cs typeface="Calibri"/>
                <a:sym typeface="Calibri"/>
              </a:rPr>
              <a:t>Uzmanlaşmış Güvenlik Asistanı</a:t>
            </a:r>
            <a:endParaRPr sz="1300" b="0" i="0" u="none" strike="noStrike" cap="none">
              <a:solidFill>
                <a:schemeClr val="dk1"/>
              </a:solidFill>
              <a:latin typeface="Calibri"/>
              <a:ea typeface="Calibri"/>
              <a:cs typeface="Calibri"/>
              <a:sym typeface="Calibri"/>
            </a:endParaRPr>
          </a:p>
        </p:txBody>
      </p:sp>
      <p:sp>
        <p:nvSpPr>
          <p:cNvPr id="107" name="Google Shape;107;p6"/>
          <p:cNvSpPr/>
          <p:nvPr/>
        </p:nvSpPr>
        <p:spPr>
          <a:xfrm>
            <a:off x="4937760" y="3584448"/>
            <a:ext cx="3657600" cy="84124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A5568"/>
              </a:buClr>
              <a:buSzPts val="1200"/>
              <a:buFont typeface="Calibri"/>
              <a:buNone/>
            </a:pPr>
            <a:r>
              <a:rPr lang="en-US" sz="1200" b="0" i="0" u="none" strike="noStrike" cap="none">
                <a:solidFill>
                  <a:srgbClr val="4A5568"/>
                </a:solidFill>
                <a:latin typeface="Calibri"/>
                <a:ea typeface="Calibri"/>
                <a:cs typeface="Calibri"/>
                <a:sym typeface="Calibri"/>
              </a:rPr>
              <a:t>Zafiyet analizi, güvenli kodlama ve siber güvenlik talimat takibi yapabilen bir kodlama asistanı oluşturuldu.</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2"/>
        <p:cNvGrpSpPr/>
        <p:nvPr/>
      </p:nvGrpSpPr>
      <p:grpSpPr>
        <a:xfrm>
          <a:off x="0" y="0"/>
          <a:ext cx="0" cy="0"/>
          <a:chOff x="0" y="0"/>
          <a:chExt cx="0" cy="0"/>
        </a:xfrm>
      </p:grpSpPr>
      <p:sp>
        <p:nvSpPr>
          <p:cNvPr id="113" name="Google Shape;113;p7"/>
          <p:cNvSpPr/>
          <p:nvPr/>
        </p:nvSpPr>
        <p:spPr>
          <a:xfrm>
            <a:off x="457200" y="201168"/>
            <a:ext cx="822960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A1628"/>
              </a:buClr>
              <a:buSzPts val="2800"/>
              <a:buFont typeface="Calibri"/>
              <a:buNone/>
            </a:pPr>
            <a:r>
              <a:rPr lang="en-US" sz="2800" b="1" i="0" u="none" strike="noStrike" cap="none">
                <a:solidFill>
                  <a:srgbClr val="0A1628"/>
                </a:solidFill>
                <a:latin typeface="Calibri"/>
                <a:ea typeface="Calibri"/>
                <a:cs typeface="Calibri"/>
                <a:sym typeface="Calibri"/>
              </a:rPr>
              <a:t>Literatür Taraması</a:t>
            </a:r>
            <a:endParaRPr sz="2800" b="0" i="0" u="none" strike="noStrike" cap="none">
              <a:solidFill>
                <a:schemeClr val="dk1"/>
              </a:solidFill>
              <a:latin typeface="Calibri"/>
              <a:ea typeface="Calibri"/>
              <a:cs typeface="Calibri"/>
              <a:sym typeface="Calibri"/>
            </a:endParaRPr>
          </a:p>
        </p:txBody>
      </p:sp>
      <p:sp>
        <p:nvSpPr>
          <p:cNvPr id="114" name="Google Shape;114;p7"/>
          <p:cNvSpPr/>
          <p:nvPr/>
        </p:nvSpPr>
        <p:spPr>
          <a:xfrm>
            <a:off x="457200" y="932688"/>
            <a:ext cx="8229600" cy="22860"/>
          </a:xfrm>
          <a:prstGeom prst="rect">
            <a:avLst/>
          </a:prstGeom>
          <a:solidFill>
            <a:srgbClr val="DBEA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115" name="Google Shape;115;p7"/>
          <p:cNvGraphicFramePr/>
          <p:nvPr/>
        </p:nvGraphicFramePr>
        <p:xfrm>
          <a:off x="274320" y="1051560"/>
          <a:ext cx="8595375" cy="3365000"/>
        </p:xfrm>
        <a:graphic>
          <a:graphicData uri="http://schemas.openxmlformats.org/drawingml/2006/table">
            <a:tbl>
              <a:tblPr>
                <a:noFill/>
                <a:tableStyleId>{B596FA54-F9A0-43AD-BEA4-D8A777AA7D07}</a:tableStyleId>
              </a:tblPr>
              <a:tblGrid>
                <a:gridCol w="2194550">
                  <a:extLst>
                    <a:ext uri="{9D8B030D-6E8A-4147-A177-3AD203B41FA5}">
                      <a16:colId xmlns:a16="http://schemas.microsoft.com/office/drawing/2014/main" val="20000"/>
                    </a:ext>
                  </a:extLst>
                </a:gridCol>
                <a:gridCol w="502925">
                  <a:extLst>
                    <a:ext uri="{9D8B030D-6E8A-4147-A177-3AD203B41FA5}">
                      <a16:colId xmlns:a16="http://schemas.microsoft.com/office/drawing/2014/main" val="20001"/>
                    </a:ext>
                  </a:extLst>
                </a:gridCol>
                <a:gridCol w="1920250">
                  <a:extLst>
                    <a:ext uri="{9D8B030D-6E8A-4147-A177-3AD203B41FA5}">
                      <a16:colId xmlns:a16="http://schemas.microsoft.com/office/drawing/2014/main" val="20002"/>
                    </a:ext>
                  </a:extLst>
                </a:gridCol>
                <a:gridCol w="3977650">
                  <a:extLst>
                    <a:ext uri="{9D8B030D-6E8A-4147-A177-3AD203B41FA5}">
                      <a16:colId xmlns:a16="http://schemas.microsoft.com/office/drawing/2014/main" val="20003"/>
                    </a:ext>
                  </a:extLst>
                </a:gridCol>
              </a:tblGrid>
              <a:tr h="420625">
                <a:tc>
                  <a:txBody>
                    <a:bodyPr/>
                    <a:lstStyle/>
                    <a:p>
                      <a:pPr marL="0" marR="0" lvl="0" indent="0" algn="l" rtl="0">
                        <a:spcBef>
                          <a:spcPts val="0"/>
                        </a:spcBef>
                        <a:spcAft>
                          <a:spcPts val="0"/>
                        </a:spcAft>
                        <a:buClr>
                          <a:srgbClr val="FFFFFF"/>
                        </a:buClr>
                        <a:buSzPts val="1100"/>
                        <a:buFont typeface="Calibri"/>
                        <a:buNone/>
                      </a:pPr>
                      <a:r>
                        <a:rPr lang="en-US" sz="1100" b="1" u="none" strike="noStrike" cap="none">
                          <a:solidFill>
                            <a:srgbClr val="FFFFFF"/>
                          </a:solidFill>
                          <a:latin typeface="Calibri"/>
                          <a:ea typeface="Calibri"/>
                          <a:cs typeface="Calibri"/>
                          <a:sym typeface="Calibri"/>
                        </a:rPr>
                        <a:t>Kaynak / Yazar</a:t>
                      </a:r>
                      <a:endParaRPr sz="11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0A1628"/>
                    </a:solidFill>
                  </a:tcPr>
                </a:tc>
                <a:tc>
                  <a:txBody>
                    <a:bodyPr/>
                    <a:lstStyle/>
                    <a:p>
                      <a:pPr marL="0" marR="0" lvl="0" indent="0" algn="l" rtl="0">
                        <a:spcBef>
                          <a:spcPts val="0"/>
                        </a:spcBef>
                        <a:spcAft>
                          <a:spcPts val="0"/>
                        </a:spcAft>
                        <a:buClr>
                          <a:srgbClr val="FFFFFF"/>
                        </a:buClr>
                        <a:buSzPts val="1100"/>
                        <a:buFont typeface="Calibri"/>
                        <a:buNone/>
                      </a:pPr>
                      <a:r>
                        <a:rPr lang="en-US" sz="1100" b="1" u="none" strike="noStrike" cap="none">
                          <a:solidFill>
                            <a:srgbClr val="FFFFFF"/>
                          </a:solidFill>
                          <a:latin typeface="Calibri"/>
                          <a:ea typeface="Calibri"/>
                          <a:cs typeface="Calibri"/>
                          <a:sym typeface="Calibri"/>
                        </a:rPr>
                        <a:t>Yıl</a:t>
                      </a:r>
                      <a:endParaRPr sz="11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0A1628"/>
                    </a:solidFill>
                  </a:tcPr>
                </a:tc>
                <a:tc>
                  <a:txBody>
                    <a:bodyPr/>
                    <a:lstStyle/>
                    <a:p>
                      <a:pPr marL="0" marR="0" lvl="0" indent="0" algn="l" rtl="0">
                        <a:spcBef>
                          <a:spcPts val="0"/>
                        </a:spcBef>
                        <a:spcAft>
                          <a:spcPts val="0"/>
                        </a:spcAft>
                        <a:buClr>
                          <a:srgbClr val="FFFFFF"/>
                        </a:buClr>
                        <a:buSzPts val="1100"/>
                        <a:buFont typeface="Calibri"/>
                        <a:buNone/>
                      </a:pPr>
                      <a:r>
                        <a:rPr lang="en-US" sz="1100" b="1" u="none" strike="noStrike" cap="none">
                          <a:solidFill>
                            <a:srgbClr val="FFFFFF"/>
                          </a:solidFill>
                          <a:latin typeface="Calibri"/>
                          <a:ea typeface="Calibri"/>
                          <a:cs typeface="Calibri"/>
                          <a:sym typeface="Calibri"/>
                        </a:rPr>
                        <a:t>Yöntem</a:t>
                      </a:r>
                      <a:endParaRPr sz="11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0A1628"/>
                    </a:solidFill>
                  </a:tcPr>
                </a:tc>
                <a:tc>
                  <a:txBody>
                    <a:bodyPr/>
                    <a:lstStyle/>
                    <a:p>
                      <a:pPr marL="0" marR="0" lvl="0" indent="0" algn="l" rtl="0">
                        <a:spcBef>
                          <a:spcPts val="0"/>
                        </a:spcBef>
                        <a:spcAft>
                          <a:spcPts val="0"/>
                        </a:spcAft>
                        <a:buClr>
                          <a:srgbClr val="FFFFFF"/>
                        </a:buClr>
                        <a:buSzPts val="1100"/>
                        <a:buFont typeface="Calibri"/>
                        <a:buNone/>
                      </a:pPr>
                      <a:r>
                        <a:rPr lang="en-US" sz="1100" b="1" u="none" strike="noStrike" cap="none">
                          <a:solidFill>
                            <a:srgbClr val="FFFFFF"/>
                          </a:solidFill>
                          <a:latin typeface="Calibri"/>
                          <a:ea typeface="Calibri"/>
                          <a:cs typeface="Calibri"/>
                          <a:sym typeface="Calibri"/>
                        </a:rPr>
                        <a:t>Temel Bulgular</a:t>
                      </a:r>
                      <a:endParaRPr sz="11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0A1628"/>
                    </a:solidFill>
                  </a:tcPr>
                </a:tc>
                <a:extLst>
                  <a:ext uri="{0D108BD9-81ED-4DB2-BD59-A6C34878D82A}">
                    <a16:rowId xmlns:a16="http://schemas.microsoft.com/office/drawing/2014/main" val="10000"/>
                  </a:ext>
                </a:extLst>
              </a:tr>
              <a:tr h="420625">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Chen vd. – DiverseVul</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2023</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Transformer + GNN</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Büyük ölçekli zafiyet veri seti; başarım veri çeşitliliğine bağlı</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extLst>
                  <a:ext uri="{0D108BD9-81ED-4DB2-BD59-A6C34878D82A}">
                    <a16:rowId xmlns:a16="http://schemas.microsoft.com/office/drawing/2014/main" val="10001"/>
                  </a:ext>
                </a:extLst>
              </a:tr>
              <a:tr h="420625">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Dubniczky vd. – CASTLE</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tcPr>
                </a:tc>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2025</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tcPr>
                </a:tc>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LLM + CWE Benchmark</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tcPr>
                </a:tc>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Küçük kodlarda başarılı; büyük ve karmaşık kodlarda hata oranı artıyor</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tcPr>
                </a:tc>
                <a:extLst>
                  <a:ext uri="{0D108BD9-81ED-4DB2-BD59-A6C34878D82A}">
                    <a16:rowId xmlns:a16="http://schemas.microsoft.com/office/drawing/2014/main" val="10002"/>
                  </a:ext>
                </a:extLst>
              </a:tr>
              <a:tr h="420625">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Pearce vd.</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2022</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Copilot Güvenlik Analizi</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Üretilen kodların önemli kısmı güvenlik açığı içerebiliyor</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extLst>
                  <a:ext uri="{0D108BD9-81ED-4DB2-BD59-A6C34878D82A}">
                    <a16:rowId xmlns:a16="http://schemas.microsoft.com/office/drawing/2014/main" val="10003"/>
                  </a:ext>
                </a:extLst>
              </a:tr>
              <a:tr h="420625">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Fu &amp; Tantithamthavorn</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tcPr>
                </a:tc>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2022</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tcPr>
                </a:tc>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CodeBERT + BigVul</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tcPr>
                </a:tc>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Önceden eğitilmiş kod modelleri zafiyet tespitinde etkili</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tcPr>
                </a:tc>
                <a:extLst>
                  <a:ext uri="{0D108BD9-81ED-4DB2-BD59-A6C34878D82A}">
                    <a16:rowId xmlns:a16="http://schemas.microsoft.com/office/drawing/2014/main" val="10004"/>
                  </a:ext>
                </a:extLst>
              </a:tr>
              <a:tr h="420625">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Aghaei vd. – SecureBERT</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2022</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Alan-özel BERT modeli</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Siber güvenlik görevlerinde genel BERT'ten üstün</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extLst>
                  <a:ext uri="{0D108BD9-81ED-4DB2-BD59-A6C34878D82A}">
                    <a16:rowId xmlns:a16="http://schemas.microsoft.com/office/drawing/2014/main" val="10005"/>
                  </a:ext>
                </a:extLst>
              </a:tr>
              <a:tr h="420625">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Hu vd. – LoRA</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tcPr>
                </a:tc>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2021</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tcPr>
                </a:tc>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Parametre Verimli İnce Ayar</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tcPr>
                </a:tc>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Düşük maliyetle yüksek performanslı model uyarlaması</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tcPr>
                </a:tc>
                <a:extLst>
                  <a:ext uri="{0D108BD9-81ED-4DB2-BD59-A6C34878D82A}">
                    <a16:rowId xmlns:a16="http://schemas.microsoft.com/office/drawing/2014/main" val="10006"/>
                  </a:ext>
                </a:extLst>
              </a:tr>
              <a:tr h="420625">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He &amp; Vechev – SVEN</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2023</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LLM Yönlendirme Vektörleri</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tc>
                  <a:txBody>
                    <a:bodyPr/>
                    <a:lstStyle/>
                    <a:p>
                      <a:pPr marL="0" marR="0" lvl="0" indent="0" algn="l" rtl="0">
                        <a:spcBef>
                          <a:spcPts val="0"/>
                        </a:spcBef>
                        <a:spcAft>
                          <a:spcPts val="0"/>
                        </a:spcAft>
                        <a:buClr>
                          <a:srgbClr val="1A2332"/>
                        </a:buClr>
                        <a:buSzPts val="1000"/>
                        <a:buFont typeface="Calibri"/>
                        <a:buNone/>
                      </a:pPr>
                      <a:r>
                        <a:rPr lang="en-US" sz="1000" u="none" strike="noStrike" cap="none">
                          <a:solidFill>
                            <a:srgbClr val="1A2332"/>
                          </a:solidFill>
                          <a:latin typeface="Calibri"/>
                          <a:ea typeface="Calibri"/>
                          <a:cs typeface="Calibri"/>
                          <a:sym typeface="Calibri"/>
                        </a:rPr>
                        <a:t>Güvenli kod üretim oranı artırılırken işlevsellik korunuyor</a:t>
                      </a:r>
                      <a:endParaRPr sz="10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0"/>
        <p:cNvGrpSpPr/>
        <p:nvPr/>
      </p:nvGrpSpPr>
      <p:grpSpPr>
        <a:xfrm>
          <a:off x="0" y="0"/>
          <a:ext cx="0" cy="0"/>
          <a:chOff x="0" y="0"/>
          <a:chExt cx="0" cy="0"/>
        </a:xfrm>
      </p:grpSpPr>
      <p:sp>
        <p:nvSpPr>
          <p:cNvPr id="121" name="Google Shape;121;p8"/>
          <p:cNvSpPr/>
          <p:nvPr/>
        </p:nvSpPr>
        <p:spPr>
          <a:xfrm>
            <a:off x="457200" y="201168"/>
            <a:ext cx="822960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A1628"/>
              </a:buClr>
              <a:buSzPts val="2800"/>
              <a:buFont typeface="Calibri"/>
              <a:buNone/>
            </a:pPr>
            <a:r>
              <a:rPr lang="en-US" sz="2800" b="1" i="0" u="none" strike="noStrike" cap="none">
                <a:solidFill>
                  <a:srgbClr val="0A1628"/>
                </a:solidFill>
                <a:latin typeface="Calibri"/>
                <a:ea typeface="Calibri"/>
                <a:cs typeface="Calibri"/>
                <a:sym typeface="Calibri"/>
              </a:rPr>
              <a:t>Veri Setleri</a:t>
            </a:r>
            <a:endParaRPr sz="2800" b="0" i="0" u="none" strike="noStrike" cap="none">
              <a:solidFill>
                <a:schemeClr val="dk1"/>
              </a:solidFill>
              <a:latin typeface="Calibri"/>
              <a:ea typeface="Calibri"/>
              <a:cs typeface="Calibri"/>
              <a:sym typeface="Calibri"/>
            </a:endParaRPr>
          </a:p>
        </p:txBody>
      </p:sp>
      <p:sp>
        <p:nvSpPr>
          <p:cNvPr id="122" name="Google Shape;122;p8"/>
          <p:cNvSpPr/>
          <p:nvPr/>
        </p:nvSpPr>
        <p:spPr>
          <a:xfrm>
            <a:off x="457200" y="932688"/>
            <a:ext cx="8229600" cy="22860"/>
          </a:xfrm>
          <a:prstGeom prst="rect">
            <a:avLst/>
          </a:prstGeom>
          <a:solidFill>
            <a:srgbClr val="DBEA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8"/>
          <p:cNvSpPr/>
          <p:nvPr/>
        </p:nvSpPr>
        <p:spPr>
          <a:xfrm>
            <a:off x="365760" y="1078992"/>
            <a:ext cx="4023360" cy="1828800"/>
          </a:xfrm>
          <a:prstGeom prst="roundRect">
            <a:avLst>
              <a:gd name="adj" fmla="val 5000"/>
            </a:avLst>
          </a:prstGeom>
          <a:solidFill>
            <a:srgbClr val="F8FB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a:off x="365760" y="1078992"/>
            <a:ext cx="4023360" cy="502920"/>
          </a:xfrm>
          <a:prstGeom prst="roundRect">
            <a:avLst>
              <a:gd name="adj" fmla="val 14545"/>
            </a:avLst>
          </a:prstGeom>
          <a:solidFill>
            <a:srgbClr val="0E9F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8"/>
          <p:cNvSpPr/>
          <p:nvPr/>
        </p:nvSpPr>
        <p:spPr>
          <a:xfrm>
            <a:off x="493776" y="1152144"/>
            <a:ext cx="2560320" cy="3474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CodeSearchNet</a:t>
            </a:r>
            <a:endParaRPr sz="1400" b="0" i="0" u="none" strike="noStrike" cap="none">
              <a:solidFill>
                <a:schemeClr val="dk1"/>
              </a:solidFill>
              <a:latin typeface="Calibri"/>
              <a:ea typeface="Calibri"/>
              <a:cs typeface="Calibri"/>
              <a:sym typeface="Calibri"/>
            </a:endParaRPr>
          </a:p>
        </p:txBody>
      </p:sp>
      <p:sp>
        <p:nvSpPr>
          <p:cNvPr id="126" name="Google Shape;126;p8"/>
          <p:cNvSpPr/>
          <p:nvPr/>
        </p:nvSpPr>
        <p:spPr>
          <a:xfrm>
            <a:off x="3200400" y="1152144"/>
            <a:ext cx="1097280" cy="34747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FFFFFF"/>
              </a:buClr>
              <a:buSzPts val="1100"/>
              <a:buFont typeface="Calibri"/>
              <a:buNone/>
            </a:pPr>
            <a:r>
              <a:rPr lang="en-US" sz="1100" b="0" i="0" u="none" strike="noStrike" cap="none">
                <a:solidFill>
                  <a:srgbClr val="FFFFFF"/>
                </a:solidFill>
                <a:latin typeface="Calibri"/>
                <a:ea typeface="Calibri"/>
                <a:cs typeface="Calibri"/>
                <a:sym typeface="Calibri"/>
              </a:rPr>
              <a:t>412.178 örnek</a:t>
            </a:r>
            <a:endParaRPr sz="1100" b="0" i="0" u="none" strike="noStrike" cap="none">
              <a:solidFill>
                <a:schemeClr val="dk1"/>
              </a:solidFill>
              <a:latin typeface="Calibri"/>
              <a:ea typeface="Calibri"/>
              <a:cs typeface="Calibri"/>
              <a:sym typeface="Calibri"/>
            </a:endParaRPr>
          </a:p>
        </p:txBody>
      </p:sp>
      <p:sp>
        <p:nvSpPr>
          <p:cNvPr id="127" name="Google Shape;127;p8"/>
          <p:cNvSpPr/>
          <p:nvPr/>
        </p:nvSpPr>
        <p:spPr>
          <a:xfrm>
            <a:off x="493776" y="1655064"/>
            <a:ext cx="374904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E9F6E"/>
              </a:buClr>
              <a:buSzPts val="1200"/>
              <a:buFont typeface="Calibri"/>
              <a:buNone/>
            </a:pPr>
            <a:r>
              <a:rPr lang="en-US" sz="1200" b="1" i="0" u="none" strike="noStrike" cap="none">
                <a:solidFill>
                  <a:srgbClr val="0E9F6E"/>
                </a:solidFill>
                <a:latin typeface="Calibri"/>
                <a:ea typeface="Calibri"/>
                <a:cs typeface="Calibri"/>
                <a:sym typeface="Calibri"/>
              </a:rPr>
              <a:t>Semantik Kod Anlayışı</a:t>
            </a:r>
            <a:endParaRPr sz="1200" b="0" i="0" u="none" strike="noStrike" cap="none">
              <a:solidFill>
                <a:schemeClr val="dk1"/>
              </a:solidFill>
              <a:latin typeface="Calibri"/>
              <a:ea typeface="Calibri"/>
              <a:cs typeface="Calibri"/>
              <a:sym typeface="Calibri"/>
            </a:endParaRPr>
          </a:p>
        </p:txBody>
      </p:sp>
      <p:sp>
        <p:nvSpPr>
          <p:cNvPr id="128" name="Google Shape;128;p8"/>
          <p:cNvSpPr/>
          <p:nvPr/>
        </p:nvSpPr>
        <p:spPr>
          <a:xfrm>
            <a:off x="493776" y="1947672"/>
            <a:ext cx="374904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A5568"/>
              </a:buClr>
              <a:buSzPts val="1200"/>
              <a:buFont typeface="Calibri"/>
              <a:buNone/>
            </a:pPr>
            <a:r>
              <a:rPr lang="en-US" sz="1200" b="0" i="0" u="none" strike="noStrike" cap="none">
                <a:solidFill>
                  <a:srgbClr val="4A5568"/>
                </a:solidFill>
                <a:latin typeface="Calibri"/>
                <a:ea typeface="Calibri"/>
                <a:cs typeface="Calibri"/>
                <a:sym typeface="Calibri"/>
              </a:rPr>
              <a:t>Temiz Python fonksiyonları ve doğal dil açıklamaları. Modelin genel kod anlama yeteneğini korur.</a:t>
            </a:r>
            <a:endParaRPr sz="1200" b="0" i="0" u="none" strike="noStrike" cap="none">
              <a:solidFill>
                <a:schemeClr val="dk1"/>
              </a:solidFill>
              <a:latin typeface="Calibri"/>
              <a:ea typeface="Calibri"/>
              <a:cs typeface="Calibri"/>
              <a:sym typeface="Calibri"/>
            </a:endParaRPr>
          </a:p>
        </p:txBody>
      </p:sp>
      <p:sp>
        <p:nvSpPr>
          <p:cNvPr id="129" name="Google Shape;129;p8"/>
          <p:cNvSpPr/>
          <p:nvPr/>
        </p:nvSpPr>
        <p:spPr>
          <a:xfrm>
            <a:off x="4754880" y="1078992"/>
            <a:ext cx="4023360" cy="1828800"/>
          </a:xfrm>
          <a:prstGeom prst="roundRect">
            <a:avLst>
              <a:gd name="adj" fmla="val 5000"/>
            </a:avLst>
          </a:prstGeom>
          <a:solidFill>
            <a:srgbClr val="F8FB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8"/>
          <p:cNvSpPr/>
          <p:nvPr/>
        </p:nvSpPr>
        <p:spPr>
          <a:xfrm>
            <a:off x="4754880" y="1078992"/>
            <a:ext cx="4023360" cy="502920"/>
          </a:xfrm>
          <a:prstGeom prst="roundRect">
            <a:avLst>
              <a:gd name="adj" fmla="val 14545"/>
            </a:avLst>
          </a:prstGeom>
          <a:solidFill>
            <a:srgbClr val="DC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8"/>
          <p:cNvSpPr/>
          <p:nvPr/>
        </p:nvSpPr>
        <p:spPr>
          <a:xfrm>
            <a:off x="4882896" y="1152144"/>
            <a:ext cx="2560320" cy="3474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BigVul</a:t>
            </a:r>
            <a:endParaRPr sz="1400" b="0" i="0" u="none" strike="noStrike" cap="none">
              <a:solidFill>
                <a:schemeClr val="dk1"/>
              </a:solidFill>
              <a:latin typeface="Calibri"/>
              <a:ea typeface="Calibri"/>
              <a:cs typeface="Calibri"/>
              <a:sym typeface="Calibri"/>
            </a:endParaRPr>
          </a:p>
        </p:txBody>
      </p:sp>
      <p:sp>
        <p:nvSpPr>
          <p:cNvPr id="132" name="Google Shape;132;p8"/>
          <p:cNvSpPr/>
          <p:nvPr/>
        </p:nvSpPr>
        <p:spPr>
          <a:xfrm>
            <a:off x="7589520" y="1152144"/>
            <a:ext cx="1097280" cy="34747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FFFFFF"/>
              </a:buClr>
              <a:buSzPts val="1100"/>
              <a:buFont typeface="Calibri"/>
              <a:buNone/>
            </a:pPr>
            <a:r>
              <a:rPr lang="en-US" sz="1100" b="0" i="0" u="none" strike="noStrike" cap="none">
                <a:solidFill>
                  <a:srgbClr val="FFFFFF"/>
                </a:solidFill>
                <a:latin typeface="Calibri"/>
                <a:ea typeface="Calibri"/>
                <a:cs typeface="Calibri"/>
                <a:sym typeface="Calibri"/>
              </a:rPr>
              <a:t>2.037 örnek</a:t>
            </a:r>
            <a:endParaRPr sz="1100" b="0" i="0" u="none" strike="noStrike" cap="none">
              <a:solidFill>
                <a:schemeClr val="dk1"/>
              </a:solidFill>
              <a:latin typeface="Calibri"/>
              <a:ea typeface="Calibri"/>
              <a:cs typeface="Calibri"/>
              <a:sym typeface="Calibri"/>
            </a:endParaRPr>
          </a:p>
        </p:txBody>
      </p:sp>
      <p:sp>
        <p:nvSpPr>
          <p:cNvPr id="133" name="Google Shape;133;p8"/>
          <p:cNvSpPr/>
          <p:nvPr/>
        </p:nvSpPr>
        <p:spPr>
          <a:xfrm>
            <a:off x="4882896" y="1655064"/>
            <a:ext cx="374904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C2626"/>
              </a:buClr>
              <a:buSzPts val="1200"/>
              <a:buFont typeface="Calibri"/>
              <a:buNone/>
            </a:pPr>
            <a:r>
              <a:rPr lang="en-US" sz="1200" b="1" i="0" u="none" strike="noStrike" cap="none">
                <a:solidFill>
                  <a:srgbClr val="DC2626"/>
                </a:solidFill>
                <a:latin typeface="Calibri"/>
                <a:ea typeface="Calibri"/>
                <a:cs typeface="Calibri"/>
                <a:sym typeface="Calibri"/>
              </a:rPr>
              <a:t>Sistem Seviyesi CVE Analizi</a:t>
            </a:r>
            <a:endParaRPr sz="1200" b="0" i="0" u="none" strike="noStrike" cap="none">
              <a:solidFill>
                <a:schemeClr val="dk1"/>
              </a:solidFill>
              <a:latin typeface="Calibri"/>
              <a:ea typeface="Calibri"/>
              <a:cs typeface="Calibri"/>
              <a:sym typeface="Calibri"/>
            </a:endParaRPr>
          </a:p>
        </p:txBody>
      </p:sp>
      <p:sp>
        <p:nvSpPr>
          <p:cNvPr id="134" name="Google Shape;134;p8"/>
          <p:cNvSpPr/>
          <p:nvPr/>
        </p:nvSpPr>
        <p:spPr>
          <a:xfrm>
            <a:off x="4882896" y="1947672"/>
            <a:ext cx="374904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A5568"/>
              </a:buClr>
              <a:buSzPts val="1200"/>
              <a:buFont typeface="Calibri"/>
              <a:buNone/>
            </a:pPr>
            <a:r>
              <a:rPr lang="en-US" sz="1200" b="0" i="0" u="none" strike="noStrike" cap="none">
                <a:solidFill>
                  <a:srgbClr val="4A5568"/>
                </a:solidFill>
                <a:latin typeface="Calibri"/>
                <a:ea typeface="Calibri"/>
                <a:cs typeface="Calibri"/>
                <a:sym typeface="Calibri"/>
              </a:rPr>
              <a:t>Gerçek dünya C/C++ fonksiyonları; bellek taşması ve CWE eşleştirmeli sistem açıkları.</a:t>
            </a:r>
            <a:endParaRPr sz="1200" b="0" i="0" u="none" strike="noStrike" cap="none">
              <a:solidFill>
                <a:schemeClr val="dk1"/>
              </a:solidFill>
              <a:latin typeface="Calibri"/>
              <a:ea typeface="Calibri"/>
              <a:cs typeface="Calibri"/>
              <a:sym typeface="Calibri"/>
            </a:endParaRPr>
          </a:p>
        </p:txBody>
      </p:sp>
      <p:sp>
        <p:nvSpPr>
          <p:cNvPr id="135" name="Google Shape;135;p8"/>
          <p:cNvSpPr/>
          <p:nvPr/>
        </p:nvSpPr>
        <p:spPr>
          <a:xfrm>
            <a:off x="365760" y="3063240"/>
            <a:ext cx="4023360" cy="1828800"/>
          </a:xfrm>
          <a:prstGeom prst="roundRect">
            <a:avLst>
              <a:gd name="adj" fmla="val 5000"/>
            </a:avLst>
          </a:prstGeom>
          <a:solidFill>
            <a:srgbClr val="F8FB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8"/>
          <p:cNvSpPr/>
          <p:nvPr/>
        </p:nvSpPr>
        <p:spPr>
          <a:xfrm>
            <a:off x="365760" y="3063240"/>
            <a:ext cx="4023360" cy="502920"/>
          </a:xfrm>
          <a:prstGeom prst="roundRect">
            <a:avLst>
              <a:gd name="adj" fmla="val 14545"/>
            </a:avLst>
          </a:prstGeom>
          <a:solidFill>
            <a:srgbClr val="D977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8"/>
          <p:cNvSpPr/>
          <p:nvPr/>
        </p:nvSpPr>
        <p:spPr>
          <a:xfrm>
            <a:off x="493776" y="3136392"/>
            <a:ext cx="2560320" cy="3474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SecureCode-Web</a:t>
            </a:r>
            <a:endParaRPr sz="1400" b="0" i="0" u="none" strike="noStrike" cap="none">
              <a:solidFill>
                <a:schemeClr val="dk1"/>
              </a:solidFill>
              <a:latin typeface="Calibri"/>
              <a:ea typeface="Calibri"/>
              <a:cs typeface="Calibri"/>
              <a:sym typeface="Calibri"/>
            </a:endParaRPr>
          </a:p>
        </p:txBody>
      </p:sp>
      <p:sp>
        <p:nvSpPr>
          <p:cNvPr id="138" name="Google Shape;138;p8"/>
          <p:cNvSpPr/>
          <p:nvPr/>
        </p:nvSpPr>
        <p:spPr>
          <a:xfrm>
            <a:off x="3200400" y="3136392"/>
            <a:ext cx="1097280" cy="34747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FFFFFF"/>
              </a:buClr>
              <a:buSzPts val="1100"/>
              <a:buFont typeface="Calibri"/>
              <a:buNone/>
            </a:pPr>
            <a:r>
              <a:rPr lang="en-US" sz="1100" b="0" i="0" u="none" strike="noStrike" cap="none">
                <a:solidFill>
                  <a:srgbClr val="FFFFFF"/>
                </a:solidFill>
                <a:latin typeface="Calibri"/>
                <a:ea typeface="Calibri"/>
                <a:cs typeface="Calibri"/>
                <a:sym typeface="Calibri"/>
              </a:rPr>
              <a:t>1.102 örnek</a:t>
            </a:r>
            <a:endParaRPr sz="1100" b="0" i="0" u="none" strike="noStrike" cap="none">
              <a:solidFill>
                <a:schemeClr val="dk1"/>
              </a:solidFill>
              <a:latin typeface="Calibri"/>
              <a:ea typeface="Calibri"/>
              <a:cs typeface="Calibri"/>
              <a:sym typeface="Calibri"/>
            </a:endParaRPr>
          </a:p>
        </p:txBody>
      </p:sp>
      <p:sp>
        <p:nvSpPr>
          <p:cNvPr id="139" name="Google Shape;139;p8"/>
          <p:cNvSpPr/>
          <p:nvPr/>
        </p:nvSpPr>
        <p:spPr>
          <a:xfrm>
            <a:off x="493776" y="3639312"/>
            <a:ext cx="374904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7706"/>
              </a:buClr>
              <a:buSzPts val="1200"/>
              <a:buFont typeface="Calibri"/>
              <a:buNone/>
            </a:pPr>
            <a:r>
              <a:rPr lang="en-US" sz="1200" b="1" i="0" u="none" strike="noStrike" cap="none">
                <a:solidFill>
                  <a:srgbClr val="D97706"/>
                </a:solidFill>
                <a:latin typeface="Calibri"/>
                <a:ea typeface="Calibri"/>
                <a:cs typeface="Calibri"/>
                <a:sym typeface="Calibri"/>
              </a:rPr>
              <a:t>Web Güvenlik Analizi (SAST)</a:t>
            </a:r>
            <a:endParaRPr sz="1200" b="0" i="0" u="none" strike="noStrike" cap="none">
              <a:solidFill>
                <a:schemeClr val="dk1"/>
              </a:solidFill>
              <a:latin typeface="Calibri"/>
              <a:ea typeface="Calibri"/>
              <a:cs typeface="Calibri"/>
              <a:sym typeface="Calibri"/>
            </a:endParaRPr>
          </a:p>
        </p:txBody>
      </p:sp>
      <p:sp>
        <p:nvSpPr>
          <p:cNvPr id="140" name="Google Shape;140;p8"/>
          <p:cNvSpPr/>
          <p:nvPr/>
        </p:nvSpPr>
        <p:spPr>
          <a:xfrm>
            <a:off x="493776" y="3931920"/>
            <a:ext cx="374904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A5568"/>
              </a:buClr>
              <a:buSzPts val="1200"/>
              <a:buFont typeface="Calibri"/>
              <a:buNone/>
            </a:pPr>
            <a:r>
              <a:rPr lang="en-US" sz="1200" b="0" i="0" u="none" strike="noStrike" cap="none">
                <a:solidFill>
                  <a:srgbClr val="4A5568"/>
                </a:solidFill>
                <a:latin typeface="Calibri"/>
                <a:ea typeface="Calibri"/>
                <a:cs typeface="Calibri"/>
                <a:sym typeface="Calibri"/>
              </a:rPr>
              <a:t>OWASP İlk 10 odaklı güvenli/zafiyetli kod parçacıkları; JS, Python, PHP.</a:t>
            </a:r>
            <a:endParaRPr sz="1200" b="0" i="0" u="none" strike="noStrike" cap="none">
              <a:solidFill>
                <a:schemeClr val="dk1"/>
              </a:solidFill>
              <a:latin typeface="Calibri"/>
              <a:ea typeface="Calibri"/>
              <a:cs typeface="Calibri"/>
              <a:sym typeface="Calibri"/>
            </a:endParaRPr>
          </a:p>
        </p:txBody>
      </p:sp>
      <p:sp>
        <p:nvSpPr>
          <p:cNvPr id="141" name="Google Shape;141;p8"/>
          <p:cNvSpPr/>
          <p:nvPr/>
        </p:nvSpPr>
        <p:spPr>
          <a:xfrm>
            <a:off x="4754880" y="3063240"/>
            <a:ext cx="4023360" cy="1828800"/>
          </a:xfrm>
          <a:prstGeom prst="roundRect">
            <a:avLst>
              <a:gd name="adj" fmla="val 5000"/>
            </a:avLst>
          </a:prstGeom>
          <a:solidFill>
            <a:srgbClr val="F8FB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8"/>
          <p:cNvSpPr/>
          <p:nvPr/>
        </p:nvSpPr>
        <p:spPr>
          <a:xfrm>
            <a:off x="4754880" y="3063240"/>
            <a:ext cx="4023360" cy="502920"/>
          </a:xfrm>
          <a:prstGeom prst="roundRect">
            <a:avLst>
              <a:gd name="adj" fmla="val 14545"/>
            </a:avLst>
          </a:prstGeom>
          <a:solidFill>
            <a:srgbClr val="7C3A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8"/>
          <p:cNvSpPr/>
          <p:nvPr/>
        </p:nvSpPr>
        <p:spPr>
          <a:xfrm>
            <a:off x="4882896" y="3136392"/>
            <a:ext cx="2560320" cy="3474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Fenrir-v2.1</a:t>
            </a:r>
            <a:endParaRPr sz="1400" b="0" i="0" u="none" strike="noStrike" cap="none">
              <a:solidFill>
                <a:schemeClr val="dk1"/>
              </a:solidFill>
              <a:latin typeface="Calibri"/>
              <a:ea typeface="Calibri"/>
              <a:cs typeface="Calibri"/>
              <a:sym typeface="Calibri"/>
            </a:endParaRPr>
          </a:p>
        </p:txBody>
      </p:sp>
      <p:sp>
        <p:nvSpPr>
          <p:cNvPr id="144" name="Google Shape;144;p8"/>
          <p:cNvSpPr/>
          <p:nvPr/>
        </p:nvSpPr>
        <p:spPr>
          <a:xfrm>
            <a:off x="7589520" y="3136392"/>
            <a:ext cx="1097280" cy="34747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FFFFFF"/>
              </a:buClr>
              <a:buSzPts val="1100"/>
              <a:buFont typeface="Calibri"/>
              <a:buNone/>
            </a:pPr>
            <a:r>
              <a:rPr lang="en-US" sz="1100" b="0" i="0" u="none" strike="noStrike" cap="none">
                <a:solidFill>
                  <a:srgbClr val="FFFFFF"/>
                </a:solidFill>
                <a:latin typeface="Calibri"/>
                <a:ea typeface="Calibri"/>
                <a:cs typeface="Calibri"/>
                <a:sym typeface="Calibri"/>
              </a:rPr>
              <a:t>99.870 örnek</a:t>
            </a:r>
            <a:endParaRPr sz="1100" b="0" i="0" u="none" strike="noStrike" cap="none">
              <a:solidFill>
                <a:schemeClr val="dk1"/>
              </a:solidFill>
              <a:latin typeface="Calibri"/>
              <a:ea typeface="Calibri"/>
              <a:cs typeface="Calibri"/>
              <a:sym typeface="Calibri"/>
            </a:endParaRPr>
          </a:p>
        </p:txBody>
      </p:sp>
      <p:sp>
        <p:nvSpPr>
          <p:cNvPr id="145" name="Google Shape;145;p8"/>
          <p:cNvSpPr/>
          <p:nvPr/>
        </p:nvSpPr>
        <p:spPr>
          <a:xfrm>
            <a:off x="4882896" y="3639312"/>
            <a:ext cx="374904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C3AED"/>
              </a:buClr>
              <a:buSzPts val="1200"/>
              <a:buFont typeface="Calibri"/>
              <a:buNone/>
            </a:pPr>
            <a:r>
              <a:rPr lang="en-US" sz="1200" b="1" i="0" u="none" strike="noStrike" cap="none">
                <a:solidFill>
                  <a:srgbClr val="7C3AED"/>
                </a:solidFill>
                <a:latin typeface="Calibri"/>
                <a:ea typeface="Calibri"/>
                <a:cs typeface="Calibri"/>
                <a:sym typeface="Calibri"/>
              </a:rPr>
              <a:t>Genel Siber Güvenlik</a:t>
            </a:r>
            <a:endParaRPr sz="1200" b="0" i="0" u="none" strike="noStrike" cap="none">
              <a:solidFill>
                <a:schemeClr val="dk1"/>
              </a:solidFill>
              <a:latin typeface="Calibri"/>
              <a:ea typeface="Calibri"/>
              <a:cs typeface="Calibri"/>
              <a:sym typeface="Calibri"/>
            </a:endParaRPr>
          </a:p>
        </p:txBody>
      </p:sp>
      <p:sp>
        <p:nvSpPr>
          <p:cNvPr id="146" name="Google Shape;146;p8"/>
          <p:cNvSpPr/>
          <p:nvPr/>
        </p:nvSpPr>
        <p:spPr>
          <a:xfrm>
            <a:off x="4882896" y="3931920"/>
            <a:ext cx="374904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A5568"/>
              </a:buClr>
              <a:buSzPts val="1200"/>
              <a:buFont typeface="Calibri"/>
              <a:buNone/>
            </a:pPr>
            <a:r>
              <a:rPr lang="en-US" sz="1200" b="0" i="0" u="none" strike="noStrike" cap="none">
                <a:solidFill>
                  <a:srgbClr val="4A5568"/>
                </a:solidFill>
                <a:latin typeface="Calibri"/>
                <a:ea typeface="Calibri"/>
                <a:cs typeface="Calibri"/>
                <a:sym typeface="Calibri"/>
              </a:rPr>
              <a:t>Tehdit analizi, zafiyet tanımları ve saldırı senaryoları (ChatML formatı).</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1"/>
        <p:cNvGrpSpPr/>
        <p:nvPr/>
      </p:nvGrpSpPr>
      <p:grpSpPr>
        <a:xfrm>
          <a:off x="0" y="0"/>
          <a:ext cx="0" cy="0"/>
          <a:chOff x="0" y="0"/>
          <a:chExt cx="0" cy="0"/>
        </a:xfrm>
      </p:grpSpPr>
      <p:sp>
        <p:nvSpPr>
          <p:cNvPr id="152" name="Google Shape;152;p9"/>
          <p:cNvSpPr/>
          <p:nvPr/>
        </p:nvSpPr>
        <p:spPr>
          <a:xfrm>
            <a:off x="457200" y="201168"/>
            <a:ext cx="822960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A1628"/>
              </a:buClr>
              <a:buSzPts val="2800"/>
              <a:buFont typeface="Calibri"/>
              <a:buNone/>
            </a:pPr>
            <a:r>
              <a:rPr lang="en-US" sz="2800" b="1" i="0" u="none" strike="noStrike" cap="none">
                <a:solidFill>
                  <a:srgbClr val="0A1628"/>
                </a:solidFill>
                <a:latin typeface="Calibri"/>
                <a:ea typeface="Calibri"/>
                <a:cs typeface="Calibri"/>
                <a:sym typeface="Calibri"/>
              </a:rPr>
              <a:t>Yöntem: LoRA Fine-Tuning</a:t>
            </a:r>
            <a:endParaRPr sz="2800" b="0" i="0" u="none" strike="noStrike" cap="none">
              <a:solidFill>
                <a:schemeClr val="dk1"/>
              </a:solidFill>
              <a:latin typeface="Calibri"/>
              <a:ea typeface="Calibri"/>
              <a:cs typeface="Calibri"/>
              <a:sym typeface="Calibri"/>
            </a:endParaRPr>
          </a:p>
        </p:txBody>
      </p:sp>
      <p:sp>
        <p:nvSpPr>
          <p:cNvPr id="153" name="Google Shape;153;p9"/>
          <p:cNvSpPr/>
          <p:nvPr/>
        </p:nvSpPr>
        <p:spPr>
          <a:xfrm>
            <a:off x="457200" y="932688"/>
            <a:ext cx="8229600" cy="22860"/>
          </a:xfrm>
          <a:prstGeom prst="rect">
            <a:avLst/>
          </a:prstGeom>
          <a:solidFill>
            <a:srgbClr val="DBEA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9"/>
          <p:cNvSpPr/>
          <p:nvPr/>
        </p:nvSpPr>
        <p:spPr>
          <a:xfrm>
            <a:off x="365760" y="1051560"/>
            <a:ext cx="4206240" cy="3657600"/>
          </a:xfrm>
          <a:prstGeom prst="roundRect">
            <a:avLst>
              <a:gd name="adj" fmla="val 2500"/>
            </a:avLst>
          </a:prstGeom>
          <a:solidFill>
            <a:srgbClr val="F0F7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9"/>
          <p:cNvSpPr/>
          <p:nvPr/>
        </p:nvSpPr>
        <p:spPr>
          <a:xfrm>
            <a:off x="548640" y="1143000"/>
            <a:ext cx="3840480" cy="3474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A7EC2"/>
              </a:buClr>
              <a:buSzPts val="1400"/>
              <a:buFont typeface="Calibri"/>
              <a:buNone/>
            </a:pPr>
            <a:r>
              <a:rPr lang="en-US" sz="1400" b="1" i="0" u="none" strike="noStrike" cap="none">
                <a:solidFill>
                  <a:srgbClr val="0A7EC2"/>
                </a:solidFill>
                <a:latin typeface="Calibri"/>
                <a:ea typeface="Calibri"/>
                <a:cs typeface="Calibri"/>
                <a:sym typeface="Calibri"/>
              </a:rPr>
              <a:t>Low-Rank Adaptation (LoRA)</a:t>
            </a:r>
            <a:endParaRPr sz="1400" b="0" i="0" u="none" strike="noStrike" cap="none">
              <a:solidFill>
                <a:schemeClr val="dk1"/>
              </a:solidFill>
              <a:latin typeface="Calibri"/>
              <a:ea typeface="Calibri"/>
              <a:cs typeface="Calibri"/>
              <a:sym typeface="Calibri"/>
            </a:endParaRPr>
          </a:p>
        </p:txBody>
      </p:sp>
      <p:sp>
        <p:nvSpPr>
          <p:cNvPr id="156" name="Google Shape;156;p9"/>
          <p:cNvSpPr/>
          <p:nvPr/>
        </p:nvSpPr>
        <p:spPr>
          <a:xfrm>
            <a:off x="548640" y="1572768"/>
            <a:ext cx="3840480" cy="288036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1A2332"/>
              </a:buClr>
              <a:buSzPts val="1300"/>
              <a:buFont typeface="Calibri"/>
              <a:buChar char="•"/>
            </a:pPr>
            <a:r>
              <a:rPr lang="en-US" sz="1300" b="0" i="0" u="none" strike="noStrike" cap="none">
                <a:solidFill>
                  <a:srgbClr val="1A2332"/>
                </a:solidFill>
                <a:latin typeface="Calibri"/>
                <a:ea typeface="Calibri"/>
                <a:cs typeface="Calibri"/>
                <a:sym typeface="Calibri"/>
              </a:rPr>
              <a:t>Tüm ağırlıkları güncellemek yerine düşük dereceli matrisler eklenir</a:t>
            </a:r>
            <a:endParaRPr sz="1300" b="0" i="0" u="none" strike="noStrike" cap="none">
              <a:solidFill>
                <a:schemeClr val="dk1"/>
              </a:solidFill>
              <a:latin typeface="Calibri"/>
              <a:ea typeface="Calibri"/>
              <a:cs typeface="Calibri"/>
              <a:sym typeface="Calibri"/>
            </a:endParaRPr>
          </a:p>
          <a:p>
            <a:pPr marL="342900" marR="0" lvl="0" indent="-342900" algn="l" rtl="0">
              <a:spcBef>
                <a:spcPts val="800"/>
              </a:spcBef>
              <a:spcAft>
                <a:spcPts val="0"/>
              </a:spcAft>
              <a:buClr>
                <a:srgbClr val="1A2332"/>
              </a:buClr>
              <a:buSzPts val="1300"/>
              <a:buFont typeface="Calibri"/>
              <a:buChar char="•"/>
            </a:pPr>
            <a:r>
              <a:rPr lang="en-US" sz="1300" b="0" i="0" u="none" strike="noStrike" cap="none">
                <a:solidFill>
                  <a:srgbClr val="1A2332"/>
                </a:solidFill>
                <a:latin typeface="Calibri"/>
                <a:ea typeface="Calibri"/>
                <a:cs typeface="Calibri"/>
                <a:sym typeface="Calibri"/>
              </a:rPr>
              <a:t>W = W₀ + ΔW = W₀ + B·A  (rank r &lt;&lt; d)</a:t>
            </a:r>
            <a:endParaRPr sz="1300" b="0" i="0" u="none" strike="noStrike" cap="none">
              <a:solidFill>
                <a:schemeClr val="dk1"/>
              </a:solidFill>
              <a:latin typeface="Calibri"/>
              <a:ea typeface="Calibri"/>
              <a:cs typeface="Calibri"/>
              <a:sym typeface="Calibri"/>
            </a:endParaRPr>
          </a:p>
          <a:p>
            <a:pPr marL="342900" marR="0" lvl="0" indent="-342900" algn="l" rtl="0">
              <a:spcBef>
                <a:spcPts val="800"/>
              </a:spcBef>
              <a:spcAft>
                <a:spcPts val="0"/>
              </a:spcAft>
              <a:buClr>
                <a:srgbClr val="1A2332"/>
              </a:buClr>
              <a:buSzPts val="1300"/>
              <a:buFont typeface="Calibri"/>
              <a:buChar char="•"/>
            </a:pPr>
            <a:r>
              <a:rPr lang="en-US" sz="1300" b="0" i="0" u="none" strike="noStrike" cap="none">
                <a:solidFill>
                  <a:srgbClr val="1A2332"/>
                </a:solidFill>
                <a:latin typeface="Calibri"/>
                <a:ea typeface="Calibri"/>
                <a:cs typeface="Calibri"/>
                <a:sym typeface="Calibri"/>
              </a:rPr>
              <a:t>Eğitilebilir parametre sayısı dramatik biçimde azalır</a:t>
            </a:r>
            <a:endParaRPr sz="1300" b="0" i="0" u="none" strike="noStrike" cap="none">
              <a:solidFill>
                <a:schemeClr val="dk1"/>
              </a:solidFill>
              <a:latin typeface="Calibri"/>
              <a:ea typeface="Calibri"/>
              <a:cs typeface="Calibri"/>
              <a:sym typeface="Calibri"/>
            </a:endParaRPr>
          </a:p>
          <a:p>
            <a:pPr marL="342900" marR="0" lvl="0" indent="-342900" algn="l" rtl="0">
              <a:spcBef>
                <a:spcPts val="800"/>
              </a:spcBef>
              <a:spcAft>
                <a:spcPts val="0"/>
              </a:spcAft>
              <a:buClr>
                <a:srgbClr val="1A2332"/>
              </a:buClr>
              <a:buSzPts val="1300"/>
              <a:buFont typeface="Calibri"/>
              <a:buChar char="•"/>
            </a:pPr>
            <a:r>
              <a:rPr lang="en-US" sz="1300" b="0" i="0" u="none" strike="noStrike" cap="none">
                <a:solidFill>
                  <a:srgbClr val="1A2332"/>
                </a:solidFill>
                <a:latin typeface="Calibri"/>
                <a:ea typeface="Calibri"/>
                <a:cs typeface="Calibri"/>
                <a:sym typeface="Calibri"/>
              </a:rPr>
              <a:t>4-bit kuantizasyon ile VRAM kullanımı daha da düşer</a:t>
            </a:r>
            <a:endParaRPr sz="1300" b="0" i="0" u="none" strike="noStrike" cap="none">
              <a:solidFill>
                <a:schemeClr val="dk1"/>
              </a:solidFill>
              <a:latin typeface="Calibri"/>
              <a:ea typeface="Calibri"/>
              <a:cs typeface="Calibri"/>
              <a:sym typeface="Calibri"/>
            </a:endParaRPr>
          </a:p>
          <a:p>
            <a:pPr marL="342900" marR="0" lvl="0" indent="-342900" algn="l" rtl="0">
              <a:spcBef>
                <a:spcPts val="800"/>
              </a:spcBef>
              <a:spcAft>
                <a:spcPts val="0"/>
              </a:spcAft>
              <a:buClr>
                <a:srgbClr val="1A2332"/>
              </a:buClr>
              <a:buSzPts val="1300"/>
              <a:buFont typeface="Calibri"/>
              <a:buChar char="•"/>
            </a:pPr>
            <a:r>
              <a:rPr lang="en-US" sz="1300" b="0" i="0" u="none" strike="noStrike" cap="none">
                <a:solidFill>
                  <a:srgbClr val="1A2332"/>
                </a:solidFill>
                <a:latin typeface="Calibri"/>
                <a:ea typeface="Calibri"/>
                <a:cs typeface="Calibri"/>
                <a:sym typeface="Calibri"/>
              </a:rPr>
              <a:t>Unsloth çerçevesi ile eğitim hızlandırıldı</a:t>
            </a:r>
            <a:endParaRPr sz="1300" b="0" i="0" u="none" strike="noStrike" cap="none">
              <a:solidFill>
                <a:schemeClr val="dk1"/>
              </a:solidFill>
              <a:latin typeface="Calibri"/>
              <a:ea typeface="Calibri"/>
              <a:cs typeface="Calibri"/>
              <a:sym typeface="Calibri"/>
            </a:endParaRPr>
          </a:p>
          <a:p>
            <a:pPr marL="342900" marR="0" lvl="0" indent="-342900" algn="l" rtl="0">
              <a:spcBef>
                <a:spcPts val="800"/>
              </a:spcBef>
              <a:spcAft>
                <a:spcPts val="0"/>
              </a:spcAft>
              <a:buClr>
                <a:srgbClr val="1A2332"/>
              </a:buClr>
              <a:buSzPts val="1300"/>
              <a:buFont typeface="Calibri"/>
              <a:buChar char="•"/>
            </a:pPr>
            <a:r>
              <a:rPr lang="en-US" sz="1300" b="0" i="0" u="none" strike="noStrike" cap="none">
                <a:solidFill>
                  <a:srgbClr val="1A2332"/>
                </a:solidFill>
                <a:latin typeface="Calibri"/>
                <a:ea typeface="Calibri"/>
                <a:cs typeface="Calibri"/>
                <a:sym typeface="Calibri"/>
              </a:rPr>
              <a:t>Temel modelin genel yetenekleri korunur</a:t>
            </a:r>
            <a:endParaRPr sz="1300" b="0" i="0" u="none" strike="noStrike" cap="none">
              <a:solidFill>
                <a:schemeClr val="dk1"/>
              </a:solidFill>
              <a:latin typeface="Calibri"/>
              <a:ea typeface="Calibri"/>
              <a:cs typeface="Calibri"/>
              <a:sym typeface="Calibri"/>
            </a:endParaRPr>
          </a:p>
        </p:txBody>
      </p:sp>
      <p:pic>
        <p:nvPicPr>
          <p:cNvPr id="157" name="Google Shape;157;p9" descr="image.png"/>
          <p:cNvPicPr preferRelativeResize="0"/>
          <p:nvPr/>
        </p:nvPicPr>
        <p:blipFill rotWithShape="1">
          <a:blip r:embed="rId3">
            <a:alphaModFix/>
          </a:blip>
          <a:srcRect/>
          <a:stretch/>
        </p:blipFill>
        <p:spPr>
          <a:xfrm>
            <a:off x="5114883" y="966975"/>
            <a:ext cx="3637267" cy="40919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2"/>
        <p:cNvGrpSpPr/>
        <p:nvPr/>
      </p:nvGrpSpPr>
      <p:grpSpPr>
        <a:xfrm>
          <a:off x="0" y="0"/>
          <a:ext cx="0" cy="0"/>
          <a:chOff x="0" y="0"/>
          <a:chExt cx="0" cy="0"/>
        </a:xfrm>
      </p:grpSpPr>
      <p:sp>
        <p:nvSpPr>
          <p:cNvPr id="163" name="Google Shape;163;p10"/>
          <p:cNvSpPr/>
          <p:nvPr/>
        </p:nvSpPr>
        <p:spPr>
          <a:xfrm>
            <a:off x="457200" y="200025"/>
            <a:ext cx="8229600" cy="685800"/>
          </a:xfrm>
          <a:prstGeom prst="rect">
            <a:avLst/>
          </a:prstGeom>
          <a:solidFill>
            <a:srgbClr val="000000">
              <a:alpha val="0"/>
            </a:srgbClr>
          </a:solidFill>
          <a:ln>
            <a:noFill/>
          </a:ln>
        </p:spPr>
        <p:txBody>
          <a:bodyPr spcFirstLastPara="1" wrap="square" lIns="95250" tIns="0" rIns="0" bIns="0" anchor="ctr" anchorCtr="0">
            <a:noAutofit/>
          </a:bodyPr>
          <a:lstStyle/>
          <a:p>
            <a:pPr marL="0" lvl="0" indent="0" algn="l" rtl="0">
              <a:spcBef>
                <a:spcPts val="0"/>
              </a:spcBef>
              <a:spcAft>
                <a:spcPts val="0"/>
              </a:spcAft>
              <a:buNone/>
            </a:pPr>
            <a:r>
              <a:rPr lang="en-US" sz="3200" b="1">
                <a:solidFill>
                  <a:srgbClr val="0A1628"/>
                </a:solidFill>
                <a:latin typeface="Calibri"/>
                <a:ea typeface="Calibri"/>
                <a:cs typeface="Calibri"/>
                <a:sym typeface="Calibri"/>
              </a:rPr>
              <a:t>Eğitim Hiper Parametreleri</a:t>
            </a:r>
            <a:endParaRPr sz="3200" b="1">
              <a:solidFill>
                <a:srgbClr val="0A1628"/>
              </a:solidFill>
              <a:latin typeface="Calibri"/>
              <a:ea typeface="Calibri"/>
              <a:cs typeface="Calibri"/>
              <a:sym typeface="Calibri"/>
            </a:endParaRPr>
          </a:p>
        </p:txBody>
      </p:sp>
      <p:sp>
        <p:nvSpPr>
          <p:cNvPr id="164" name="Google Shape;164;p10"/>
          <p:cNvSpPr/>
          <p:nvPr/>
        </p:nvSpPr>
        <p:spPr>
          <a:xfrm>
            <a:off x="457200" y="933450"/>
            <a:ext cx="8229600" cy="23700"/>
          </a:xfrm>
          <a:prstGeom prst="rect">
            <a:avLst/>
          </a:prstGeom>
          <a:solidFill>
            <a:srgbClr val="DBEA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65" name="Google Shape;165;p10"/>
          <p:cNvGrpSpPr/>
          <p:nvPr/>
        </p:nvGrpSpPr>
        <p:grpSpPr>
          <a:xfrm>
            <a:off x="457200" y="1143000"/>
            <a:ext cx="8229750" cy="2571750"/>
            <a:chOff x="457200" y="1143000"/>
            <a:chExt cx="8229750" cy="2571750"/>
          </a:xfrm>
        </p:grpSpPr>
        <p:sp>
          <p:nvSpPr>
            <p:cNvPr id="166" name="Google Shape;166;p10"/>
            <p:cNvSpPr/>
            <p:nvPr/>
          </p:nvSpPr>
          <p:spPr>
            <a:xfrm>
              <a:off x="457200" y="1143000"/>
              <a:ext cx="3905400" cy="762000"/>
            </a:xfrm>
            <a:prstGeom prst="roundRect">
              <a:avLst>
                <a:gd name="adj" fmla="val 12500"/>
              </a:avLst>
            </a:prstGeom>
            <a:solidFill>
              <a:srgbClr val="EEF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7" name="Google Shape;167;p10"/>
            <p:cNvSpPr txBox="1"/>
            <p:nvPr/>
          </p:nvSpPr>
          <p:spPr>
            <a:xfrm>
              <a:off x="552450" y="1143000"/>
              <a:ext cx="37149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0A7EC2"/>
                  </a:solidFill>
                  <a:latin typeface="Calibri"/>
                  <a:ea typeface="Calibri"/>
                  <a:cs typeface="Calibri"/>
                  <a:sym typeface="Calibri"/>
                </a:rPr>
                <a:t>Temel Model</a:t>
              </a:r>
              <a:endParaRPr sz="1100" b="1">
                <a:solidFill>
                  <a:srgbClr val="0A7EC2"/>
                </a:solidFill>
                <a:latin typeface="Calibri"/>
                <a:ea typeface="Calibri"/>
                <a:cs typeface="Calibri"/>
                <a:sym typeface="Calibri"/>
              </a:endParaRPr>
            </a:p>
            <a:p>
              <a:pPr marL="0" lvl="0" indent="0" algn="l" rtl="0">
                <a:spcBef>
                  <a:spcPts val="300"/>
                </a:spcBef>
                <a:spcAft>
                  <a:spcPts val="0"/>
                </a:spcAft>
                <a:buNone/>
              </a:pPr>
              <a:r>
                <a:rPr lang="en-US" sz="1300" b="0">
                  <a:solidFill>
                    <a:srgbClr val="1F1F1F"/>
                  </a:solidFill>
                  <a:latin typeface="Calibri"/>
                  <a:ea typeface="Calibri"/>
                  <a:cs typeface="Calibri"/>
                  <a:sym typeface="Calibri"/>
                </a:rPr>
                <a:t>Qwen 2.5 Coder 7B Instruct</a:t>
              </a:r>
              <a:endParaRPr sz="1300" b="0">
                <a:solidFill>
                  <a:srgbClr val="1F1F1F"/>
                </a:solidFill>
                <a:latin typeface="Calibri"/>
                <a:ea typeface="Calibri"/>
                <a:cs typeface="Calibri"/>
                <a:sym typeface="Calibri"/>
              </a:endParaRPr>
            </a:p>
          </p:txBody>
        </p:sp>
        <p:sp>
          <p:nvSpPr>
            <p:cNvPr id="168" name="Google Shape;168;p10"/>
            <p:cNvSpPr/>
            <p:nvPr/>
          </p:nvSpPr>
          <p:spPr>
            <a:xfrm>
              <a:off x="4781550" y="1143000"/>
              <a:ext cx="3905400" cy="762000"/>
            </a:xfrm>
            <a:prstGeom prst="roundRect">
              <a:avLst>
                <a:gd name="adj" fmla="val 12500"/>
              </a:avLst>
            </a:prstGeom>
            <a:solidFill>
              <a:srgbClr val="EEF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9" name="Google Shape;169;p10"/>
            <p:cNvSpPr txBox="1"/>
            <p:nvPr/>
          </p:nvSpPr>
          <p:spPr>
            <a:xfrm>
              <a:off x="4876800" y="1143000"/>
              <a:ext cx="37149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0A7EC2"/>
                  </a:solidFill>
                  <a:latin typeface="Calibri"/>
                  <a:ea typeface="Calibri"/>
                  <a:cs typeface="Calibri"/>
                  <a:sym typeface="Calibri"/>
                </a:rPr>
                <a:t>Optimizasyon</a:t>
              </a:r>
              <a:endParaRPr sz="1100" b="1">
                <a:solidFill>
                  <a:srgbClr val="0A7EC2"/>
                </a:solidFill>
                <a:latin typeface="Calibri"/>
                <a:ea typeface="Calibri"/>
                <a:cs typeface="Calibri"/>
                <a:sym typeface="Calibri"/>
              </a:endParaRPr>
            </a:p>
            <a:p>
              <a:pPr marL="0" lvl="0" indent="0" algn="l" rtl="0">
                <a:spcBef>
                  <a:spcPts val="300"/>
                </a:spcBef>
                <a:spcAft>
                  <a:spcPts val="0"/>
                </a:spcAft>
                <a:buNone/>
              </a:pPr>
              <a:r>
                <a:rPr lang="en-US" sz="1300" b="0">
                  <a:solidFill>
                    <a:srgbClr val="1F1F1F"/>
                  </a:solidFill>
                  <a:latin typeface="Calibri"/>
                  <a:ea typeface="Calibri"/>
                  <a:cs typeface="Calibri"/>
                  <a:sym typeface="Calibri"/>
                </a:rPr>
                <a:t>AdamW 8-bit</a:t>
              </a:r>
              <a:endParaRPr sz="1300" b="0">
                <a:solidFill>
                  <a:srgbClr val="1F1F1F"/>
                </a:solidFill>
                <a:latin typeface="Calibri"/>
                <a:ea typeface="Calibri"/>
                <a:cs typeface="Calibri"/>
                <a:sym typeface="Calibri"/>
              </a:endParaRPr>
            </a:p>
          </p:txBody>
        </p:sp>
        <p:sp>
          <p:nvSpPr>
            <p:cNvPr id="170" name="Google Shape;170;p10"/>
            <p:cNvSpPr/>
            <p:nvPr/>
          </p:nvSpPr>
          <p:spPr>
            <a:xfrm>
              <a:off x="457200" y="2047875"/>
              <a:ext cx="3905400" cy="762000"/>
            </a:xfrm>
            <a:prstGeom prst="roundRect">
              <a:avLst>
                <a:gd name="adj" fmla="val 12500"/>
              </a:avLst>
            </a:prstGeom>
            <a:solidFill>
              <a:srgbClr val="EEF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1" name="Google Shape;171;p10"/>
            <p:cNvSpPr txBox="1"/>
            <p:nvPr/>
          </p:nvSpPr>
          <p:spPr>
            <a:xfrm>
              <a:off x="552450" y="2047875"/>
              <a:ext cx="37149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0A7EC2"/>
                  </a:solidFill>
                  <a:latin typeface="Calibri"/>
                  <a:ea typeface="Calibri"/>
                  <a:cs typeface="Calibri"/>
                  <a:sym typeface="Calibri"/>
                </a:rPr>
                <a:t>LoRA R / Alpha</a:t>
              </a:r>
              <a:endParaRPr sz="1100" b="1">
                <a:solidFill>
                  <a:srgbClr val="0A7EC2"/>
                </a:solidFill>
                <a:latin typeface="Calibri"/>
                <a:ea typeface="Calibri"/>
                <a:cs typeface="Calibri"/>
                <a:sym typeface="Calibri"/>
              </a:endParaRPr>
            </a:p>
            <a:p>
              <a:pPr marL="0" lvl="0" indent="0" algn="l" rtl="0">
                <a:spcBef>
                  <a:spcPts val="300"/>
                </a:spcBef>
                <a:spcAft>
                  <a:spcPts val="0"/>
                </a:spcAft>
                <a:buNone/>
              </a:pPr>
              <a:r>
                <a:rPr lang="en-US" sz="1300" b="0">
                  <a:solidFill>
                    <a:srgbClr val="1F1F1F"/>
                  </a:solidFill>
                  <a:latin typeface="Calibri"/>
                  <a:ea typeface="Calibri"/>
                  <a:cs typeface="Calibri"/>
                  <a:sym typeface="Calibri"/>
                </a:rPr>
                <a:t>16 / 32</a:t>
              </a:r>
              <a:endParaRPr sz="1300" b="0">
                <a:solidFill>
                  <a:srgbClr val="1F1F1F"/>
                </a:solidFill>
                <a:latin typeface="Calibri"/>
                <a:ea typeface="Calibri"/>
                <a:cs typeface="Calibri"/>
                <a:sym typeface="Calibri"/>
              </a:endParaRPr>
            </a:p>
          </p:txBody>
        </p:sp>
        <p:sp>
          <p:nvSpPr>
            <p:cNvPr id="172" name="Google Shape;172;p10"/>
            <p:cNvSpPr/>
            <p:nvPr/>
          </p:nvSpPr>
          <p:spPr>
            <a:xfrm>
              <a:off x="4781550" y="2047875"/>
              <a:ext cx="3905400" cy="762000"/>
            </a:xfrm>
            <a:prstGeom prst="roundRect">
              <a:avLst>
                <a:gd name="adj" fmla="val 12500"/>
              </a:avLst>
            </a:prstGeom>
            <a:solidFill>
              <a:srgbClr val="EEF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3" name="Google Shape;173;p10"/>
            <p:cNvSpPr txBox="1"/>
            <p:nvPr/>
          </p:nvSpPr>
          <p:spPr>
            <a:xfrm>
              <a:off x="4876800" y="2047875"/>
              <a:ext cx="37149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0A7EC2"/>
                  </a:solidFill>
                  <a:latin typeface="Calibri"/>
                  <a:ea typeface="Calibri"/>
                  <a:cs typeface="Calibri"/>
                  <a:sym typeface="Calibri"/>
                </a:rPr>
                <a:t>Öğrenme Oranı</a:t>
              </a:r>
              <a:endParaRPr sz="1100" b="1">
                <a:solidFill>
                  <a:srgbClr val="0A7EC2"/>
                </a:solidFill>
                <a:latin typeface="Calibri"/>
                <a:ea typeface="Calibri"/>
                <a:cs typeface="Calibri"/>
                <a:sym typeface="Calibri"/>
              </a:endParaRPr>
            </a:p>
            <a:p>
              <a:pPr marL="0" lvl="0" indent="0" algn="l" rtl="0">
                <a:spcBef>
                  <a:spcPts val="300"/>
                </a:spcBef>
                <a:spcAft>
                  <a:spcPts val="0"/>
                </a:spcAft>
                <a:buNone/>
              </a:pPr>
              <a:r>
                <a:rPr lang="en-US" sz="1300" b="0">
                  <a:solidFill>
                    <a:srgbClr val="1F1F1F"/>
                  </a:solidFill>
                  <a:latin typeface="Calibri"/>
                  <a:ea typeface="Calibri"/>
                  <a:cs typeface="Calibri"/>
                  <a:sym typeface="Calibri"/>
                </a:rPr>
                <a:t>2e-5 (Linear Scheduler)</a:t>
              </a:r>
              <a:endParaRPr sz="1300" b="0">
                <a:solidFill>
                  <a:srgbClr val="1F1F1F"/>
                </a:solidFill>
                <a:latin typeface="Calibri"/>
                <a:ea typeface="Calibri"/>
                <a:cs typeface="Calibri"/>
                <a:sym typeface="Calibri"/>
              </a:endParaRPr>
            </a:p>
          </p:txBody>
        </p:sp>
        <p:sp>
          <p:nvSpPr>
            <p:cNvPr id="174" name="Google Shape;174;p10"/>
            <p:cNvSpPr/>
            <p:nvPr/>
          </p:nvSpPr>
          <p:spPr>
            <a:xfrm>
              <a:off x="457200" y="2952750"/>
              <a:ext cx="3905400" cy="762000"/>
            </a:xfrm>
            <a:prstGeom prst="roundRect">
              <a:avLst>
                <a:gd name="adj" fmla="val 12500"/>
              </a:avLst>
            </a:prstGeom>
            <a:solidFill>
              <a:srgbClr val="EEF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5" name="Google Shape;175;p10"/>
            <p:cNvSpPr txBox="1"/>
            <p:nvPr/>
          </p:nvSpPr>
          <p:spPr>
            <a:xfrm>
              <a:off x="552450" y="2952750"/>
              <a:ext cx="37149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0A7EC2"/>
                  </a:solidFill>
                  <a:latin typeface="Calibri"/>
                  <a:ea typeface="Calibri"/>
                  <a:cs typeface="Calibri"/>
                  <a:sym typeface="Calibri"/>
                </a:rPr>
                <a:t>Batch Size</a:t>
              </a:r>
              <a:endParaRPr sz="1100" b="1">
                <a:solidFill>
                  <a:srgbClr val="0A7EC2"/>
                </a:solidFill>
                <a:latin typeface="Calibri"/>
                <a:ea typeface="Calibri"/>
                <a:cs typeface="Calibri"/>
                <a:sym typeface="Calibri"/>
              </a:endParaRPr>
            </a:p>
            <a:p>
              <a:pPr marL="0" lvl="0" indent="0" algn="l" rtl="0">
                <a:spcBef>
                  <a:spcPts val="300"/>
                </a:spcBef>
                <a:spcAft>
                  <a:spcPts val="0"/>
                </a:spcAft>
                <a:buNone/>
              </a:pPr>
              <a:r>
                <a:rPr lang="en-US" sz="1300" b="0">
                  <a:solidFill>
                    <a:srgbClr val="1F1F1F"/>
                  </a:solidFill>
                  <a:latin typeface="Calibri"/>
                  <a:ea typeface="Calibri"/>
                  <a:cs typeface="Calibri"/>
                  <a:sym typeface="Calibri"/>
                </a:rPr>
                <a:t>64 (Global)</a:t>
              </a:r>
              <a:endParaRPr sz="1300" b="0">
                <a:solidFill>
                  <a:srgbClr val="1F1F1F"/>
                </a:solidFill>
                <a:latin typeface="Calibri"/>
                <a:ea typeface="Calibri"/>
                <a:cs typeface="Calibri"/>
                <a:sym typeface="Calibri"/>
              </a:endParaRPr>
            </a:p>
          </p:txBody>
        </p:sp>
        <p:sp>
          <p:nvSpPr>
            <p:cNvPr id="176" name="Google Shape;176;p10"/>
            <p:cNvSpPr/>
            <p:nvPr/>
          </p:nvSpPr>
          <p:spPr>
            <a:xfrm>
              <a:off x="4781550" y="2952750"/>
              <a:ext cx="3905400" cy="762000"/>
            </a:xfrm>
            <a:prstGeom prst="roundRect">
              <a:avLst>
                <a:gd name="adj" fmla="val 12500"/>
              </a:avLst>
            </a:prstGeom>
            <a:solidFill>
              <a:srgbClr val="EEF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7" name="Google Shape;177;p10"/>
            <p:cNvSpPr txBox="1"/>
            <p:nvPr/>
          </p:nvSpPr>
          <p:spPr>
            <a:xfrm>
              <a:off x="4876800" y="2952750"/>
              <a:ext cx="37149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0A7EC2"/>
                  </a:solidFill>
                  <a:latin typeface="Calibri"/>
                  <a:ea typeface="Calibri"/>
                  <a:cs typeface="Calibri"/>
                  <a:sym typeface="Calibri"/>
                </a:rPr>
                <a:t>Epoch</a:t>
              </a:r>
              <a:endParaRPr sz="1100" b="1">
                <a:solidFill>
                  <a:srgbClr val="0A7EC2"/>
                </a:solidFill>
                <a:latin typeface="Calibri"/>
                <a:ea typeface="Calibri"/>
                <a:cs typeface="Calibri"/>
                <a:sym typeface="Calibri"/>
              </a:endParaRPr>
            </a:p>
            <a:p>
              <a:pPr marL="0" lvl="0" indent="0" algn="l" rtl="0">
                <a:spcBef>
                  <a:spcPts val="300"/>
                </a:spcBef>
                <a:spcAft>
                  <a:spcPts val="0"/>
                </a:spcAft>
                <a:buNone/>
              </a:pPr>
              <a:r>
                <a:rPr lang="en-US" sz="1300" b="0">
                  <a:solidFill>
                    <a:srgbClr val="1F1F1F"/>
                  </a:solidFill>
                  <a:latin typeface="Calibri"/>
                  <a:ea typeface="Calibri"/>
                  <a:cs typeface="Calibri"/>
                  <a:sym typeface="Calibri"/>
                </a:rPr>
                <a:t>1</a:t>
              </a:r>
              <a:endParaRPr sz="1300" b="0">
                <a:solidFill>
                  <a:srgbClr val="1F1F1F"/>
                </a:solidFill>
                <a:latin typeface="Calibri"/>
                <a:ea typeface="Calibri"/>
                <a:cs typeface="Calibri"/>
                <a:sym typeface="Calibri"/>
              </a:endParaRPr>
            </a:p>
          </p:txBody>
        </p:sp>
      </p:grpSp>
      <p:sp>
        <p:nvSpPr>
          <p:cNvPr id="178" name="Google Shape;178;p10"/>
          <p:cNvSpPr/>
          <p:nvPr/>
        </p:nvSpPr>
        <p:spPr>
          <a:xfrm>
            <a:off x="457200" y="4048125"/>
            <a:ext cx="8229600" cy="809700"/>
          </a:xfrm>
          <a:prstGeom prst="roundRect">
            <a:avLst>
              <a:gd name="adj" fmla="val 11764"/>
            </a:avLst>
          </a:prstGeom>
          <a:solidFill>
            <a:srgbClr val="F0F7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79" name="Google Shape;179;p10"/>
          <p:cNvGrpSpPr/>
          <p:nvPr/>
        </p:nvGrpSpPr>
        <p:grpSpPr>
          <a:xfrm>
            <a:off x="1095375" y="4095750"/>
            <a:ext cx="7429500" cy="714450"/>
            <a:chOff x="1095375" y="4095750"/>
            <a:chExt cx="7429500" cy="714450"/>
          </a:xfrm>
        </p:grpSpPr>
        <p:sp>
          <p:nvSpPr>
            <p:cNvPr id="181" name="Google Shape;181;p10"/>
            <p:cNvSpPr txBox="1"/>
            <p:nvPr/>
          </p:nvSpPr>
          <p:spPr>
            <a:xfrm>
              <a:off x="1095375" y="4095750"/>
              <a:ext cx="7429500" cy="285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300" b="1">
                  <a:solidFill>
                    <a:srgbClr val="0A7EC2"/>
                  </a:solidFill>
                  <a:latin typeface="Calibri"/>
                  <a:ea typeface="Calibri"/>
                  <a:cs typeface="Calibri"/>
                  <a:sym typeface="Calibri"/>
                </a:rPr>
                <a:t>Teknik Altyapı</a:t>
              </a:r>
              <a:endParaRPr sz="1300" b="1">
                <a:solidFill>
                  <a:srgbClr val="0A7EC2"/>
                </a:solidFill>
                <a:latin typeface="Calibri"/>
                <a:ea typeface="Calibri"/>
                <a:cs typeface="Calibri"/>
                <a:sym typeface="Calibri"/>
              </a:endParaRPr>
            </a:p>
          </p:txBody>
        </p:sp>
        <p:sp>
          <p:nvSpPr>
            <p:cNvPr id="182" name="Google Shape;182;p10"/>
            <p:cNvSpPr txBox="1"/>
            <p:nvPr/>
          </p:nvSpPr>
          <p:spPr>
            <a:xfrm>
              <a:off x="1095375" y="4381500"/>
              <a:ext cx="7429500" cy="4287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100" b="0">
                  <a:solidFill>
                    <a:srgbClr val="4A5568"/>
                  </a:solidFill>
                  <a:latin typeface="Calibri"/>
                  <a:ea typeface="Calibri"/>
                  <a:cs typeface="Calibri"/>
                  <a:sym typeface="Calibri"/>
                </a:rPr>
                <a:t>Eğitim süreci Google Colab Pro / NVIDIA G4 GPU ortamında gerçekleştirilmiştir.</a:t>
              </a:r>
              <a:endParaRPr sz="1100" b="0">
                <a:solidFill>
                  <a:srgbClr val="4A5568"/>
                </a:solidFill>
                <a:latin typeface="Calibri"/>
                <a:ea typeface="Calibri"/>
                <a:cs typeface="Calibri"/>
                <a:sym typeface="Calibri"/>
              </a:endParaRPr>
            </a:p>
          </p:txBody>
        </p:sp>
      </p:grpSp>
      <p:pic>
        <p:nvPicPr>
          <p:cNvPr id="2" name="Resim 1">
            <a:extLst>
              <a:ext uri="{FF2B5EF4-FFF2-40B4-BE49-F238E27FC236}">
                <a16:creationId xmlns:a16="http://schemas.microsoft.com/office/drawing/2014/main" id="{5C49D19A-6C78-6E37-A491-868328B5912B}"/>
              </a:ext>
            </a:extLst>
          </p:cNvPr>
          <p:cNvPicPr>
            <a:picLocks noChangeAspect="1"/>
          </p:cNvPicPr>
          <p:nvPr/>
        </p:nvPicPr>
        <p:blipFill>
          <a:blip r:embed="rId4"/>
          <a:stretch>
            <a:fillRect/>
          </a:stretch>
        </p:blipFill>
        <p:spPr>
          <a:xfrm>
            <a:off x="574503" y="4113637"/>
            <a:ext cx="408215" cy="381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7"/>
        <p:cNvGrpSpPr/>
        <p:nvPr/>
      </p:nvGrpSpPr>
      <p:grpSpPr>
        <a:xfrm>
          <a:off x="0" y="0"/>
          <a:ext cx="0" cy="0"/>
          <a:chOff x="0" y="0"/>
          <a:chExt cx="0" cy="0"/>
        </a:xfrm>
      </p:grpSpPr>
      <p:sp>
        <p:nvSpPr>
          <p:cNvPr id="188" name="Google Shape;188;p11"/>
          <p:cNvSpPr/>
          <p:nvPr/>
        </p:nvSpPr>
        <p:spPr>
          <a:xfrm>
            <a:off x="457200" y="201168"/>
            <a:ext cx="822960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A1628"/>
              </a:buClr>
              <a:buSzPts val="2800"/>
              <a:buFont typeface="Calibri"/>
              <a:buNone/>
            </a:pPr>
            <a:r>
              <a:rPr lang="en-US" sz="2800" b="1" i="0" u="none" strike="noStrike" cap="none">
                <a:solidFill>
                  <a:srgbClr val="0A1628"/>
                </a:solidFill>
                <a:latin typeface="Calibri"/>
                <a:ea typeface="Calibri"/>
                <a:cs typeface="Calibri"/>
                <a:sym typeface="Calibri"/>
              </a:rPr>
              <a:t>Yöntem: LoRA Fine-Tuning</a:t>
            </a:r>
            <a:endParaRPr sz="2800" b="0" i="0" u="none" strike="noStrike" cap="none">
              <a:solidFill>
                <a:schemeClr val="dk1"/>
              </a:solidFill>
              <a:latin typeface="Calibri"/>
              <a:ea typeface="Calibri"/>
              <a:cs typeface="Calibri"/>
              <a:sym typeface="Calibri"/>
            </a:endParaRPr>
          </a:p>
        </p:txBody>
      </p:sp>
      <p:sp>
        <p:nvSpPr>
          <p:cNvPr id="189" name="Google Shape;189;p11"/>
          <p:cNvSpPr/>
          <p:nvPr/>
        </p:nvSpPr>
        <p:spPr>
          <a:xfrm>
            <a:off x="457200" y="932688"/>
            <a:ext cx="8229600" cy="22800"/>
          </a:xfrm>
          <a:prstGeom prst="rect">
            <a:avLst/>
          </a:prstGeom>
          <a:solidFill>
            <a:srgbClr val="DBEA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1"/>
          <p:cNvSpPr/>
          <p:nvPr/>
        </p:nvSpPr>
        <p:spPr>
          <a:xfrm>
            <a:off x="457195" y="1085535"/>
            <a:ext cx="3931800" cy="2377500"/>
          </a:xfrm>
          <a:prstGeom prst="roundRect">
            <a:avLst>
              <a:gd name="adj" fmla="val 3846"/>
            </a:avLst>
          </a:prstGeom>
          <a:solidFill>
            <a:srgbClr val="FFFFFF"/>
          </a:solidFill>
          <a:ln>
            <a:noFill/>
          </a:ln>
          <a:effectLst>
            <a:outerShdw blurRad="127000" dist="38100" dir="27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a:off x="640075" y="1176975"/>
            <a:ext cx="3566100" cy="320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A7EC2"/>
              </a:buClr>
              <a:buSzPts val="1300"/>
              <a:buFont typeface="Calibri"/>
              <a:buNone/>
            </a:pPr>
            <a:r>
              <a:rPr lang="en-US" sz="1300" b="1" i="0" u="none" strike="noStrike" cap="none">
                <a:solidFill>
                  <a:srgbClr val="0A7EC2"/>
                </a:solidFill>
                <a:latin typeface="Calibri"/>
                <a:ea typeface="Calibri"/>
                <a:cs typeface="Calibri"/>
                <a:sym typeface="Calibri"/>
              </a:rPr>
              <a:t>LoRA Hiperparametreleri</a:t>
            </a:r>
            <a:endParaRPr sz="1300" b="0" i="0" u="none" strike="noStrike" cap="none">
              <a:solidFill>
                <a:schemeClr val="dk1"/>
              </a:solidFill>
              <a:latin typeface="Calibri"/>
              <a:ea typeface="Calibri"/>
              <a:cs typeface="Calibri"/>
              <a:sym typeface="Calibri"/>
            </a:endParaRPr>
          </a:p>
        </p:txBody>
      </p:sp>
      <p:graphicFrame>
        <p:nvGraphicFramePr>
          <p:cNvPr id="192" name="Google Shape;192;p11"/>
          <p:cNvGraphicFramePr/>
          <p:nvPr/>
        </p:nvGraphicFramePr>
        <p:xfrm>
          <a:off x="457195" y="1474810"/>
          <a:ext cx="3931925" cy="2084850"/>
        </p:xfrm>
        <a:graphic>
          <a:graphicData uri="http://schemas.openxmlformats.org/drawingml/2006/table">
            <a:tbl>
              <a:tblPr>
                <a:noFill/>
                <a:tableStyleId>{B596FA54-F9A0-43AD-BEA4-D8A777AA7D07}</a:tableStyleId>
              </a:tblPr>
              <a:tblGrid>
                <a:gridCol w="2560325">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347475">
                <a:tc>
                  <a:txBody>
                    <a:bodyPr/>
                    <a:lstStyle/>
                    <a:p>
                      <a:pPr marL="0" marR="0" lvl="0" indent="0" algn="l" rtl="0">
                        <a:spcBef>
                          <a:spcPts val="0"/>
                        </a:spcBef>
                        <a:spcAft>
                          <a:spcPts val="0"/>
                        </a:spcAft>
                        <a:buClr>
                          <a:srgbClr val="FFFFFF"/>
                        </a:buClr>
                        <a:buSzPts val="1100"/>
                        <a:buFont typeface="Calibri"/>
                        <a:buNone/>
                      </a:pPr>
                      <a:r>
                        <a:rPr lang="en-US" sz="1100" b="1" u="none" strike="noStrike" cap="none">
                          <a:solidFill>
                            <a:srgbClr val="FFFFFF"/>
                          </a:solidFill>
                          <a:latin typeface="Calibri"/>
                          <a:ea typeface="Calibri"/>
                          <a:cs typeface="Calibri"/>
                          <a:sym typeface="Calibri"/>
                        </a:rPr>
                        <a:t>Parametre</a:t>
                      </a:r>
                      <a:endParaRPr sz="11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0A7EC2"/>
                    </a:solidFill>
                  </a:tcPr>
                </a:tc>
                <a:tc>
                  <a:txBody>
                    <a:bodyPr/>
                    <a:lstStyle/>
                    <a:p>
                      <a:pPr marL="0" marR="0" lvl="0" indent="0" algn="ctr" rtl="0">
                        <a:spcBef>
                          <a:spcPts val="0"/>
                        </a:spcBef>
                        <a:spcAft>
                          <a:spcPts val="0"/>
                        </a:spcAft>
                        <a:buClr>
                          <a:srgbClr val="FFFFFF"/>
                        </a:buClr>
                        <a:buSzPts val="1100"/>
                        <a:buFont typeface="Calibri"/>
                        <a:buNone/>
                      </a:pPr>
                      <a:r>
                        <a:rPr lang="en-US" sz="1100" b="1" u="none" strike="noStrike" cap="none">
                          <a:solidFill>
                            <a:srgbClr val="FFFFFF"/>
                          </a:solidFill>
                          <a:latin typeface="Calibri"/>
                          <a:ea typeface="Calibri"/>
                          <a:cs typeface="Calibri"/>
                          <a:sym typeface="Calibri"/>
                        </a:rPr>
                        <a:t>Değer</a:t>
                      </a:r>
                      <a:endParaRPr sz="11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0A7EC2"/>
                    </a:solidFill>
                  </a:tcPr>
                </a:tc>
                <a:extLst>
                  <a:ext uri="{0D108BD9-81ED-4DB2-BD59-A6C34878D82A}">
                    <a16:rowId xmlns:a16="http://schemas.microsoft.com/office/drawing/2014/main" val="10000"/>
                  </a:ext>
                </a:extLst>
              </a:tr>
              <a:tr h="347475">
                <a:tc>
                  <a:txBody>
                    <a:bodyPr/>
                    <a:lstStyle/>
                    <a:p>
                      <a:pPr marL="0" marR="0" lvl="0" indent="0" algn="l" rtl="0">
                        <a:spcBef>
                          <a:spcPts val="0"/>
                        </a:spcBef>
                        <a:spcAft>
                          <a:spcPts val="0"/>
                        </a:spcAft>
                        <a:buClr>
                          <a:srgbClr val="1A2332"/>
                        </a:buClr>
                        <a:buSzPts val="1100"/>
                        <a:buFont typeface="Calibri"/>
                        <a:buNone/>
                      </a:pPr>
                      <a:r>
                        <a:rPr lang="en-US" sz="1100" u="none" strike="noStrike" cap="none">
                          <a:solidFill>
                            <a:srgbClr val="1A2332"/>
                          </a:solidFill>
                          <a:latin typeface="Calibri"/>
                          <a:ea typeface="Calibri"/>
                          <a:cs typeface="Calibri"/>
                          <a:sym typeface="Calibri"/>
                        </a:rPr>
                        <a:t>LoRA Mertebesi (r)</a:t>
                      </a:r>
                      <a:endParaRPr sz="11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A7EC2"/>
                        </a:buClr>
                        <a:buSzPts val="1100"/>
                        <a:buFont typeface="Calibri"/>
                        <a:buNone/>
                      </a:pPr>
                      <a:r>
                        <a:rPr lang="en-US" sz="1100" u="none" strike="noStrike" cap="none">
                          <a:solidFill>
                            <a:srgbClr val="0A7EC2"/>
                          </a:solidFill>
                          <a:latin typeface="Calibri"/>
                          <a:ea typeface="Calibri"/>
                          <a:cs typeface="Calibri"/>
                          <a:sym typeface="Calibri"/>
                        </a:rPr>
                        <a:t>16</a:t>
                      </a:r>
                      <a:endParaRPr sz="11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47475">
                <a:tc>
                  <a:txBody>
                    <a:bodyPr/>
                    <a:lstStyle/>
                    <a:p>
                      <a:pPr marL="0" marR="0" lvl="0" indent="0" algn="l" rtl="0">
                        <a:spcBef>
                          <a:spcPts val="0"/>
                        </a:spcBef>
                        <a:spcAft>
                          <a:spcPts val="0"/>
                        </a:spcAft>
                        <a:buClr>
                          <a:srgbClr val="1A2332"/>
                        </a:buClr>
                        <a:buSzPts val="1100"/>
                        <a:buFont typeface="Calibri"/>
                        <a:buNone/>
                      </a:pPr>
                      <a:r>
                        <a:rPr lang="en-US" sz="1100" u="none" strike="noStrike" cap="none">
                          <a:solidFill>
                            <a:srgbClr val="1A2332"/>
                          </a:solidFill>
                          <a:latin typeface="Calibri"/>
                          <a:ea typeface="Calibri"/>
                          <a:cs typeface="Calibri"/>
                          <a:sym typeface="Calibri"/>
                        </a:rPr>
                        <a:t>LoRA Alpha Çarpanı</a:t>
                      </a:r>
                      <a:endParaRPr sz="11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EEF6FF"/>
                    </a:solidFill>
                  </a:tcPr>
                </a:tc>
                <a:tc>
                  <a:txBody>
                    <a:bodyPr/>
                    <a:lstStyle/>
                    <a:p>
                      <a:pPr marL="0" marR="0" lvl="0" indent="0" algn="ctr" rtl="0">
                        <a:spcBef>
                          <a:spcPts val="0"/>
                        </a:spcBef>
                        <a:spcAft>
                          <a:spcPts val="0"/>
                        </a:spcAft>
                        <a:buClr>
                          <a:srgbClr val="0A7EC2"/>
                        </a:buClr>
                        <a:buSzPts val="1100"/>
                        <a:buFont typeface="Calibri"/>
                        <a:buNone/>
                      </a:pPr>
                      <a:r>
                        <a:rPr lang="en-US" sz="1100" u="none" strike="noStrike" cap="none">
                          <a:solidFill>
                            <a:srgbClr val="0A7EC2"/>
                          </a:solidFill>
                          <a:latin typeface="Calibri"/>
                          <a:ea typeface="Calibri"/>
                          <a:cs typeface="Calibri"/>
                          <a:sym typeface="Calibri"/>
                        </a:rPr>
                        <a:t>32</a:t>
                      </a:r>
                      <a:endParaRPr sz="11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EEF6FF"/>
                    </a:solidFill>
                  </a:tcPr>
                </a:tc>
                <a:extLst>
                  <a:ext uri="{0D108BD9-81ED-4DB2-BD59-A6C34878D82A}">
                    <a16:rowId xmlns:a16="http://schemas.microsoft.com/office/drawing/2014/main" val="10002"/>
                  </a:ext>
                </a:extLst>
              </a:tr>
              <a:tr h="347475">
                <a:tc>
                  <a:txBody>
                    <a:bodyPr/>
                    <a:lstStyle/>
                    <a:p>
                      <a:pPr marL="0" marR="0" lvl="0" indent="0" algn="l" rtl="0">
                        <a:spcBef>
                          <a:spcPts val="0"/>
                        </a:spcBef>
                        <a:spcAft>
                          <a:spcPts val="0"/>
                        </a:spcAft>
                        <a:buClr>
                          <a:srgbClr val="1A2332"/>
                        </a:buClr>
                        <a:buSzPts val="1100"/>
                        <a:buFont typeface="Calibri"/>
                        <a:buNone/>
                      </a:pPr>
                      <a:r>
                        <a:rPr lang="en-US" sz="1100" u="none" strike="noStrike" cap="none">
                          <a:solidFill>
                            <a:srgbClr val="1A2332"/>
                          </a:solidFill>
                          <a:latin typeface="Calibri"/>
                          <a:ea typeface="Calibri"/>
                          <a:cs typeface="Calibri"/>
                          <a:sym typeface="Calibri"/>
                        </a:rPr>
                        <a:t>Kuantizasyon</a:t>
                      </a:r>
                      <a:endParaRPr sz="11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A7EC2"/>
                        </a:buClr>
                        <a:buSzPts val="1100"/>
                        <a:buFont typeface="Calibri"/>
                        <a:buNone/>
                      </a:pPr>
                      <a:r>
                        <a:rPr lang="en-US" sz="1100" u="none" strike="noStrike" cap="none">
                          <a:solidFill>
                            <a:srgbClr val="0A7EC2"/>
                          </a:solidFill>
                          <a:latin typeface="Calibri"/>
                          <a:ea typeface="Calibri"/>
                          <a:cs typeface="Calibri"/>
                          <a:sym typeface="Calibri"/>
                        </a:rPr>
                        <a:t>4-bit</a:t>
                      </a:r>
                      <a:endParaRPr sz="11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47475">
                <a:tc>
                  <a:txBody>
                    <a:bodyPr/>
                    <a:lstStyle/>
                    <a:p>
                      <a:pPr marL="0" marR="0" lvl="0" indent="0" algn="l" rtl="0">
                        <a:spcBef>
                          <a:spcPts val="0"/>
                        </a:spcBef>
                        <a:spcAft>
                          <a:spcPts val="0"/>
                        </a:spcAft>
                        <a:buClr>
                          <a:srgbClr val="1A2332"/>
                        </a:buClr>
                        <a:buSzPts val="1100"/>
                        <a:buFont typeface="Calibri"/>
                        <a:buNone/>
                      </a:pPr>
                      <a:r>
                        <a:rPr lang="en-US" sz="1100" u="none" strike="noStrike" cap="none">
                          <a:solidFill>
                            <a:srgbClr val="1A2332"/>
                          </a:solidFill>
                          <a:latin typeface="Calibri"/>
                          <a:ea typeface="Calibri"/>
                          <a:cs typeface="Calibri"/>
                          <a:sym typeface="Calibri"/>
                        </a:rPr>
                        <a:t>Optimizasyon Algoritması</a:t>
                      </a:r>
                      <a:endParaRPr sz="11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EEF6FF"/>
                    </a:solidFill>
                  </a:tcPr>
                </a:tc>
                <a:tc>
                  <a:txBody>
                    <a:bodyPr/>
                    <a:lstStyle/>
                    <a:p>
                      <a:pPr marL="0" marR="0" lvl="0" indent="0" algn="ctr" rtl="0">
                        <a:spcBef>
                          <a:spcPts val="0"/>
                        </a:spcBef>
                        <a:spcAft>
                          <a:spcPts val="0"/>
                        </a:spcAft>
                        <a:buClr>
                          <a:srgbClr val="0A7EC2"/>
                        </a:buClr>
                        <a:buSzPts val="1100"/>
                        <a:buFont typeface="Calibri"/>
                        <a:buNone/>
                      </a:pPr>
                      <a:r>
                        <a:rPr lang="en-US" sz="1100" u="none" strike="noStrike" cap="none">
                          <a:solidFill>
                            <a:srgbClr val="0A7EC2"/>
                          </a:solidFill>
                          <a:latin typeface="Calibri"/>
                          <a:ea typeface="Calibri"/>
                          <a:cs typeface="Calibri"/>
                          <a:sym typeface="Calibri"/>
                        </a:rPr>
                        <a:t>AdamW 8-bit</a:t>
                      </a:r>
                      <a:endParaRPr sz="11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EEF6FF"/>
                    </a:solidFill>
                  </a:tcPr>
                </a:tc>
                <a:extLst>
                  <a:ext uri="{0D108BD9-81ED-4DB2-BD59-A6C34878D82A}">
                    <a16:rowId xmlns:a16="http://schemas.microsoft.com/office/drawing/2014/main" val="10004"/>
                  </a:ext>
                </a:extLst>
              </a:tr>
              <a:tr h="347475">
                <a:tc>
                  <a:txBody>
                    <a:bodyPr/>
                    <a:lstStyle/>
                    <a:p>
                      <a:pPr marL="0" marR="0" lvl="0" indent="0" algn="l" rtl="0">
                        <a:spcBef>
                          <a:spcPts val="0"/>
                        </a:spcBef>
                        <a:spcAft>
                          <a:spcPts val="0"/>
                        </a:spcAft>
                        <a:buClr>
                          <a:srgbClr val="1A2332"/>
                        </a:buClr>
                        <a:buSzPts val="1100"/>
                        <a:buFont typeface="Calibri"/>
                        <a:buNone/>
                      </a:pPr>
                      <a:r>
                        <a:rPr lang="en-US" sz="1100" u="none" strike="noStrike" cap="none">
                          <a:solidFill>
                            <a:srgbClr val="1A2332"/>
                          </a:solidFill>
                          <a:latin typeface="Calibri"/>
                          <a:ea typeface="Calibri"/>
                          <a:cs typeface="Calibri"/>
                          <a:sym typeface="Calibri"/>
                        </a:rPr>
                        <a:t>LR Planlayıcısı</a:t>
                      </a:r>
                      <a:endParaRPr sz="11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A7EC2"/>
                        </a:buClr>
                        <a:buSzPts val="1100"/>
                        <a:buFont typeface="Calibri"/>
                        <a:buNone/>
                      </a:pPr>
                      <a:r>
                        <a:rPr lang="en-US" sz="1100" u="none" strike="noStrike" cap="none">
                          <a:solidFill>
                            <a:srgbClr val="0A7EC2"/>
                          </a:solidFill>
                          <a:latin typeface="Calibri"/>
                          <a:ea typeface="Calibri"/>
                          <a:cs typeface="Calibri"/>
                          <a:sym typeface="Calibri"/>
                        </a:rPr>
                        <a:t>Linear</a:t>
                      </a:r>
                      <a:endParaRPr sz="11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bl>
          </a:graphicData>
        </a:graphic>
      </p:graphicFrame>
      <p:sp>
        <p:nvSpPr>
          <p:cNvPr id="193" name="Google Shape;193;p11"/>
          <p:cNvSpPr/>
          <p:nvPr/>
        </p:nvSpPr>
        <p:spPr>
          <a:xfrm>
            <a:off x="457195" y="3600135"/>
            <a:ext cx="3931800" cy="1143000"/>
          </a:xfrm>
          <a:prstGeom prst="roundRect">
            <a:avLst>
              <a:gd name="adj" fmla="val 8000"/>
            </a:avLst>
          </a:prstGeom>
          <a:solidFill>
            <a:srgbClr val="F0F7FF"/>
          </a:solidFill>
          <a:ln>
            <a:noFill/>
          </a:ln>
          <a:effectLst>
            <a:outerShdw blurRad="127000" dist="38100" dir="27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1"/>
          <p:cNvSpPr/>
          <p:nvPr/>
        </p:nvSpPr>
        <p:spPr>
          <a:xfrm>
            <a:off x="594355" y="3673287"/>
            <a:ext cx="3657600" cy="274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A7EC2"/>
              </a:buClr>
              <a:buSzPts val="1100"/>
              <a:buFont typeface="Calibri"/>
              <a:buNone/>
            </a:pPr>
            <a:r>
              <a:rPr lang="en-US" sz="1100" b="1" i="0" u="none" strike="noStrike" cap="none">
                <a:solidFill>
                  <a:srgbClr val="0A7EC2"/>
                </a:solidFill>
                <a:latin typeface="Calibri"/>
                <a:ea typeface="Calibri"/>
                <a:cs typeface="Calibri"/>
                <a:sym typeface="Calibri"/>
              </a:rPr>
              <a:t>LoRA Uygulanan Transformer Katmanları</a:t>
            </a:r>
            <a:endParaRPr sz="1100" b="0" i="0" u="none" strike="noStrike" cap="none">
              <a:solidFill>
                <a:schemeClr val="dk1"/>
              </a:solidFill>
              <a:latin typeface="Calibri"/>
              <a:ea typeface="Calibri"/>
              <a:cs typeface="Calibri"/>
              <a:sym typeface="Calibri"/>
            </a:endParaRPr>
          </a:p>
        </p:txBody>
      </p:sp>
      <p:sp>
        <p:nvSpPr>
          <p:cNvPr id="195" name="Google Shape;195;p11"/>
          <p:cNvSpPr/>
          <p:nvPr/>
        </p:nvSpPr>
        <p:spPr>
          <a:xfrm>
            <a:off x="594355" y="3984183"/>
            <a:ext cx="3657600" cy="640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A5568"/>
              </a:buClr>
              <a:buSzPts val="1100"/>
              <a:buFont typeface="Calibri"/>
              <a:buNone/>
            </a:pPr>
            <a:r>
              <a:rPr lang="en-US" sz="1100" b="0" i="0" u="none" strike="noStrike" cap="none">
                <a:solidFill>
                  <a:srgbClr val="4A5568"/>
                </a:solidFill>
                <a:latin typeface="Calibri"/>
                <a:ea typeface="Calibri"/>
                <a:cs typeface="Calibri"/>
                <a:sym typeface="Calibri"/>
              </a:rPr>
              <a:t>q_proj  •  k_proj  •  v_proj  •  o_proj</a:t>
            </a:r>
            <a:endParaRPr sz="11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4A5568"/>
              </a:buClr>
              <a:buSzPts val="1100"/>
              <a:buFont typeface="Calibri"/>
              <a:buNone/>
            </a:pPr>
            <a:r>
              <a:rPr lang="en-US" sz="1100" b="0" i="0" u="none" strike="noStrike" cap="none">
                <a:solidFill>
                  <a:srgbClr val="4A5568"/>
                </a:solidFill>
                <a:latin typeface="Calibri"/>
                <a:ea typeface="Calibri"/>
                <a:cs typeface="Calibri"/>
                <a:sym typeface="Calibri"/>
              </a:rPr>
              <a:t>gate_proj  •  up_proj  •  down_proj</a:t>
            </a:r>
            <a:endParaRPr sz="1100" b="0" i="0" u="none" strike="noStrike" cap="none">
              <a:solidFill>
                <a:schemeClr val="dk1"/>
              </a:solidFill>
              <a:latin typeface="Calibri"/>
              <a:ea typeface="Calibri"/>
              <a:cs typeface="Calibri"/>
              <a:sym typeface="Calibri"/>
            </a:endParaRPr>
          </a:p>
        </p:txBody>
      </p:sp>
      <p:grpSp>
        <p:nvGrpSpPr>
          <p:cNvPr id="196" name="Google Shape;196;p11"/>
          <p:cNvGrpSpPr/>
          <p:nvPr/>
        </p:nvGrpSpPr>
        <p:grpSpPr>
          <a:xfrm>
            <a:off x="4588600" y="1230959"/>
            <a:ext cx="4098198" cy="3393476"/>
            <a:chOff x="365760" y="2971800"/>
            <a:chExt cx="4206300" cy="2057400"/>
          </a:xfrm>
        </p:grpSpPr>
        <p:sp>
          <p:nvSpPr>
            <p:cNvPr id="197" name="Google Shape;197;p11"/>
            <p:cNvSpPr/>
            <p:nvPr/>
          </p:nvSpPr>
          <p:spPr>
            <a:xfrm>
              <a:off x="365760" y="2971800"/>
              <a:ext cx="4206300" cy="2057400"/>
            </a:xfrm>
            <a:prstGeom prst="roundRect">
              <a:avLst>
                <a:gd name="adj" fmla="val 4444"/>
              </a:avLst>
            </a:prstGeom>
            <a:solidFill>
              <a:srgbClr val="FFFFFF"/>
            </a:solidFill>
            <a:ln w="9525" cap="flat" cmpd="sng">
              <a:solidFill>
                <a:srgbClr val="DBEAFE"/>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0" name="Google Shape;200;p11"/>
            <p:cNvSpPr txBox="1"/>
            <p:nvPr/>
          </p:nvSpPr>
          <p:spPr>
            <a:xfrm>
              <a:off x="952499" y="3095625"/>
              <a:ext cx="35244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b="1">
                  <a:solidFill>
                    <a:srgbClr val="0A7EC2"/>
                  </a:solidFill>
                  <a:latin typeface="Calibri"/>
                  <a:ea typeface="Calibri"/>
                  <a:cs typeface="Calibri"/>
                  <a:sym typeface="Calibri"/>
                </a:rPr>
                <a:t>q_proj / k_proj</a:t>
              </a:r>
              <a:endParaRPr b="1">
                <a:solidFill>
                  <a:srgbClr val="0A7EC2"/>
                </a:solidFill>
                <a:latin typeface="Calibri"/>
                <a:ea typeface="Calibri"/>
                <a:cs typeface="Calibri"/>
                <a:sym typeface="Calibri"/>
              </a:endParaRPr>
            </a:p>
            <a:p>
              <a:pPr marL="0" lvl="0" indent="0" algn="l" rtl="0">
                <a:spcBef>
                  <a:spcPts val="0"/>
                </a:spcBef>
                <a:spcAft>
                  <a:spcPts val="0"/>
                </a:spcAft>
                <a:buNone/>
              </a:pPr>
              <a:r>
                <a:rPr lang="en-US" sz="1300">
                  <a:solidFill>
                    <a:srgbClr val="4A5568"/>
                  </a:solidFill>
                  <a:latin typeface="Calibri"/>
                  <a:ea typeface="Calibri"/>
                  <a:cs typeface="Calibri"/>
                  <a:sym typeface="Calibri"/>
                </a:rPr>
                <a:t>Attention mekanizmasında modelin hangi bilgilere odaklanacağını belirleyen projeksiyon katmanları.</a:t>
              </a:r>
              <a:endParaRPr sz="1300">
                <a:solidFill>
                  <a:srgbClr val="4A5568"/>
                </a:solidFill>
                <a:latin typeface="Calibri"/>
                <a:ea typeface="Calibri"/>
                <a:cs typeface="Calibri"/>
                <a:sym typeface="Calibri"/>
              </a:endParaRPr>
            </a:p>
          </p:txBody>
        </p:sp>
        <p:sp>
          <p:nvSpPr>
            <p:cNvPr id="203" name="Google Shape;203;p11"/>
            <p:cNvSpPr txBox="1"/>
            <p:nvPr/>
          </p:nvSpPr>
          <p:spPr>
            <a:xfrm>
              <a:off x="952499" y="3714750"/>
              <a:ext cx="35244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b="1">
                  <a:solidFill>
                    <a:srgbClr val="0A7EC2"/>
                  </a:solidFill>
                  <a:latin typeface="Calibri"/>
                  <a:ea typeface="Calibri"/>
                  <a:cs typeface="Calibri"/>
                  <a:sym typeface="Calibri"/>
                </a:rPr>
                <a:t>v_proj / o_proj</a:t>
              </a:r>
              <a:endParaRPr b="1">
                <a:solidFill>
                  <a:srgbClr val="0A7EC2"/>
                </a:solidFill>
                <a:latin typeface="Calibri"/>
                <a:ea typeface="Calibri"/>
                <a:cs typeface="Calibri"/>
                <a:sym typeface="Calibri"/>
              </a:endParaRPr>
            </a:p>
            <a:p>
              <a:pPr marL="0" lvl="0" indent="0" algn="l" rtl="0">
                <a:spcBef>
                  <a:spcPts val="0"/>
                </a:spcBef>
                <a:spcAft>
                  <a:spcPts val="0"/>
                </a:spcAft>
                <a:buNone/>
              </a:pPr>
              <a:r>
                <a:rPr lang="en-US" sz="1300">
                  <a:solidFill>
                    <a:srgbClr val="4A5568"/>
                  </a:solidFill>
                  <a:latin typeface="Calibri"/>
                  <a:ea typeface="Calibri"/>
                  <a:cs typeface="Calibri"/>
                  <a:sym typeface="Calibri"/>
                </a:rPr>
                <a:t>Attention sonucunda modele taşınan gerçek bilgi içeriğini ve gizli boyut projeksiyonunu temsil eder.</a:t>
              </a:r>
              <a:endParaRPr sz="1300">
                <a:solidFill>
                  <a:srgbClr val="4A5568"/>
                </a:solidFill>
                <a:latin typeface="Calibri"/>
                <a:ea typeface="Calibri"/>
                <a:cs typeface="Calibri"/>
                <a:sym typeface="Calibri"/>
              </a:endParaRPr>
            </a:p>
          </p:txBody>
        </p:sp>
        <p:sp>
          <p:nvSpPr>
            <p:cNvPr id="206" name="Google Shape;206;p11"/>
            <p:cNvSpPr txBox="1"/>
            <p:nvPr/>
          </p:nvSpPr>
          <p:spPr>
            <a:xfrm>
              <a:off x="952499" y="4333875"/>
              <a:ext cx="35244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b="1">
                  <a:solidFill>
                    <a:srgbClr val="0A7EC2"/>
                  </a:solidFill>
                  <a:latin typeface="Calibri"/>
                  <a:ea typeface="Calibri"/>
                  <a:cs typeface="Calibri"/>
                  <a:sym typeface="Calibri"/>
                </a:rPr>
                <a:t>up / down / gate</a:t>
              </a:r>
              <a:endParaRPr b="1">
                <a:solidFill>
                  <a:srgbClr val="0A7EC2"/>
                </a:solidFill>
                <a:latin typeface="Calibri"/>
                <a:ea typeface="Calibri"/>
                <a:cs typeface="Calibri"/>
                <a:sym typeface="Calibri"/>
              </a:endParaRPr>
            </a:p>
            <a:p>
              <a:pPr marL="0" lvl="0" indent="0" algn="l" rtl="0">
                <a:spcBef>
                  <a:spcPts val="0"/>
                </a:spcBef>
                <a:spcAft>
                  <a:spcPts val="0"/>
                </a:spcAft>
                <a:buNone/>
              </a:pPr>
              <a:r>
                <a:rPr lang="en-US" sz="1300">
                  <a:solidFill>
                    <a:srgbClr val="4A5568"/>
                  </a:solidFill>
                  <a:latin typeface="Calibri"/>
                  <a:ea typeface="Calibri"/>
                  <a:cs typeface="Calibri"/>
                  <a:sym typeface="Calibri"/>
                </a:rPr>
                <a:t>Feed-forward ağındaki zengin özellik öğrenimi ve bilgi aktarımını kontrol eden kapı mekanizmaları.</a:t>
              </a:r>
              <a:endParaRPr sz="1300">
                <a:solidFill>
                  <a:srgbClr val="4A5568"/>
                </a:solidFill>
                <a:latin typeface="Calibri"/>
                <a:ea typeface="Calibri"/>
                <a:cs typeface="Calibri"/>
                <a:sym typeface="Calibri"/>
              </a:endParaRPr>
            </a:p>
          </p:txBody>
        </p:sp>
      </p:grpSp>
      <p:pic>
        <p:nvPicPr>
          <p:cNvPr id="2" name="Resim 1">
            <a:extLst>
              <a:ext uri="{FF2B5EF4-FFF2-40B4-BE49-F238E27FC236}">
                <a16:creationId xmlns:a16="http://schemas.microsoft.com/office/drawing/2014/main" id="{8AF62B6B-67E6-FBB9-E961-48AA6732C56D}"/>
              </a:ext>
            </a:extLst>
          </p:cNvPr>
          <p:cNvPicPr>
            <a:picLocks noChangeAspect="1"/>
          </p:cNvPicPr>
          <p:nvPr/>
        </p:nvPicPr>
        <p:blipFill>
          <a:blip r:embed="rId3"/>
          <a:stretch>
            <a:fillRect/>
          </a:stretch>
        </p:blipFill>
        <p:spPr>
          <a:xfrm>
            <a:off x="4738785" y="1526269"/>
            <a:ext cx="421475" cy="252885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1"/>
        <p:cNvGrpSpPr/>
        <p:nvPr/>
      </p:nvGrpSpPr>
      <p:grpSpPr>
        <a:xfrm>
          <a:off x="0" y="0"/>
          <a:ext cx="0" cy="0"/>
          <a:chOff x="0" y="0"/>
          <a:chExt cx="0" cy="0"/>
        </a:xfrm>
      </p:grpSpPr>
      <p:sp>
        <p:nvSpPr>
          <p:cNvPr id="212" name="Google Shape;212;p12"/>
          <p:cNvSpPr/>
          <p:nvPr/>
        </p:nvSpPr>
        <p:spPr>
          <a:xfrm>
            <a:off x="457200" y="201168"/>
            <a:ext cx="822960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A1628"/>
              </a:buClr>
              <a:buSzPts val="2800"/>
              <a:buFont typeface="Calibri"/>
              <a:buNone/>
            </a:pPr>
            <a:r>
              <a:rPr lang="en-US" sz="2800" b="1" i="0" u="none" strike="noStrike" cap="none">
                <a:solidFill>
                  <a:srgbClr val="0A1628"/>
                </a:solidFill>
                <a:latin typeface="Calibri"/>
                <a:ea typeface="Calibri"/>
                <a:cs typeface="Calibri"/>
                <a:sym typeface="Calibri"/>
              </a:rPr>
              <a:t>Değerlendirme Metrikleri</a:t>
            </a:r>
            <a:endParaRPr sz="2800" b="0" i="0" u="none" strike="noStrike" cap="none">
              <a:solidFill>
                <a:schemeClr val="dk1"/>
              </a:solidFill>
              <a:latin typeface="Calibri"/>
              <a:ea typeface="Calibri"/>
              <a:cs typeface="Calibri"/>
              <a:sym typeface="Calibri"/>
            </a:endParaRPr>
          </a:p>
        </p:txBody>
      </p:sp>
      <p:sp>
        <p:nvSpPr>
          <p:cNvPr id="213" name="Google Shape;213;p12"/>
          <p:cNvSpPr/>
          <p:nvPr/>
        </p:nvSpPr>
        <p:spPr>
          <a:xfrm>
            <a:off x="457200" y="932688"/>
            <a:ext cx="8229600" cy="22800"/>
          </a:xfrm>
          <a:prstGeom prst="rect">
            <a:avLst/>
          </a:prstGeom>
          <a:solidFill>
            <a:srgbClr val="DBEA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2"/>
          <p:cNvSpPr/>
          <p:nvPr/>
        </p:nvSpPr>
        <p:spPr>
          <a:xfrm>
            <a:off x="320040" y="1051560"/>
            <a:ext cx="2743200" cy="3749100"/>
          </a:xfrm>
          <a:prstGeom prst="roundRect">
            <a:avLst>
              <a:gd name="adj" fmla="val 3333"/>
            </a:avLst>
          </a:prstGeom>
          <a:solidFill>
            <a:srgbClr val="F8FB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2"/>
          <p:cNvSpPr/>
          <p:nvPr/>
        </p:nvSpPr>
        <p:spPr>
          <a:xfrm>
            <a:off x="320040" y="1051560"/>
            <a:ext cx="2743200" cy="658500"/>
          </a:xfrm>
          <a:prstGeom prst="roundRect">
            <a:avLst>
              <a:gd name="adj" fmla="val 11111"/>
            </a:avLst>
          </a:prstGeom>
          <a:solidFill>
            <a:srgbClr val="0A7E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2"/>
          <p:cNvSpPr/>
          <p:nvPr/>
        </p:nvSpPr>
        <p:spPr>
          <a:xfrm>
            <a:off x="476250" y="1933575"/>
            <a:ext cx="152400" cy="152400"/>
          </a:xfrm>
          <a:prstGeom prst="ellipse">
            <a:avLst/>
          </a:prstGeom>
          <a:solidFill>
            <a:srgbClr val="0A7EC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7" name="Google Shape;217;p12"/>
          <p:cNvSpPr/>
          <p:nvPr/>
        </p:nvSpPr>
        <p:spPr>
          <a:xfrm>
            <a:off x="476250" y="2457450"/>
            <a:ext cx="152400" cy="152400"/>
          </a:xfrm>
          <a:prstGeom prst="ellipse">
            <a:avLst/>
          </a:prstGeom>
          <a:solidFill>
            <a:srgbClr val="0A7EC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8" name="Google Shape;218;p12"/>
          <p:cNvSpPr/>
          <p:nvPr/>
        </p:nvSpPr>
        <p:spPr>
          <a:xfrm>
            <a:off x="476250" y="2981325"/>
            <a:ext cx="152400" cy="152400"/>
          </a:xfrm>
          <a:prstGeom prst="ellipse">
            <a:avLst/>
          </a:prstGeom>
          <a:solidFill>
            <a:srgbClr val="0A7EC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9" name="Google Shape;219;p12"/>
          <p:cNvSpPr/>
          <p:nvPr/>
        </p:nvSpPr>
        <p:spPr>
          <a:xfrm>
            <a:off x="476250" y="3505200"/>
            <a:ext cx="152400" cy="152400"/>
          </a:xfrm>
          <a:prstGeom prst="ellipse">
            <a:avLst/>
          </a:prstGeom>
          <a:solidFill>
            <a:srgbClr val="0A7EC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0" name="Google Shape;220;p12"/>
          <p:cNvSpPr/>
          <p:nvPr/>
        </p:nvSpPr>
        <p:spPr>
          <a:xfrm>
            <a:off x="3246120" y="1051560"/>
            <a:ext cx="2743200" cy="3749100"/>
          </a:xfrm>
          <a:prstGeom prst="roundRect">
            <a:avLst>
              <a:gd name="adj" fmla="val 3333"/>
            </a:avLst>
          </a:prstGeom>
          <a:solidFill>
            <a:srgbClr val="F8FB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2"/>
          <p:cNvSpPr/>
          <p:nvPr/>
        </p:nvSpPr>
        <p:spPr>
          <a:xfrm>
            <a:off x="3246120" y="1051560"/>
            <a:ext cx="2743200" cy="658500"/>
          </a:xfrm>
          <a:prstGeom prst="roundRect">
            <a:avLst>
              <a:gd name="adj" fmla="val 11111"/>
            </a:avLst>
          </a:prstGeom>
          <a:solidFill>
            <a:srgbClr val="0E9F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2"/>
          <p:cNvSpPr/>
          <p:nvPr/>
        </p:nvSpPr>
        <p:spPr>
          <a:xfrm>
            <a:off x="3337560" y="1051560"/>
            <a:ext cx="2560200" cy="6585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ROUGE</a:t>
            </a:r>
            <a:endParaRPr sz="13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Metrikleri</a:t>
            </a:r>
            <a:endParaRPr sz="1300" b="0" i="0" u="none" strike="noStrike" cap="none">
              <a:solidFill>
                <a:schemeClr val="dk1"/>
              </a:solidFill>
              <a:latin typeface="Calibri"/>
              <a:ea typeface="Calibri"/>
              <a:cs typeface="Calibri"/>
              <a:sym typeface="Calibri"/>
            </a:endParaRPr>
          </a:p>
        </p:txBody>
      </p:sp>
      <p:sp>
        <p:nvSpPr>
          <p:cNvPr id="223" name="Google Shape;223;p12"/>
          <p:cNvSpPr/>
          <p:nvPr/>
        </p:nvSpPr>
        <p:spPr>
          <a:xfrm>
            <a:off x="3410712" y="1865376"/>
            <a:ext cx="201300" cy="201300"/>
          </a:xfrm>
          <a:prstGeom prst="ellipse">
            <a:avLst/>
          </a:prstGeom>
          <a:solidFill>
            <a:srgbClr val="0E9F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2"/>
          <p:cNvSpPr/>
          <p:nvPr/>
        </p:nvSpPr>
        <p:spPr>
          <a:xfrm>
            <a:off x="3410712" y="2432304"/>
            <a:ext cx="201300" cy="201300"/>
          </a:xfrm>
          <a:prstGeom prst="ellipse">
            <a:avLst/>
          </a:prstGeom>
          <a:solidFill>
            <a:srgbClr val="0E9F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2"/>
          <p:cNvSpPr/>
          <p:nvPr/>
        </p:nvSpPr>
        <p:spPr>
          <a:xfrm>
            <a:off x="6172200" y="1051560"/>
            <a:ext cx="2743200" cy="3749100"/>
          </a:xfrm>
          <a:prstGeom prst="roundRect">
            <a:avLst>
              <a:gd name="adj" fmla="val 3333"/>
            </a:avLst>
          </a:prstGeom>
          <a:solidFill>
            <a:srgbClr val="F8FB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2"/>
          <p:cNvSpPr/>
          <p:nvPr/>
        </p:nvSpPr>
        <p:spPr>
          <a:xfrm>
            <a:off x="6172200" y="1051560"/>
            <a:ext cx="2743200" cy="658500"/>
          </a:xfrm>
          <a:prstGeom prst="roundRect">
            <a:avLst>
              <a:gd name="adj" fmla="val 11111"/>
            </a:avLst>
          </a:prstGeom>
          <a:solidFill>
            <a:srgbClr val="7C3A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2"/>
          <p:cNvSpPr/>
          <p:nvPr/>
        </p:nvSpPr>
        <p:spPr>
          <a:xfrm>
            <a:off x="6336792" y="1875854"/>
            <a:ext cx="201300" cy="201300"/>
          </a:xfrm>
          <a:prstGeom prst="ellipse">
            <a:avLst/>
          </a:prstGeom>
          <a:solidFill>
            <a:srgbClr val="7C3AE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8" name="Google Shape;228;p12"/>
          <p:cNvSpPr/>
          <p:nvPr/>
        </p:nvSpPr>
        <p:spPr>
          <a:xfrm>
            <a:off x="6336792" y="2442591"/>
            <a:ext cx="201300" cy="201300"/>
          </a:xfrm>
          <a:prstGeom prst="ellipse">
            <a:avLst/>
          </a:prstGeom>
          <a:solidFill>
            <a:srgbClr val="7C3AE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229" name="Google Shape;229;p12"/>
          <p:cNvGrpSpPr/>
          <p:nvPr/>
        </p:nvGrpSpPr>
        <p:grpSpPr>
          <a:xfrm>
            <a:off x="6336792" y="2871788"/>
            <a:ext cx="2468808" cy="476400"/>
            <a:chOff x="6336792" y="2871788"/>
            <a:chExt cx="2468808" cy="476400"/>
          </a:xfrm>
        </p:grpSpPr>
        <p:sp>
          <p:nvSpPr>
            <p:cNvPr id="230" name="Google Shape;230;p12"/>
            <p:cNvSpPr/>
            <p:nvPr/>
          </p:nvSpPr>
          <p:spPr>
            <a:xfrm>
              <a:off x="6336792" y="3009329"/>
              <a:ext cx="201300" cy="201300"/>
            </a:xfrm>
            <a:prstGeom prst="ellipse">
              <a:avLst/>
            </a:prstGeom>
            <a:solidFill>
              <a:srgbClr val="7C3AE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1" name="Google Shape;231;p12"/>
            <p:cNvSpPr txBox="1"/>
            <p:nvPr/>
          </p:nvSpPr>
          <p:spPr>
            <a:xfrm>
              <a:off x="6629400" y="2871788"/>
              <a:ext cx="2176200" cy="476400"/>
            </a:xfrm>
            <a:prstGeom prst="rect">
              <a:avLst/>
            </a:prstGeom>
            <a:noFill/>
            <a:ln>
              <a:noFill/>
            </a:ln>
          </p:spPr>
          <p:txBody>
            <a:bodyPr spcFirstLastPara="1" wrap="square" lIns="91400" tIns="0" rIns="0" bIns="0" anchor="ctr" anchorCtr="0">
              <a:noAutofit/>
            </a:bodyPr>
            <a:lstStyle/>
            <a:p>
              <a:pPr marL="0" lvl="0" indent="0" algn="l" rtl="0">
                <a:spcBef>
                  <a:spcPts val="0"/>
                </a:spcBef>
                <a:spcAft>
                  <a:spcPts val="0"/>
                </a:spcAft>
                <a:buNone/>
              </a:pPr>
              <a:r>
                <a:rPr lang="en-US" sz="1100" i="1">
                  <a:solidFill>
                    <a:srgbClr val="1A2332"/>
                  </a:solidFill>
                  <a:latin typeface="Times New Roman"/>
                  <a:ea typeface="Times New Roman"/>
                  <a:cs typeface="Times New Roman"/>
                  <a:sym typeface="Times New Roman"/>
                </a:rPr>
                <a:t>cos(θ) = (A·B) / (||A|| ||B||)</a:t>
              </a:r>
              <a:endParaRPr sz="1100" i="1">
                <a:solidFill>
                  <a:srgbClr val="1A2332"/>
                </a:solidFill>
                <a:latin typeface="Times New Roman"/>
                <a:ea typeface="Times New Roman"/>
                <a:cs typeface="Times New Roman"/>
                <a:sym typeface="Times New Roman"/>
              </a:endParaRPr>
            </a:p>
          </p:txBody>
        </p:sp>
      </p:grpSp>
      <p:sp>
        <p:nvSpPr>
          <p:cNvPr id="232" name="Google Shape;232;p12"/>
          <p:cNvSpPr/>
          <p:nvPr/>
        </p:nvSpPr>
        <p:spPr>
          <a:xfrm>
            <a:off x="6263640" y="1051560"/>
            <a:ext cx="2560200" cy="6585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ctr" rtl="0">
              <a:spcBef>
                <a:spcPts val="0"/>
              </a:spcBef>
              <a:spcAft>
                <a:spcPts val="0"/>
              </a:spcAft>
              <a:buNone/>
            </a:pPr>
            <a:r>
              <a:rPr lang="en-US" sz="1300" b="1" i="0">
                <a:solidFill>
                  <a:srgbClr val="FFFFFF"/>
                </a:solidFill>
                <a:latin typeface="Calibri"/>
                <a:ea typeface="Calibri"/>
                <a:cs typeface="Calibri"/>
                <a:sym typeface="Calibri"/>
              </a:rPr>
              <a:t>Semantik Benzerlik</a:t>
            </a:r>
            <a:endParaRPr sz="1000" b="0" i="0">
              <a:solidFill>
                <a:srgbClr val="FFFFFF"/>
              </a:solidFill>
              <a:latin typeface="Calibri"/>
              <a:ea typeface="Calibri"/>
              <a:cs typeface="Calibri"/>
              <a:sym typeface="Calibri"/>
            </a:endParaRPr>
          </a:p>
        </p:txBody>
      </p:sp>
      <p:sp>
        <p:nvSpPr>
          <p:cNvPr id="233" name="Google Shape;233;p12"/>
          <p:cNvSpPr/>
          <p:nvPr/>
        </p:nvSpPr>
        <p:spPr>
          <a:xfrm>
            <a:off x="6629400" y="1762125"/>
            <a:ext cx="2176200" cy="428700"/>
          </a:xfrm>
          <a:prstGeom prst="rect">
            <a:avLst/>
          </a:prstGeom>
          <a:solidFill>
            <a:srgbClr val="000000">
              <a:alpha val="0"/>
            </a:srgbClr>
          </a:solidFill>
          <a:ln>
            <a:noFill/>
          </a:ln>
        </p:spPr>
        <p:txBody>
          <a:bodyPr spcFirstLastPara="1" wrap="square" lIns="91400" tIns="0" rIns="0" bIns="0" anchor="ctr" anchorCtr="0">
            <a:noAutofit/>
          </a:bodyPr>
          <a:lstStyle/>
          <a:p>
            <a:pPr marL="0" lvl="0" indent="0" algn="l" rtl="0">
              <a:spcBef>
                <a:spcPts val="0"/>
              </a:spcBef>
              <a:spcAft>
                <a:spcPts val="0"/>
              </a:spcAft>
              <a:buNone/>
            </a:pPr>
            <a:r>
              <a:rPr lang="en-US" sz="1100" b="1" i="0">
                <a:solidFill>
                  <a:srgbClr val="1A2332"/>
                </a:solidFill>
                <a:latin typeface="Calibri"/>
                <a:ea typeface="Calibri"/>
                <a:cs typeface="Calibri"/>
                <a:sym typeface="Calibri"/>
              </a:rPr>
              <a:t>Model:</a:t>
            </a:r>
            <a:r>
              <a:rPr lang="en-US" sz="1100" b="0" i="0">
                <a:solidFill>
                  <a:srgbClr val="1A2332"/>
                </a:solidFill>
                <a:latin typeface="Calibri"/>
                <a:ea typeface="Calibri"/>
                <a:cs typeface="Calibri"/>
                <a:sym typeface="Calibri"/>
              </a:rPr>
              <a:t> all-MiniLM-L6-v2</a:t>
            </a:r>
            <a:endParaRPr sz="1100" b="0" i="0">
              <a:solidFill>
                <a:srgbClr val="1A2332"/>
              </a:solidFill>
              <a:latin typeface="Calibri"/>
              <a:ea typeface="Calibri"/>
              <a:cs typeface="Calibri"/>
              <a:sym typeface="Calibri"/>
            </a:endParaRPr>
          </a:p>
        </p:txBody>
      </p:sp>
      <p:sp>
        <p:nvSpPr>
          <p:cNvPr id="234" name="Google Shape;234;p12"/>
          <p:cNvSpPr/>
          <p:nvPr/>
        </p:nvSpPr>
        <p:spPr>
          <a:xfrm>
            <a:off x="6629400" y="2305050"/>
            <a:ext cx="2176200" cy="476400"/>
          </a:xfrm>
          <a:prstGeom prst="rect">
            <a:avLst/>
          </a:prstGeom>
          <a:solidFill>
            <a:srgbClr val="000000">
              <a:alpha val="0"/>
            </a:srgbClr>
          </a:solidFill>
          <a:ln>
            <a:noFill/>
          </a:ln>
        </p:spPr>
        <p:txBody>
          <a:bodyPr spcFirstLastPara="1" wrap="square" lIns="91400" tIns="0" rIns="0" bIns="0" anchor="ctr" anchorCtr="0">
            <a:noAutofit/>
          </a:bodyPr>
          <a:lstStyle/>
          <a:p>
            <a:pPr marL="0" lvl="0" indent="0" algn="l" rtl="0">
              <a:spcBef>
                <a:spcPts val="0"/>
              </a:spcBef>
              <a:spcAft>
                <a:spcPts val="0"/>
              </a:spcAft>
              <a:buNone/>
            </a:pPr>
            <a:r>
              <a:rPr lang="en-US" sz="1100" b="1" i="0">
                <a:solidFill>
                  <a:srgbClr val="1A2332"/>
                </a:solidFill>
                <a:latin typeface="Calibri"/>
                <a:ea typeface="Calibri"/>
                <a:cs typeface="Calibri"/>
                <a:sym typeface="Calibri"/>
              </a:rPr>
              <a:t>Yöntem:</a:t>
            </a:r>
            <a:r>
              <a:rPr lang="en-US" sz="1100" b="0" i="0">
                <a:solidFill>
                  <a:srgbClr val="1A2332"/>
                </a:solidFill>
                <a:latin typeface="Calibri"/>
                <a:ea typeface="Calibri"/>
                <a:cs typeface="Calibri"/>
                <a:sym typeface="Calibri"/>
              </a:rPr>
              <a:t> Vektör dönüşümü ve Kosinüs benzerliği</a:t>
            </a:r>
            <a:endParaRPr sz="1100" b="0" i="0">
              <a:solidFill>
                <a:srgbClr val="1A2332"/>
              </a:solidFill>
              <a:latin typeface="Calibri"/>
              <a:ea typeface="Calibri"/>
              <a:cs typeface="Calibri"/>
              <a:sym typeface="Calibri"/>
            </a:endParaRPr>
          </a:p>
        </p:txBody>
      </p:sp>
      <p:sp>
        <p:nvSpPr>
          <p:cNvPr id="235" name="Google Shape;235;p12"/>
          <p:cNvSpPr/>
          <p:nvPr/>
        </p:nvSpPr>
        <p:spPr>
          <a:xfrm>
            <a:off x="6281928" y="3857625"/>
            <a:ext cx="2541900" cy="857400"/>
          </a:xfrm>
          <a:prstGeom prst="rect">
            <a:avLst/>
          </a:prstGeom>
          <a:solidFill>
            <a:srgbClr val="000000">
              <a:alpha val="0"/>
            </a:srgbClr>
          </a:solidFill>
          <a:ln>
            <a:noFill/>
          </a:ln>
        </p:spPr>
        <p:txBody>
          <a:bodyPr spcFirstLastPara="1" wrap="square" lIns="91400" tIns="0" rIns="0" bIns="0" anchor="ctr" anchorCtr="0">
            <a:noAutofit/>
          </a:bodyPr>
          <a:lstStyle/>
          <a:p>
            <a:pPr marL="0" lvl="0" indent="0" algn="l" rtl="0">
              <a:spcBef>
                <a:spcPts val="0"/>
              </a:spcBef>
              <a:spcAft>
                <a:spcPts val="0"/>
              </a:spcAft>
              <a:buNone/>
            </a:pPr>
            <a:r>
              <a:rPr lang="en-US" sz="950" b="0" i="1">
                <a:solidFill>
                  <a:srgbClr val="4A5568"/>
                </a:solidFill>
                <a:latin typeface="Calibri"/>
                <a:ea typeface="Calibri"/>
                <a:cs typeface="Calibri"/>
                <a:sym typeface="Calibri"/>
              </a:rPr>
              <a:t>Skorun 1'e yaklaşması, çıktıların referansa anlamsal olarak daha yakın olduğunu gösterir.</a:t>
            </a:r>
            <a:endParaRPr sz="950" b="0" i="1">
              <a:solidFill>
                <a:srgbClr val="4A5568"/>
              </a:solidFill>
              <a:latin typeface="Calibri"/>
              <a:ea typeface="Calibri"/>
              <a:cs typeface="Calibri"/>
              <a:sym typeface="Calibri"/>
            </a:endParaRPr>
          </a:p>
        </p:txBody>
      </p:sp>
      <p:sp>
        <p:nvSpPr>
          <p:cNvPr id="236" name="Google Shape;236;p12"/>
          <p:cNvSpPr txBox="1"/>
          <p:nvPr/>
        </p:nvSpPr>
        <p:spPr>
          <a:xfrm>
            <a:off x="3703320" y="2121218"/>
            <a:ext cx="2176200" cy="238200"/>
          </a:xfrm>
          <a:prstGeom prst="rect">
            <a:avLst/>
          </a:prstGeom>
          <a:noFill/>
          <a:ln>
            <a:noFill/>
          </a:ln>
        </p:spPr>
        <p:txBody>
          <a:bodyPr spcFirstLastPara="1" wrap="square" lIns="91400" tIns="0" rIns="0" bIns="0" anchor="t" anchorCtr="0">
            <a:noAutofit/>
          </a:bodyPr>
          <a:lstStyle/>
          <a:p>
            <a:pPr marL="0" lvl="0" indent="0" algn="l" rtl="0">
              <a:spcBef>
                <a:spcPts val="0"/>
              </a:spcBef>
              <a:spcAft>
                <a:spcPts val="0"/>
              </a:spcAft>
              <a:buNone/>
            </a:pPr>
            <a:r>
              <a:rPr lang="en-US" sz="925" b="0" i="0">
                <a:solidFill>
                  <a:srgbClr val="4A5568"/>
                </a:solidFill>
                <a:latin typeface="Times New Roman"/>
                <a:ea typeface="Times New Roman"/>
                <a:cs typeface="Times New Roman"/>
                <a:sym typeface="Times New Roman"/>
              </a:rPr>
              <a:t>R1 = Σ Overlap(unigrams) / Σ Count(ref)</a:t>
            </a:r>
            <a:endParaRPr sz="925" b="0" i="0">
              <a:solidFill>
                <a:srgbClr val="4A5568"/>
              </a:solidFill>
              <a:latin typeface="Times New Roman"/>
              <a:ea typeface="Times New Roman"/>
              <a:cs typeface="Times New Roman"/>
              <a:sym typeface="Times New Roman"/>
            </a:endParaRPr>
          </a:p>
        </p:txBody>
      </p:sp>
      <p:sp>
        <p:nvSpPr>
          <p:cNvPr id="237" name="Google Shape;237;p12"/>
          <p:cNvSpPr txBox="1"/>
          <p:nvPr/>
        </p:nvSpPr>
        <p:spPr>
          <a:xfrm>
            <a:off x="3703320" y="2687955"/>
            <a:ext cx="2176200" cy="238200"/>
          </a:xfrm>
          <a:prstGeom prst="rect">
            <a:avLst/>
          </a:prstGeom>
          <a:noFill/>
          <a:ln>
            <a:noFill/>
          </a:ln>
        </p:spPr>
        <p:txBody>
          <a:bodyPr spcFirstLastPara="1" wrap="square" lIns="91400" tIns="0" rIns="0" bIns="0" anchor="t" anchorCtr="0">
            <a:noAutofit/>
          </a:bodyPr>
          <a:lstStyle/>
          <a:p>
            <a:pPr marL="0" lvl="0" indent="0" algn="l" rtl="0">
              <a:spcBef>
                <a:spcPts val="0"/>
              </a:spcBef>
              <a:spcAft>
                <a:spcPts val="0"/>
              </a:spcAft>
              <a:buNone/>
            </a:pPr>
            <a:r>
              <a:rPr lang="en-US" sz="1000" b="0" i="0">
                <a:solidFill>
                  <a:srgbClr val="4A5568"/>
                </a:solidFill>
                <a:latin typeface="Times New Roman"/>
                <a:ea typeface="Times New Roman"/>
                <a:cs typeface="Times New Roman"/>
                <a:sym typeface="Times New Roman"/>
              </a:rPr>
              <a:t>RL = LCS(X, Y) / m</a:t>
            </a:r>
            <a:endParaRPr sz="1000" b="0" i="0">
              <a:solidFill>
                <a:srgbClr val="4A5568"/>
              </a:solidFill>
              <a:latin typeface="Times New Roman"/>
              <a:ea typeface="Times New Roman"/>
              <a:cs typeface="Times New Roman"/>
              <a:sym typeface="Times New Roman"/>
            </a:endParaRPr>
          </a:p>
        </p:txBody>
      </p:sp>
      <p:sp>
        <p:nvSpPr>
          <p:cNvPr id="238" name="Google Shape;238;p12"/>
          <p:cNvSpPr/>
          <p:nvPr/>
        </p:nvSpPr>
        <p:spPr>
          <a:xfrm>
            <a:off x="3355848" y="3862388"/>
            <a:ext cx="2541900" cy="809700"/>
          </a:xfrm>
          <a:prstGeom prst="rect">
            <a:avLst/>
          </a:prstGeom>
          <a:solidFill>
            <a:srgbClr val="000000">
              <a:alpha val="0"/>
            </a:srgbClr>
          </a:solidFill>
          <a:ln>
            <a:noFill/>
          </a:ln>
        </p:spPr>
        <p:txBody>
          <a:bodyPr spcFirstLastPara="1" wrap="square" lIns="91400" tIns="0" rIns="0" bIns="0" anchor="ctr" anchorCtr="0">
            <a:noAutofit/>
          </a:bodyPr>
          <a:lstStyle/>
          <a:p>
            <a:pPr marL="0" lvl="0" indent="0" algn="l" rtl="0">
              <a:spcBef>
                <a:spcPts val="0"/>
              </a:spcBef>
              <a:spcAft>
                <a:spcPts val="0"/>
              </a:spcAft>
              <a:buNone/>
            </a:pPr>
            <a:r>
              <a:rPr lang="en-US" sz="950" b="0" i="1">
                <a:solidFill>
                  <a:srgbClr val="4A5568"/>
                </a:solidFill>
                <a:latin typeface="Calibri"/>
                <a:ea typeface="Calibri"/>
                <a:cs typeface="Calibri"/>
                <a:sym typeface="Calibri"/>
              </a:rPr>
              <a:t>Metin üretim performansını değerlendirmek amacıyla ROUGE-1 ve ROUGE-L metrikleri kullanılmıştır.</a:t>
            </a:r>
            <a:endParaRPr sz="950" b="0" i="1">
              <a:solidFill>
                <a:srgbClr val="4A5568"/>
              </a:solidFill>
              <a:latin typeface="Calibri"/>
              <a:ea typeface="Calibri"/>
              <a:cs typeface="Calibri"/>
              <a:sym typeface="Calibri"/>
            </a:endParaRPr>
          </a:p>
        </p:txBody>
      </p:sp>
      <p:sp>
        <p:nvSpPr>
          <p:cNvPr id="239" name="Google Shape;239;p12"/>
          <p:cNvSpPr/>
          <p:nvPr/>
        </p:nvSpPr>
        <p:spPr>
          <a:xfrm>
            <a:off x="3703320" y="1828800"/>
            <a:ext cx="2176200" cy="292500"/>
          </a:xfrm>
          <a:prstGeom prst="rect">
            <a:avLst/>
          </a:prstGeom>
          <a:solidFill>
            <a:srgbClr val="000000">
              <a:alpha val="0"/>
            </a:srgbClr>
          </a:solidFill>
          <a:ln>
            <a:noFill/>
          </a:ln>
        </p:spPr>
        <p:txBody>
          <a:bodyPr spcFirstLastPara="1" wrap="square" lIns="91400" tIns="0" rIns="0" bIns="0" anchor="ctr" anchorCtr="0">
            <a:noAutofit/>
          </a:bodyPr>
          <a:lstStyle/>
          <a:p>
            <a:pPr marL="0" lvl="0" indent="0" algn="l" rtl="0">
              <a:spcBef>
                <a:spcPts val="0"/>
              </a:spcBef>
              <a:spcAft>
                <a:spcPts val="0"/>
              </a:spcAft>
              <a:buNone/>
            </a:pPr>
            <a:r>
              <a:rPr lang="en-US" sz="1100" b="1" i="0">
                <a:solidFill>
                  <a:srgbClr val="1A2332"/>
                </a:solidFill>
                <a:latin typeface="Calibri"/>
                <a:ea typeface="Calibri"/>
                <a:cs typeface="Calibri"/>
                <a:sym typeface="Calibri"/>
              </a:rPr>
              <a:t>ROUGE-1 </a:t>
            </a:r>
            <a:r>
              <a:rPr lang="en-US" sz="1000" b="0" i="0">
                <a:solidFill>
                  <a:srgbClr val="1A2332"/>
                </a:solidFill>
                <a:latin typeface="Calibri"/>
                <a:ea typeface="Calibri"/>
                <a:cs typeface="Calibri"/>
                <a:sym typeface="Calibri"/>
              </a:rPr>
              <a:t>(unigram örtüşmesi)</a:t>
            </a:r>
            <a:endParaRPr sz="1100" b="1" i="0">
              <a:solidFill>
                <a:srgbClr val="1A2332"/>
              </a:solidFill>
              <a:latin typeface="Calibri"/>
              <a:ea typeface="Calibri"/>
              <a:cs typeface="Calibri"/>
              <a:sym typeface="Calibri"/>
            </a:endParaRPr>
          </a:p>
        </p:txBody>
      </p:sp>
      <p:sp>
        <p:nvSpPr>
          <p:cNvPr id="240" name="Google Shape;240;p12"/>
          <p:cNvSpPr/>
          <p:nvPr/>
        </p:nvSpPr>
        <p:spPr>
          <a:xfrm>
            <a:off x="3703320" y="2395728"/>
            <a:ext cx="2176200" cy="292500"/>
          </a:xfrm>
          <a:prstGeom prst="rect">
            <a:avLst/>
          </a:prstGeom>
          <a:solidFill>
            <a:srgbClr val="000000">
              <a:alpha val="0"/>
            </a:srgbClr>
          </a:solidFill>
          <a:ln>
            <a:noFill/>
          </a:ln>
        </p:spPr>
        <p:txBody>
          <a:bodyPr spcFirstLastPara="1" wrap="square" lIns="91400" tIns="0" rIns="0" bIns="0" anchor="ctr" anchorCtr="0">
            <a:noAutofit/>
          </a:bodyPr>
          <a:lstStyle/>
          <a:p>
            <a:pPr marL="0" lvl="0" indent="0" algn="l" rtl="0">
              <a:spcBef>
                <a:spcPts val="0"/>
              </a:spcBef>
              <a:spcAft>
                <a:spcPts val="0"/>
              </a:spcAft>
              <a:buNone/>
            </a:pPr>
            <a:r>
              <a:rPr lang="en-US" sz="1100" b="1" i="0">
                <a:solidFill>
                  <a:srgbClr val="1A2332"/>
                </a:solidFill>
                <a:latin typeface="Calibri"/>
                <a:ea typeface="Calibri"/>
                <a:cs typeface="Calibri"/>
                <a:sym typeface="Calibri"/>
              </a:rPr>
              <a:t>ROUGE-L </a:t>
            </a:r>
            <a:r>
              <a:rPr lang="en-US" sz="1000" b="0" i="0">
                <a:solidFill>
                  <a:srgbClr val="1A2332"/>
                </a:solidFill>
                <a:latin typeface="Calibri"/>
                <a:ea typeface="Calibri"/>
                <a:cs typeface="Calibri"/>
                <a:sym typeface="Calibri"/>
              </a:rPr>
              <a:t>(yapısal benzerlik - LCS)</a:t>
            </a:r>
            <a:endParaRPr sz="1100" b="1" i="0">
              <a:solidFill>
                <a:srgbClr val="1A2332"/>
              </a:solidFill>
              <a:latin typeface="Calibri"/>
              <a:ea typeface="Calibri"/>
              <a:cs typeface="Calibri"/>
              <a:sym typeface="Calibri"/>
            </a:endParaRPr>
          </a:p>
        </p:txBody>
      </p:sp>
      <p:sp>
        <p:nvSpPr>
          <p:cNvPr id="241" name="Google Shape;241;p12"/>
          <p:cNvSpPr/>
          <p:nvPr/>
        </p:nvSpPr>
        <p:spPr>
          <a:xfrm>
            <a:off x="411480" y="1051560"/>
            <a:ext cx="2560200" cy="658500"/>
          </a:xfrm>
          <a:prstGeom prst="rect">
            <a:avLst/>
          </a:prstGeom>
          <a:solidFill>
            <a:srgbClr val="000000">
              <a:alpha val="0"/>
            </a:srgbClr>
          </a:solid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1300" b="1">
                <a:solidFill>
                  <a:srgbClr val="FFFFFF"/>
                </a:solidFill>
                <a:latin typeface="Calibri"/>
                <a:ea typeface="Calibri"/>
                <a:cs typeface="Calibri"/>
                <a:sym typeface="Calibri"/>
              </a:rPr>
              <a:t>Sınıflandırma Metrikleri</a:t>
            </a:r>
            <a:endParaRPr sz="1300" b="1">
              <a:solidFill>
                <a:srgbClr val="FFFFFF"/>
              </a:solidFill>
              <a:latin typeface="Calibri"/>
              <a:ea typeface="Calibri"/>
              <a:cs typeface="Calibri"/>
              <a:sym typeface="Calibri"/>
            </a:endParaRPr>
          </a:p>
        </p:txBody>
      </p:sp>
      <p:sp>
        <p:nvSpPr>
          <p:cNvPr id="242" name="Google Shape;242;p12"/>
          <p:cNvSpPr/>
          <p:nvPr/>
        </p:nvSpPr>
        <p:spPr>
          <a:xfrm>
            <a:off x="685800" y="1809750"/>
            <a:ext cx="2316600" cy="400200"/>
          </a:xfrm>
          <a:prstGeom prst="rect">
            <a:avLst/>
          </a:prstGeom>
          <a:solidFill>
            <a:srgbClr val="000000">
              <a:alpha val="0"/>
            </a:srgbClr>
          </a:solidFill>
          <a:ln>
            <a:noFill/>
          </a:ln>
        </p:spPr>
        <p:txBody>
          <a:bodyPr spcFirstLastPara="1" wrap="square" lIns="91425" tIns="0" rIns="91425" bIns="0" anchor="ctr" anchorCtr="0">
            <a:noAutofit/>
          </a:bodyPr>
          <a:lstStyle/>
          <a:p>
            <a:pPr marL="0" lvl="0" indent="0" algn="l" rtl="0">
              <a:spcBef>
                <a:spcPts val="0"/>
              </a:spcBef>
              <a:spcAft>
                <a:spcPts val="0"/>
              </a:spcAft>
              <a:buNone/>
            </a:pPr>
            <a:r>
              <a:rPr lang="en-US" sz="1100" b="1">
                <a:solidFill>
                  <a:srgbClr val="1A2332"/>
                </a:solidFill>
                <a:latin typeface="Calibri"/>
                <a:ea typeface="Calibri"/>
                <a:cs typeface="Calibri"/>
                <a:sym typeface="Calibri"/>
              </a:rPr>
              <a:t>Doğruluk (Accuracy)</a:t>
            </a:r>
            <a:endParaRPr sz="1100" b="1">
              <a:solidFill>
                <a:srgbClr val="1A2332"/>
              </a:solidFill>
              <a:latin typeface="Calibri"/>
              <a:ea typeface="Calibri"/>
              <a:cs typeface="Calibri"/>
              <a:sym typeface="Calibri"/>
            </a:endParaRPr>
          </a:p>
          <a:p>
            <a:pPr marL="0" lvl="0" indent="0" algn="l" rtl="0">
              <a:spcBef>
                <a:spcPts val="0"/>
              </a:spcBef>
              <a:spcAft>
                <a:spcPts val="0"/>
              </a:spcAft>
              <a:buNone/>
            </a:pPr>
            <a:r>
              <a:rPr lang="en-US" sz="850" b="0">
                <a:solidFill>
                  <a:srgbClr val="4A5568"/>
                </a:solidFill>
                <a:latin typeface="Calibri"/>
                <a:ea typeface="Calibri"/>
                <a:cs typeface="Calibri"/>
                <a:sym typeface="Calibri"/>
              </a:rPr>
              <a:t>(TP + TN) / (TP + TN + FP + FN)</a:t>
            </a:r>
            <a:endParaRPr sz="850" b="0">
              <a:solidFill>
                <a:srgbClr val="4A5568"/>
              </a:solidFill>
              <a:latin typeface="Calibri"/>
              <a:ea typeface="Calibri"/>
              <a:cs typeface="Calibri"/>
              <a:sym typeface="Calibri"/>
            </a:endParaRPr>
          </a:p>
        </p:txBody>
      </p:sp>
      <p:sp>
        <p:nvSpPr>
          <p:cNvPr id="243" name="Google Shape;243;p12"/>
          <p:cNvSpPr/>
          <p:nvPr/>
        </p:nvSpPr>
        <p:spPr>
          <a:xfrm>
            <a:off x="685800" y="2333625"/>
            <a:ext cx="2316600" cy="400200"/>
          </a:xfrm>
          <a:prstGeom prst="rect">
            <a:avLst/>
          </a:prstGeom>
          <a:solidFill>
            <a:srgbClr val="000000">
              <a:alpha val="0"/>
            </a:srgbClr>
          </a:solidFill>
          <a:ln>
            <a:noFill/>
          </a:ln>
        </p:spPr>
        <p:txBody>
          <a:bodyPr spcFirstLastPara="1" wrap="square" lIns="91425" tIns="0" rIns="91425" bIns="0" anchor="ctr" anchorCtr="0">
            <a:noAutofit/>
          </a:bodyPr>
          <a:lstStyle/>
          <a:p>
            <a:pPr marL="0" lvl="0" indent="0" algn="l" rtl="0">
              <a:spcBef>
                <a:spcPts val="0"/>
              </a:spcBef>
              <a:spcAft>
                <a:spcPts val="0"/>
              </a:spcAft>
              <a:buNone/>
            </a:pPr>
            <a:r>
              <a:rPr lang="en-US" sz="1100" b="1">
                <a:solidFill>
                  <a:srgbClr val="1A2332"/>
                </a:solidFill>
                <a:latin typeface="Calibri"/>
                <a:ea typeface="Calibri"/>
                <a:cs typeface="Calibri"/>
                <a:sym typeface="Calibri"/>
              </a:rPr>
              <a:t>Kesinlik (Precision)</a:t>
            </a:r>
            <a:endParaRPr sz="1100" b="1">
              <a:solidFill>
                <a:srgbClr val="1A2332"/>
              </a:solidFill>
              <a:latin typeface="Calibri"/>
              <a:ea typeface="Calibri"/>
              <a:cs typeface="Calibri"/>
              <a:sym typeface="Calibri"/>
            </a:endParaRPr>
          </a:p>
          <a:p>
            <a:pPr marL="0" lvl="0" indent="0" algn="l" rtl="0">
              <a:spcBef>
                <a:spcPts val="0"/>
              </a:spcBef>
              <a:spcAft>
                <a:spcPts val="0"/>
              </a:spcAft>
              <a:buNone/>
            </a:pPr>
            <a:r>
              <a:rPr lang="en-US" sz="850" b="0">
                <a:solidFill>
                  <a:srgbClr val="4A5568"/>
                </a:solidFill>
                <a:latin typeface="Calibri"/>
                <a:ea typeface="Calibri"/>
                <a:cs typeface="Calibri"/>
                <a:sym typeface="Calibri"/>
              </a:rPr>
              <a:t>TP / (TP + FP)</a:t>
            </a:r>
            <a:endParaRPr sz="850" b="0">
              <a:solidFill>
                <a:srgbClr val="4A5568"/>
              </a:solidFill>
              <a:latin typeface="Calibri"/>
              <a:ea typeface="Calibri"/>
              <a:cs typeface="Calibri"/>
              <a:sym typeface="Calibri"/>
            </a:endParaRPr>
          </a:p>
        </p:txBody>
      </p:sp>
      <p:sp>
        <p:nvSpPr>
          <p:cNvPr id="244" name="Google Shape;244;p12"/>
          <p:cNvSpPr/>
          <p:nvPr/>
        </p:nvSpPr>
        <p:spPr>
          <a:xfrm>
            <a:off x="685800" y="2857500"/>
            <a:ext cx="2316600" cy="400200"/>
          </a:xfrm>
          <a:prstGeom prst="rect">
            <a:avLst/>
          </a:prstGeom>
          <a:solidFill>
            <a:srgbClr val="000000">
              <a:alpha val="0"/>
            </a:srgbClr>
          </a:solidFill>
          <a:ln>
            <a:noFill/>
          </a:ln>
        </p:spPr>
        <p:txBody>
          <a:bodyPr spcFirstLastPara="1" wrap="square" lIns="91425" tIns="0" rIns="91425" bIns="0" anchor="ctr" anchorCtr="0">
            <a:noAutofit/>
          </a:bodyPr>
          <a:lstStyle/>
          <a:p>
            <a:pPr marL="0" lvl="0" indent="0" algn="l" rtl="0">
              <a:spcBef>
                <a:spcPts val="0"/>
              </a:spcBef>
              <a:spcAft>
                <a:spcPts val="0"/>
              </a:spcAft>
              <a:buNone/>
            </a:pPr>
            <a:r>
              <a:rPr lang="en-US" sz="1100" b="1">
                <a:solidFill>
                  <a:srgbClr val="1A2332"/>
                </a:solidFill>
                <a:latin typeface="Calibri"/>
                <a:ea typeface="Calibri"/>
                <a:cs typeface="Calibri"/>
                <a:sym typeface="Calibri"/>
              </a:rPr>
              <a:t>Duyarlılık (Recall)</a:t>
            </a:r>
            <a:endParaRPr sz="1100" b="1">
              <a:solidFill>
                <a:srgbClr val="1A2332"/>
              </a:solidFill>
              <a:latin typeface="Calibri"/>
              <a:ea typeface="Calibri"/>
              <a:cs typeface="Calibri"/>
              <a:sym typeface="Calibri"/>
            </a:endParaRPr>
          </a:p>
          <a:p>
            <a:pPr marL="0" lvl="0" indent="0" algn="l" rtl="0">
              <a:spcBef>
                <a:spcPts val="0"/>
              </a:spcBef>
              <a:spcAft>
                <a:spcPts val="0"/>
              </a:spcAft>
              <a:buNone/>
            </a:pPr>
            <a:r>
              <a:rPr lang="en-US" sz="850" b="0">
                <a:solidFill>
                  <a:srgbClr val="4A5568"/>
                </a:solidFill>
                <a:latin typeface="Calibri"/>
                <a:ea typeface="Calibri"/>
                <a:cs typeface="Calibri"/>
                <a:sym typeface="Calibri"/>
              </a:rPr>
              <a:t>TP / (TP + FN)</a:t>
            </a:r>
            <a:endParaRPr sz="850" b="0">
              <a:solidFill>
                <a:srgbClr val="4A5568"/>
              </a:solidFill>
              <a:latin typeface="Calibri"/>
              <a:ea typeface="Calibri"/>
              <a:cs typeface="Calibri"/>
              <a:sym typeface="Calibri"/>
            </a:endParaRPr>
          </a:p>
        </p:txBody>
      </p:sp>
      <p:sp>
        <p:nvSpPr>
          <p:cNvPr id="245" name="Google Shape;245;p12"/>
          <p:cNvSpPr/>
          <p:nvPr/>
        </p:nvSpPr>
        <p:spPr>
          <a:xfrm>
            <a:off x="685800" y="3381375"/>
            <a:ext cx="2316600" cy="400200"/>
          </a:xfrm>
          <a:prstGeom prst="rect">
            <a:avLst/>
          </a:prstGeom>
          <a:solidFill>
            <a:srgbClr val="000000">
              <a:alpha val="0"/>
            </a:srgbClr>
          </a:solidFill>
          <a:ln>
            <a:noFill/>
          </a:ln>
        </p:spPr>
        <p:txBody>
          <a:bodyPr spcFirstLastPara="1" wrap="square" lIns="91425" tIns="0" rIns="91425" bIns="0" anchor="ctr" anchorCtr="0">
            <a:noAutofit/>
          </a:bodyPr>
          <a:lstStyle/>
          <a:p>
            <a:pPr marL="0" lvl="0" indent="0" algn="l" rtl="0">
              <a:spcBef>
                <a:spcPts val="0"/>
              </a:spcBef>
              <a:spcAft>
                <a:spcPts val="0"/>
              </a:spcAft>
              <a:buNone/>
            </a:pPr>
            <a:r>
              <a:rPr lang="en-US" sz="1100" b="1">
                <a:solidFill>
                  <a:srgbClr val="1A2332"/>
                </a:solidFill>
                <a:latin typeface="Calibri"/>
                <a:ea typeface="Calibri"/>
                <a:cs typeface="Calibri"/>
                <a:sym typeface="Calibri"/>
              </a:rPr>
              <a:t>F1-Skoru</a:t>
            </a:r>
            <a:endParaRPr sz="1100" b="1">
              <a:solidFill>
                <a:srgbClr val="1A2332"/>
              </a:solidFill>
              <a:latin typeface="Calibri"/>
              <a:ea typeface="Calibri"/>
              <a:cs typeface="Calibri"/>
              <a:sym typeface="Calibri"/>
            </a:endParaRPr>
          </a:p>
          <a:p>
            <a:pPr marL="0" lvl="0" indent="0" algn="l" rtl="0">
              <a:spcBef>
                <a:spcPts val="0"/>
              </a:spcBef>
              <a:spcAft>
                <a:spcPts val="0"/>
              </a:spcAft>
              <a:buNone/>
            </a:pPr>
            <a:r>
              <a:rPr lang="en-US" sz="850" b="0">
                <a:solidFill>
                  <a:srgbClr val="4A5568"/>
                </a:solidFill>
                <a:latin typeface="Calibri"/>
                <a:ea typeface="Calibri"/>
                <a:cs typeface="Calibri"/>
                <a:sym typeface="Calibri"/>
              </a:rPr>
              <a:t>2 * (Prec * Rec) / (Prec + Rec)</a:t>
            </a:r>
            <a:endParaRPr sz="850" b="0">
              <a:solidFill>
                <a:srgbClr val="4A5568"/>
              </a:solidFill>
              <a:latin typeface="Calibri"/>
              <a:ea typeface="Calibri"/>
              <a:cs typeface="Calibri"/>
              <a:sym typeface="Calibri"/>
            </a:endParaRPr>
          </a:p>
        </p:txBody>
      </p:sp>
      <p:sp>
        <p:nvSpPr>
          <p:cNvPr id="246" name="Google Shape;246;p12"/>
          <p:cNvSpPr/>
          <p:nvPr/>
        </p:nvSpPr>
        <p:spPr>
          <a:xfrm>
            <a:off x="405765" y="3857625"/>
            <a:ext cx="2571900" cy="857400"/>
          </a:xfrm>
          <a:prstGeom prst="rect">
            <a:avLst/>
          </a:prstGeom>
          <a:solidFill>
            <a:srgbClr val="000000">
              <a:alpha val="0"/>
            </a:srgbClr>
          </a:solid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850" b="0" i="1">
                <a:solidFill>
                  <a:srgbClr val="4A5568"/>
                </a:solidFill>
                <a:latin typeface="Calibri"/>
                <a:ea typeface="Calibri"/>
                <a:cs typeface="Calibri"/>
                <a:sym typeface="Calibri"/>
              </a:rPr>
              <a:t>vulnerability, CVE, injection, XSS, OWASP, exploit, patch ve secure anahtar kelimelerinin varlığına göre ikili sınıflandırma ile hesaplandı.</a:t>
            </a:r>
            <a:endParaRPr sz="850" b="0" i="1">
              <a:solidFill>
                <a:srgbClr val="4A5568"/>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1"/>
        <p:cNvGrpSpPr/>
        <p:nvPr/>
      </p:nvGrpSpPr>
      <p:grpSpPr>
        <a:xfrm>
          <a:off x="0" y="0"/>
          <a:ext cx="0" cy="0"/>
          <a:chOff x="0" y="0"/>
          <a:chExt cx="0" cy="0"/>
        </a:xfrm>
      </p:grpSpPr>
      <p:sp>
        <p:nvSpPr>
          <p:cNvPr id="252" name="Google Shape;252;p13"/>
          <p:cNvSpPr/>
          <p:nvPr/>
        </p:nvSpPr>
        <p:spPr>
          <a:xfrm>
            <a:off x="457200" y="201168"/>
            <a:ext cx="822960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A1628"/>
              </a:buClr>
              <a:buSzPts val="2800"/>
              <a:buFont typeface="Calibri"/>
              <a:buNone/>
            </a:pPr>
            <a:r>
              <a:rPr lang="en-US" sz="2800" b="1" i="0" u="none" strike="noStrike" cap="none">
                <a:solidFill>
                  <a:srgbClr val="0A1628"/>
                </a:solidFill>
                <a:latin typeface="Calibri"/>
                <a:ea typeface="Calibri"/>
                <a:cs typeface="Calibri"/>
                <a:sym typeface="Calibri"/>
              </a:rPr>
              <a:t>Sonuçlar: BigVul Veri Seti</a:t>
            </a:r>
            <a:endParaRPr sz="2800" b="0" i="0" u="none" strike="noStrike" cap="none">
              <a:solidFill>
                <a:schemeClr val="dk1"/>
              </a:solidFill>
              <a:latin typeface="Calibri"/>
              <a:ea typeface="Calibri"/>
              <a:cs typeface="Calibri"/>
              <a:sym typeface="Calibri"/>
            </a:endParaRPr>
          </a:p>
        </p:txBody>
      </p:sp>
      <p:sp>
        <p:nvSpPr>
          <p:cNvPr id="253" name="Google Shape;253;p13"/>
          <p:cNvSpPr/>
          <p:nvPr/>
        </p:nvSpPr>
        <p:spPr>
          <a:xfrm>
            <a:off x="457200" y="932688"/>
            <a:ext cx="8229600" cy="22860"/>
          </a:xfrm>
          <a:prstGeom prst="rect">
            <a:avLst/>
          </a:prstGeom>
          <a:solidFill>
            <a:srgbClr val="DBEA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3"/>
          <p:cNvSpPr/>
          <p:nvPr/>
        </p:nvSpPr>
        <p:spPr>
          <a:xfrm>
            <a:off x="6126480" y="1143000"/>
            <a:ext cx="2651760" cy="1051560"/>
          </a:xfrm>
          <a:prstGeom prst="roundRect">
            <a:avLst>
              <a:gd name="adj" fmla="val 8696"/>
            </a:avLst>
          </a:prstGeom>
          <a:solidFill>
            <a:srgbClr val="0A1628"/>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3"/>
          <p:cNvSpPr/>
          <p:nvPr/>
        </p:nvSpPr>
        <p:spPr>
          <a:xfrm>
            <a:off x="6217920" y="1216152"/>
            <a:ext cx="2468880"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59669"/>
              </a:buClr>
              <a:buSzPts val="2800"/>
              <a:buFont typeface="Calibri"/>
              <a:buNone/>
            </a:pPr>
            <a:r>
              <a:rPr lang="en-US" sz="2800" b="1" i="0" u="none" strike="noStrike" cap="none">
                <a:solidFill>
                  <a:srgbClr val="059669"/>
                </a:solidFill>
                <a:latin typeface="Calibri"/>
                <a:ea typeface="Calibri"/>
                <a:cs typeface="Calibri"/>
                <a:sym typeface="Calibri"/>
              </a:rPr>
              <a:t>+40.4%</a:t>
            </a:r>
            <a:endParaRPr sz="2800" b="0" i="0" u="none" strike="noStrike" cap="none">
              <a:solidFill>
                <a:schemeClr val="dk1"/>
              </a:solidFill>
              <a:latin typeface="Calibri"/>
              <a:ea typeface="Calibri"/>
              <a:cs typeface="Calibri"/>
              <a:sym typeface="Calibri"/>
            </a:endParaRPr>
          </a:p>
        </p:txBody>
      </p:sp>
      <p:sp>
        <p:nvSpPr>
          <p:cNvPr id="256" name="Google Shape;256;p13"/>
          <p:cNvSpPr/>
          <p:nvPr/>
        </p:nvSpPr>
        <p:spPr>
          <a:xfrm>
            <a:off x="6217920" y="1719072"/>
            <a:ext cx="246888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7FB3CC"/>
              </a:buClr>
              <a:buSzPts val="1100"/>
              <a:buFont typeface="Calibri"/>
              <a:buNone/>
            </a:pPr>
            <a:r>
              <a:rPr lang="en-US" sz="1100" b="0" i="0" u="none" strike="noStrike" cap="none">
                <a:solidFill>
                  <a:srgbClr val="7FB3CC"/>
                </a:solidFill>
                <a:latin typeface="Calibri"/>
                <a:ea typeface="Calibri"/>
                <a:cs typeface="Calibri"/>
                <a:sym typeface="Calibri"/>
              </a:rPr>
              <a:t>Accuracy değişimi</a:t>
            </a:r>
            <a:endParaRPr sz="1100" b="0" i="0" u="none" strike="noStrike" cap="none">
              <a:solidFill>
                <a:schemeClr val="dk1"/>
              </a:solidFill>
              <a:latin typeface="Calibri"/>
              <a:ea typeface="Calibri"/>
              <a:cs typeface="Calibri"/>
              <a:sym typeface="Calibri"/>
            </a:endParaRPr>
          </a:p>
        </p:txBody>
      </p:sp>
      <p:sp>
        <p:nvSpPr>
          <p:cNvPr id="257" name="Google Shape;257;p13"/>
          <p:cNvSpPr/>
          <p:nvPr/>
        </p:nvSpPr>
        <p:spPr>
          <a:xfrm>
            <a:off x="6126480" y="2377440"/>
            <a:ext cx="2651760" cy="1051560"/>
          </a:xfrm>
          <a:prstGeom prst="roundRect">
            <a:avLst>
              <a:gd name="adj" fmla="val 8696"/>
            </a:avLst>
          </a:prstGeom>
          <a:solidFill>
            <a:srgbClr val="0A1628"/>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3"/>
          <p:cNvSpPr/>
          <p:nvPr/>
        </p:nvSpPr>
        <p:spPr>
          <a:xfrm>
            <a:off x="6217920" y="2450592"/>
            <a:ext cx="2468880"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59669"/>
              </a:buClr>
              <a:buSzPts val="2800"/>
              <a:buFont typeface="Calibri"/>
              <a:buNone/>
            </a:pPr>
            <a:r>
              <a:rPr lang="en-US" sz="2800" b="1" i="0" u="none" strike="noStrike" cap="none">
                <a:solidFill>
                  <a:srgbClr val="059669"/>
                </a:solidFill>
                <a:latin typeface="Calibri"/>
                <a:ea typeface="Calibri"/>
                <a:cs typeface="Calibri"/>
                <a:sym typeface="Calibri"/>
              </a:rPr>
              <a:t>0→0.90</a:t>
            </a:r>
            <a:endParaRPr sz="2800" b="0" i="0" u="none" strike="noStrike" cap="none">
              <a:solidFill>
                <a:schemeClr val="dk1"/>
              </a:solidFill>
              <a:latin typeface="Calibri"/>
              <a:ea typeface="Calibri"/>
              <a:cs typeface="Calibri"/>
              <a:sym typeface="Calibri"/>
            </a:endParaRPr>
          </a:p>
        </p:txBody>
      </p:sp>
      <p:sp>
        <p:nvSpPr>
          <p:cNvPr id="259" name="Google Shape;259;p13"/>
          <p:cNvSpPr/>
          <p:nvPr/>
        </p:nvSpPr>
        <p:spPr>
          <a:xfrm>
            <a:off x="6217920" y="2953512"/>
            <a:ext cx="246888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7FB3CC"/>
              </a:buClr>
              <a:buSzPts val="1100"/>
              <a:buFont typeface="Calibri"/>
              <a:buNone/>
            </a:pPr>
            <a:r>
              <a:rPr lang="en-US" sz="1100" b="0" i="0" u="none" strike="noStrike" cap="none">
                <a:solidFill>
                  <a:srgbClr val="7FB3CC"/>
                </a:solidFill>
                <a:latin typeface="Calibri"/>
                <a:ea typeface="Calibri"/>
                <a:cs typeface="Calibri"/>
                <a:sym typeface="Calibri"/>
              </a:rPr>
              <a:t>F1-Score değişimi</a:t>
            </a:r>
            <a:endParaRPr sz="1100" b="0" i="0" u="none" strike="noStrike" cap="none">
              <a:solidFill>
                <a:schemeClr val="dk1"/>
              </a:solidFill>
              <a:latin typeface="Calibri"/>
              <a:ea typeface="Calibri"/>
              <a:cs typeface="Calibri"/>
              <a:sym typeface="Calibri"/>
            </a:endParaRPr>
          </a:p>
        </p:txBody>
      </p:sp>
      <p:sp>
        <p:nvSpPr>
          <p:cNvPr id="260" name="Google Shape;260;p13"/>
          <p:cNvSpPr/>
          <p:nvPr/>
        </p:nvSpPr>
        <p:spPr>
          <a:xfrm>
            <a:off x="6126480" y="3611880"/>
            <a:ext cx="2651760" cy="1051560"/>
          </a:xfrm>
          <a:prstGeom prst="roundRect">
            <a:avLst>
              <a:gd name="adj" fmla="val 8696"/>
            </a:avLst>
          </a:prstGeom>
          <a:solidFill>
            <a:srgbClr val="0A1628"/>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3"/>
          <p:cNvSpPr/>
          <p:nvPr/>
        </p:nvSpPr>
        <p:spPr>
          <a:xfrm>
            <a:off x="6217920" y="3685032"/>
            <a:ext cx="2468880"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59669"/>
              </a:buClr>
              <a:buSzPts val="2800"/>
              <a:buFont typeface="Calibri"/>
              <a:buNone/>
            </a:pPr>
            <a:r>
              <a:rPr lang="en-US" sz="2800" b="1" i="0" u="none" strike="noStrike" cap="none">
                <a:solidFill>
                  <a:srgbClr val="059669"/>
                </a:solidFill>
                <a:latin typeface="Calibri"/>
                <a:ea typeface="Calibri"/>
                <a:cs typeface="Calibri"/>
                <a:sym typeface="Calibri"/>
              </a:rPr>
              <a:t>+153%</a:t>
            </a:r>
            <a:endParaRPr sz="2800" b="0" i="0" u="none" strike="noStrike" cap="none">
              <a:solidFill>
                <a:schemeClr val="dk1"/>
              </a:solidFill>
              <a:latin typeface="Calibri"/>
              <a:ea typeface="Calibri"/>
              <a:cs typeface="Calibri"/>
              <a:sym typeface="Calibri"/>
            </a:endParaRPr>
          </a:p>
        </p:txBody>
      </p:sp>
      <p:sp>
        <p:nvSpPr>
          <p:cNvPr id="262" name="Google Shape;262;p13"/>
          <p:cNvSpPr/>
          <p:nvPr/>
        </p:nvSpPr>
        <p:spPr>
          <a:xfrm>
            <a:off x="6217920" y="4187952"/>
            <a:ext cx="246888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7FB3CC"/>
              </a:buClr>
              <a:buSzPts val="1100"/>
              <a:buFont typeface="Calibri"/>
              <a:buNone/>
            </a:pPr>
            <a:r>
              <a:rPr lang="en-US" sz="1100" b="0" i="0" u="none" strike="noStrike" cap="none">
                <a:solidFill>
                  <a:srgbClr val="7FB3CC"/>
                </a:solidFill>
                <a:latin typeface="Calibri"/>
                <a:ea typeface="Calibri"/>
                <a:cs typeface="Calibri"/>
                <a:sym typeface="Calibri"/>
              </a:rPr>
              <a:t>Semantic değişimi</a:t>
            </a:r>
            <a:endParaRPr sz="1100" b="0" i="0" u="none" strike="noStrike" cap="none">
              <a:solidFill>
                <a:schemeClr val="dk1"/>
              </a:solidFill>
              <a:latin typeface="Calibri"/>
              <a:ea typeface="Calibri"/>
              <a:cs typeface="Calibri"/>
              <a:sym typeface="Calibri"/>
            </a:endParaRPr>
          </a:p>
        </p:txBody>
      </p:sp>
      <p:sp>
        <p:nvSpPr>
          <p:cNvPr id="263" name="Google Shape;263;p13"/>
          <p:cNvSpPr/>
          <p:nvPr/>
        </p:nvSpPr>
        <p:spPr>
          <a:xfrm>
            <a:off x="320040" y="4681728"/>
            <a:ext cx="850392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A5568"/>
              </a:buClr>
              <a:buSzPts val="1000"/>
              <a:buFont typeface="Calibri"/>
              <a:buNone/>
            </a:pPr>
            <a:r>
              <a:rPr lang="en-US" sz="1000" b="0" i="1" u="none" strike="noStrike" cap="none">
                <a:solidFill>
                  <a:srgbClr val="4A5568"/>
                </a:solidFill>
                <a:latin typeface="Calibri"/>
                <a:ea typeface="Calibri"/>
                <a:cs typeface="Calibri"/>
                <a:sym typeface="Calibri"/>
              </a:rPr>
              <a:t>Temel model F1=0 iken ince ayarlı model F1=0.90 elde etti — zafiyet tespitinde tam anlamıyla uzmanlaşma.</a:t>
            </a:r>
            <a:endParaRPr sz="1000" b="0" i="0" u="none" strike="noStrike" cap="none">
              <a:solidFill>
                <a:schemeClr val="dk1"/>
              </a:solidFill>
              <a:latin typeface="Calibri"/>
              <a:ea typeface="Calibri"/>
              <a:cs typeface="Calibri"/>
              <a:sym typeface="Calibri"/>
            </a:endParaRPr>
          </a:p>
        </p:txBody>
      </p:sp>
      <p:pic>
        <p:nvPicPr>
          <p:cNvPr id="264" name="Google Shape;264;p13"/>
          <p:cNvPicPr preferRelativeResize="0"/>
          <p:nvPr/>
        </p:nvPicPr>
        <p:blipFill>
          <a:blip r:embed="rId3">
            <a:alphaModFix/>
          </a:blip>
          <a:stretch>
            <a:fillRect/>
          </a:stretch>
        </p:blipFill>
        <p:spPr>
          <a:xfrm>
            <a:off x="152400" y="1107950"/>
            <a:ext cx="5433116" cy="3573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9"/>
        <p:cNvGrpSpPr/>
        <p:nvPr/>
      </p:nvGrpSpPr>
      <p:grpSpPr>
        <a:xfrm>
          <a:off x="0" y="0"/>
          <a:ext cx="0" cy="0"/>
          <a:chOff x="0" y="0"/>
          <a:chExt cx="0" cy="0"/>
        </a:xfrm>
      </p:grpSpPr>
      <p:sp>
        <p:nvSpPr>
          <p:cNvPr id="270" name="Google Shape;270;p14"/>
          <p:cNvSpPr/>
          <p:nvPr/>
        </p:nvSpPr>
        <p:spPr>
          <a:xfrm>
            <a:off x="457200" y="201168"/>
            <a:ext cx="822960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A1628"/>
              </a:buClr>
              <a:buSzPts val="2800"/>
              <a:buFont typeface="Calibri"/>
              <a:buNone/>
            </a:pPr>
            <a:r>
              <a:rPr lang="en-US" sz="2800" b="1" i="0" u="none" strike="noStrike" cap="none">
                <a:solidFill>
                  <a:srgbClr val="0A1628"/>
                </a:solidFill>
                <a:latin typeface="Calibri"/>
                <a:ea typeface="Calibri"/>
                <a:cs typeface="Calibri"/>
                <a:sym typeface="Calibri"/>
              </a:rPr>
              <a:t>Sonuçlar: SecureCode-Web Veri Seti</a:t>
            </a:r>
            <a:endParaRPr sz="2800" b="0" i="0" u="none" strike="noStrike" cap="none">
              <a:solidFill>
                <a:schemeClr val="dk1"/>
              </a:solidFill>
              <a:latin typeface="Calibri"/>
              <a:ea typeface="Calibri"/>
              <a:cs typeface="Calibri"/>
              <a:sym typeface="Calibri"/>
            </a:endParaRPr>
          </a:p>
        </p:txBody>
      </p:sp>
      <p:sp>
        <p:nvSpPr>
          <p:cNvPr id="271" name="Google Shape;271;p14"/>
          <p:cNvSpPr/>
          <p:nvPr/>
        </p:nvSpPr>
        <p:spPr>
          <a:xfrm>
            <a:off x="457200" y="932688"/>
            <a:ext cx="8229600" cy="22800"/>
          </a:xfrm>
          <a:prstGeom prst="rect">
            <a:avLst/>
          </a:prstGeom>
          <a:solidFill>
            <a:srgbClr val="DBEA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4"/>
          <p:cNvSpPr/>
          <p:nvPr/>
        </p:nvSpPr>
        <p:spPr>
          <a:xfrm>
            <a:off x="6080760" y="1078992"/>
            <a:ext cx="2697600" cy="3612000"/>
          </a:xfrm>
          <a:prstGeom prst="roundRect">
            <a:avLst>
              <a:gd name="adj" fmla="val 3390"/>
            </a:avLst>
          </a:prstGeom>
          <a:solidFill>
            <a:srgbClr val="FFFBF2"/>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4"/>
          <p:cNvSpPr/>
          <p:nvPr/>
        </p:nvSpPr>
        <p:spPr>
          <a:xfrm>
            <a:off x="6217920" y="1188720"/>
            <a:ext cx="2423100" cy="320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97706"/>
              </a:buClr>
              <a:buSzPts val="1300"/>
              <a:buFont typeface="Calibri"/>
              <a:buNone/>
            </a:pPr>
            <a:r>
              <a:rPr lang="en-US" sz="1300" b="1" i="0" u="none" strike="noStrike" cap="none">
                <a:solidFill>
                  <a:srgbClr val="D97706"/>
                </a:solidFill>
                <a:latin typeface="Calibri"/>
                <a:ea typeface="Calibri"/>
                <a:cs typeface="Calibri"/>
                <a:sym typeface="Calibri"/>
              </a:rPr>
              <a:t>Yorumlama</a:t>
            </a:r>
            <a:endParaRPr sz="1300" b="0" i="0" u="none" strike="noStrike" cap="none">
              <a:solidFill>
                <a:schemeClr val="dk1"/>
              </a:solidFill>
              <a:latin typeface="Calibri"/>
              <a:ea typeface="Calibri"/>
              <a:cs typeface="Calibri"/>
              <a:sym typeface="Calibri"/>
            </a:endParaRPr>
          </a:p>
        </p:txBody>
      </p:sp>
      <p:sp>
        <p:nvSpPr>
          <p:cNvPr id="274" name="Google Shape;274;p14"/>
          <p:cNvSpPr/>
          <p:nvPr/>
        </p:nvSpPr>
        <p:spPr>
          <a:xfrm>
            <a:off x="6080750" y="1572775"/>
            <a:ext cx="2560200" cy="2880300"/>
          </a:xfrm>
          <a:prstGeom prst="rect">
            <a:avLst/>
          </a:prstGeom>
          <a:solidFill>
            <a:srgbClr val="000000">
              <a:alpha val="0"/>
            </a:srgbClr>
          </a:solidFill>
          <a:ln>
            <a:noFill/>
          </a:ln>
        </p:spPr>
        <p:txBody>
          <a:bodyPr spcFirstLastPara="1" wrap="square" lIns="91425" tIns="45700" rIns="91425" bIns="45700" anchor="ctr" anchorCtr="0">
            <a:noAutofit/>
          </a:bodyPr>
          <a:lstStyle/>
          <a:p>
            <a:pPr marL="457200" lvl="0" indent="-298450" algn="l" rtl="0">
              <a:spcBef>
                <a:spcPts val="0"/>
              </a:spcBef>
              <a:spcAft>
                <a:spcPts val="0"/>
              </a:spcAft>
              <a:buClr>
                <a:srgbClr val="1A2332"/>
              </a:buClr>
              <a:buSzPts val="1100"/>
              <a:buFont typeface="Calibri"/>
              <a:buChar char="●"/>
            </a:pPr>
            <a:r>
              <a:rPr lang="en-US" sz="1100">
                <a:solidFill>
                  <a:srgbClr val="1A2332"/>
                </a:solidFill>
                <a:latin typeface="Calibri"/>
                <a:ea typeface="Calibri"/>
                <a:cs typeface="Calibri"/>
                <a:sym typeface="Calibri"/>
              </a:rPr>
              <a:t>Kesinlik artışı modelin daha </a:t>
            </a:r>
            <a:r>
              <a:rPr lang="en-US" sz="1100" b="1">
                <a:solidFill>
                  <a:srgbClr val="1A2332"/>
                </a:solidFill>
                <a:latin typeface="Calibri"/>
                <a:ea typeface="Calibri"/>
                <a:cs typeface="Calibri"/>
                <a:sym typeface="Calibri"/>
              </a:rPr>
              <a:t>seçici</a:t>
            </a:r>
            <a:r>
              <a:rPr lang="en-US" sz="1100">
                <a:solidFill>
                  <a:srgbClr val="1A2332"/>
                </a:solidFill>
                <a:latin typeface="Calibri"/>
                <a:ea typeface="Calibri"/>
                <a:cs typeface="Calibri"/>
                <a:sym typeface="Calibri"/>
              </a:rPr>
              <a:t> olduğunu gösterir.</a:t>
            </a:r>
            <a:endParaRPr sz="1100">
              <a:solidFill>
                <a:srgbClr val="1A2332"/>
              </a:solidFill>
              <a:latin typeface="Calibri"/>
              <a:ea typeface="Calibri"/>
              <a:cs typeface="Calibri"/>
              <a:sym typeface="Calibri"/>
            </a:endParaRPr>
          </a:p>
          <a:p>
            <a:pPr marL="457200" lvl="0" indent="-298450" algn="l" rtl="0">
              <a:spcBef>
                <a:spcPts val="300"/>
              </a:spcBef>
              <a:spcAft>
                <a:spcPts val="0"/>
              </a:spcAft>
              <a:buClr>
                <a:srgbClr val="1A2332"/>
              </a:buClr>
              <a:buSzPts val="1100"/>
              <a:buFont typeface="Calibri"/>
              <a:buChar char="●"/>
            </a:pPr>
            <a:r>
              <a:rPr lang="en-US" sz="1100">
                <a:solidFill>
                  <a:srgbClr val="1A2332"/>
                </a:solidFill>
                <a:latin typeface="Calibri"/>
                <a:ea typeface="Calibri"/>
                <a:cs typeface="Calibri"/>
                <a:sym typeface="Calibri"/>
              </a:rPr>
              <a:t>Yanlış pozitif (FP) oranında azalma sağlandı.</a:t>
            </a:r>
            <a:endParaRPr sz="1100">
              <a:solidFill>
                <a:srgbClr val="1A2332"/>
              </a:solidFill>
              <a:latin typeface="Calibri"/>
              <a:ea typeface="Calibri"/>
              <a:cs typeface="Calibri"/>
              <a:sym typeface="Calibri"/>
            </a:endParaRPr>
          </a:p>
          <a:p>
            <a:pPr marL="457200" lvl="0" indent="-298450" algn="l" rtl="0">
              <a:spcBef>
                <a:spcPts val="600"/>
              </a:spcBef>
              <a:spcAft>
                <a:spcPts val="0"/>
              </a:spcAft>
              <a:buClr>
                <a:srgbClr val="1A2332"/>
              </a:buClr>
              <a:buSzPts val="1100"/>
              <a:buFont typeface="Calibri"/>
              <a:buChar char="●"/>
            </a:pPr>
            <a:r>
              <a:rPr lang="en-US" sz="1100">
                <a:solidFill>
                  <a:srgbClr val="1A2332"/>
                </a:solidFill>
                <a:latin typeface="Calibri"/>
                <a:ea typeface="Calibri"/>
                <a:cs typeface="Calibri"/>
                <a:sym typeface="Calibri"/>
              </a:rPr>
              <a:t>Web örüntülerinde </a:t>
            </a:r>
            <a:r>
              <a:rPr lang="en-US" sz="1100" b="1">
                <a:solidFill>
                  <a:srgbClr val="1A2332"/>
                </a:solidFill>
                <a:latin typeface="Calibri"/>
                <a:ea typeface="Calibri"/>
                <a:cs typeface="Calibri"/>
                <a:sym typeface="Calibri"/>
              </a:rPr>
              <a:t>BigVul/Fenrir</a:t>
            </a:r>
            <a:r>
              <a:rPr lang="en-US" sz="1100">
                <a:solidFill>
                  <a:srgbClr val="1A2332"/>
                </a:solidFill>
                <a:latin typeface="Calibri"/>
                <a:ea typeface="Calibri"/>
                <a:cs typeface="Calibri"/>
                <a:sym typeface="Calibri"/>
              </a:rPr>
              <a:t> baskın etkisi.</a:t>
            </a:r>
            <a:endParaRPr sz="1100">
              <a:solidFill>
                <a:srgbClr val="1A2332"/>
              </a:solidFill>
              <a:latin typeface="Calibri"/>
              <a:ea typeface="Calibri"/>
              <a:cs typeface="Calibri"/>
              <a:sym typeface="Calibri"/>
            </a:endParaRPr>
          </a:p>
          <a:p>
            <a:pPr marL="457200" lvl="0" indent="-298450" algn="l" rtl="0">
              <a:spcBef>
                <a:spcPts val="300"/>
              </a:spcBef>
              <a:spcAft>
                <a:spcPts val="0"/>
              </a:spcAft>
              <a:buClr>
                <a:srgbClr val="1A2332"/>
              </a:buClr>
              <a:buSzPts val="1100"/>
              <a:buFont typeface="Calibri"/>
              <a:buChar char="●"/>
            </a:pPr>
            <a:r>
              <a:rPr lang="en-US" sz="1100">
                <a:solidFill>
                  <a:srgbClr val="1A2332"/>
                </a:solidFill>
                <a:latin typeface="Calibri"/>
                <a:ea typeface="Calibri"/>
                <a:cs typeface="Calibri"/>
                <a:sym typeface="Calibri"/>
              </a:rPr>
              <a:t>Küçük veri seti nedeniyle duyarlılık düştü.</a:t>
            </a:r>
            <a:endParaRPr sz="1100">
              <a:solidFill>
                <a:srgbClr val="1A2332"/>
              </a:solidFill>
              <a:latin typeface="Calibri"/>
              <a:ea typeface="Calibri"/>
              <a:cs typeface="Calibri"/>
              <a:sym typeface="Calibri"/>
            </a:endParaRPr>
          </a:p>
          <a:p>
            <a:pPr marL="457200" lvl="0" indent="-298450" algn="l" rtl="0">
              <a:spcBef>
                <a:spcPts val="600"/>
              </a:spcBef>
              <a:spcAft>
                <a:spcPts val="300"/>
              </a:spcAft>
              <a:buClr>
                <a:srgbClr val="1A2332"/>
              </a:buClr>
              <a:buSzPts val="1100"/>
              <a:buFont typeface="Calibri"/>
              <a:buChar char="●"/>
            </a:pPr>
            <a:r>
              <a:rPr lang="en-US" sz="1100">
                <a:solidFill>
                  <a:srgbClr val="1A2332"/>
                </a:solidFill>
                <a:latin typeface="Calibri"/>
                <a:ea typeface="Calibri"/>
                <a:cs typeface="Calibri"/>
                <a:sym typeface="Calibri"/>
              </a:rPr>
              <a:t>Semantik benzerlik artışı ile içerik kalitesi korundu.</a:t>
            </a:r>
            <a:endParaRPr sz="1100">
              <a:solidFill>
                <a:srgbClr val="1A2332"/>
              </a:solidFill>
              <a:latin typeface="Calibri"/>
              <a:ea typeface="Calibri"/>
              <a:cs typeface="Calibri"/>
              <a:sym typeface="Calibri"/>
            </a:endParaRPr>
          </a:p>
        </p:txBody>
      </p:sp>
      <p:pic>
        <p:nvPicPr>
          <p:cNvPr id="275" name="Google Shape;275;p14"/>
          <p:cNvPicPr preferRelativeResize="0"/>
          <p:nvPr/>
        </p:nvPicPr>
        <p:blipFill>
          <a:blip r:embed="rId3">
            <a:alphaModFix/>
          </a:blip>
          <a:stretch>
            <a:fillRect/>
          </a:stretch>
        </p:blipFill>
        <p:spPr>
          <a:xfrm>
            <a:off x="152400" y="1107948"/>
            <a:ext cx="5775959" cy="379929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0"/>
        <p:cNvGrpSpPr/>
        <p:nvPr/>
      </p:nvGrpSpPr>
      <p:grpSpPr>
        <a:xfrm>
          <a:off x="0" y="0"/>
          <a:ext cx="0" cy="0"/>
          <a:chOff x="0" y="0"/>
          <a:chExt cx="0" cy="0"/>
        </a:xfrm>
      </p:grpSpPr>
      <p:sp>
        <p:nvSpPr>
          <p:cNvPr id="281" name="Google Shape;281;p15"/>
          <p:cNvSpPr/>
          <p:nvPr/>
        </p:nvSpPr>
        <p:spPr>
          <a:xfrm>
            <a:off x="457200" y="201168"/>
            <a:ext cx="822960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A1628"/>
              </a:buClr>
              <a:buSzPts val="2800"/>
              <a:buFont typeface="Calibri"/>
              <a:buNone/>
            </a:pPr>
            <a:r>
              <a:rPr lang="en-US" sz="2800" b="1" i="0" u="none" strike="noStrike" cap="none">
                <a:solidFill>
                  <a:srgbClr val="0A1628"/>
                </a:solidFill>
                <a:latin typeface="Calibri"/>
                <a:ea typeface="Calibri"/>
                <a:cs typeface="Calibri"/>
                <a:sym typeface="Calibri"/>
              </a:rPr>
              <a:t>Sonuçlar: Fenrir-v2.1 Veri Seti</a:t>
            </a:r>
            <a:endParaRPr sz="2800" b="0" i="0" u="none" strike="noStrike" cap="none">
              <a:solidFill>
                <a:schemeClr val="dk1"/>
              </a:solidFill>
              <a:latin typeface="Calibri"/>
              <a:ea typeface="Calibri"/>
              <a:cs typeface="Calibri"/>
              <a:sym typeface="Calibri"/>
            </a:endParaRPr>
          </a:p>
        </p:txBody>
      </p:sp>
      <p:sp>
        <p:nvSpPr>
          <p:cNvPr id="282" name="Google Shape;282;p15"/>
          <p:cNvSpPr/>
          <p:nvPr/>
        </p:nvSpPr>
        <p:spPr>
          <a:xfrm>
            <a:off x="457200" y="932688"/>
            <a:ext cx="8229600" cy="22860"/>
          </a:xfrm>
          <a:prstGeom prst="rect">
            <a:avLst/>
          </a:prstGeom>
          <a:solidFill>
            <a:srgbClr val="DBEA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5"/>
          <p:cNvSpPr/>
          <p:nvPr/>
        </p:nvSpPr>
        <p:spPr>
          <a:xfrm>
            <a:off x="6080760" y="1115568"/>
            <a:ext cx="2697480" cy="749808"/>
          </a:xfrm>
          <a:prstGeom prst="roundRect">
            <a:avLst>
              <a:gd name="adj" fmla="val 9756"/>
            </a:avLst>
          </a:prstGeom>
          <a:solidFill>
            <a:srgbClr val="F5F3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5"/>
          <p:cNvSpPr/>
          <p:nvPr/>
        </p:nvSpPr>
        <p:spPr>
          <a:xfrm>
            <a:off x="6126480" y="1152144"/>
            <a:ext cx="1188720" cy="65836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7C3AED"/>
              </a:buClr>
              <a:buSzPts val="2200"/>
              <a:buFont typeface="Calibri"/>
              <a:buNone/>
            </a:pPr>
            <a:r>
              <a:rPr lang="en-US" sz="2200" b="1" i="0" u="none" strike="noStrike" cap="none">
                <a:solidFill>
                  <a:srgbClr val="7C3AED"/>
                </a:solidFill>
                <a:latin typeface="Calibri"/>
                <a:ea typeface="Calibri"/>
                <a:cs typeface="Calibri"/>
                <a:sym typeface="Calibri"/>
              </a:rPr>
              <a:t>+11.0%</a:t>
            </a:r>
            <a:endParaRPr sz="2200" b="0" i="0" u="none" strike="noStrike" cap="none">
              <a:solidFill>
                <a:schemeClr val="dk1"/>
              </a:solidFill>
              <a:latin typeface="Calibri"/>
              <a:ea typeface="Calibri"/>
              <a:cs typeface="Calibri"/>
              <a:sym typeface="Calibri"/>
            </a:endParaRPr>
          </a:p>
        </p:txBody>
      </p:sp>
      <p:sp>
        <p:nvSpPr>
          <p:cNvPr id="285" name="Google Shape;285;p15"/>
          <p:cNvSpPr/>
          <p:nvPr/>
        </p:nvSpPr>
        <p:spPr>
          <a:xfrm>
            <a:off x="7315200" y="1188720"/>
            <a:ext cx="1371600" cy="5943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332"/>
              </a:buClr>
              <a:buSzPts val="1200"/>
              <a:buFont typeface="Calibri"/>
              <a:buNone/>
            </a:pPr>
            <a:r>
              <a:rPr lang="en-US" sz="1200" b="0" i="0" u="none" strike="noStrike" cap="none">
                <a:solidFill>
                  <a:srgbClr val="1A2332"/>
                </a:solidFill>
                <a:latin typeface="Calibri"/>
                <a:ea typeface="Calibri"/>
                <a:cs typeface="Calibri"/>
                <a:sym typeface="Calibri"/>
              </a:rPr>
              <a:t>Accuracy</a:t>
            </a:r>
            <a:endParaRPr sz="1200" b="0" i="0" u="none" strike="noStrike" cap="none">
              <a:solidFill>
                <a:schemeClr val="dk1"/>
              </a:solidFill>
              <a:latin typeface="Calibri"/>
              <a:ea typeface="Calibri"/>
              <a:cs typeface="Calibri"/>
              <a:sym typeface="Calibri"/>
            </a:endParaRPr>
          </a:p>
        </p:txBody>
      </p:sp>
      <p:sp>
        <p:nvSpPr>
          <p:cNvPr id="286" name="Google Shape;286;p15"/>
          <p:cNvSpPr/>
          <p:nvPr/>
        </p:nvSpPr>
        <p:spPr>
          <a:xfrm>
            <a:off x="6080760" y="2011680"/>
            <a:ext cx="2697480" cy="749808"/>
          </a:xfrm>
          <a:prstGeom prst="roundRect">
            <a:avLst>
              <a:gd name="adj" fmla="val 9756"/>
            </a:avLst>
          </a:prstGeom>
          <a:solidFill>
            <a:srgbClr val="F5F3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5"/>
          <p:cNvSpPr/>
          <p:nvPr/>
        </p:nvSpPr>
        <p:spPr>
          <a:xfrm>
            <a:off x="6126480" y="2048256"/>
            <a:ext cx="1188720" cy="65836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7C3AED"/>
              </a:buClr>
              <a:buSzPts val="2200"/>
              <a:buFont typeface="Calibri"/>
              <a:buNone/>
            </a:pPr>
            <a:r>
              <a:rPr lang="en-US" sz="2200" b="1" i="0" u="none" strike="noStrike" cap="none">
                <a:solidFill>
                  <a:srgbClr val="7C3AED"/>
                </a:solidFill>
                <a:latin typeface="Calibri"/>
                <a:ea typeface="Calibri"/>
                <a:cs typeface="Calibri"/>
                <a:sym typeface="Calibri"/>
              </a:rPr>
              <a:t>+14.3%</a:t>
            </a:r>
            <a:endParaRPr sz="2200" b="0" i="0" u="none" strike="noStrike" cap="none">
              <a:solidFill>
                <a:schemeClr val="dk1"/>
              </a:solidFill>
              <a:latin typeface="Calibri"/>
              <a:ea typeface="Calibri"/>
              <a:cs typeface="Calibri"/>
              <a:sym typeface="Calibri"/>
            </a:endParaRPr>
          </a:p>
        </p:txBody>
      </p:sp>
      <p:sp>
        <p:nvSpPr>
          <p:cNvPr id="288" name="Google Shape;288;p15"/>
          <p:cNvSpPr/>
          <p:nvPr/>
        </p:nvSpPr>
        <p:spPr>
          <a:xfrm>
            <a:off x="7315200" y="2084832"/>
            <a:ext cx="1371600" cy="5943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332"/>
              </a:buClr>
              <a:buSzPts val="1200"/>
              <a:buFont typeface="Calibri"/>
              <a:buNone/>
            </a:pPr>
            <a:r>
              <a:rPr lang="en-US" sz="1200" b="0" i="0" u="none" strike="noStrike" cap="none">
                <a:solidFill>
                  <a:srgbClr val="1A2332"/>
                </a:solidFill>
                <a:latin typeface="Calibri"/>
                <a:ea typeface="Calibri"/>
                <a:cs typeface="Calibri"/>
                <a:sym typeface="Calibri"/>
              </a:rPr>
              <a:t>Recall</a:t>
            </a:r>
            <a:endParaRPr sz="1200" b="0" i="0" u="none" strike="noStrike" cap="none">
              <a:solidFill>
                <a:schemeClr val="dk1"/>
              </a:solidFill>
              <a:latin typeface="Calibri"/>
              <a:ea typeface="Calibri"/>
              <a:cs typeface="Calibri"/>
              <a:sym typeface="Calibri"/>
            </a:endParaRPr>
          </a:p>
        </p:txBody>
      </p:sp>
      <p:sp>
        <p:nvSpPr>
          <p:cNvPr id="289" name="Google Shape;289;p15"/>
          <p:cNvSpPr/>
          <p:nvPr/>
        </p:nvSpPr>
        <p:spPr>
          <a:xfrm>
            <a:off x="6080760" y="2907792"/>
            <a:ext cx="2697480" cy="749808"/>
          </a:xfrm>
          <a:prstGeom prst="roundRect">
            <a:avLst>
              <a:gd name="adj" fmla="val 9756"/>
            </a:avLst>
          </a:prstGeom>
          <a:solidFill>
            <a:srgbClr val="F5F3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5"/>
          <p:cNvSpPr/>
          <p:nvPr/>
        </p:nvSpPr>
        <p:spPr>
          <a:xfrm>
            <a:off x="6126480" y="2944368"/>
            <a:ext cx="1188720" cy="65836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7C3AED"/>
              </a:buClr>
              <a:buSzPts val="2200"/>
              <a:buFont typeface="Calibri"/>
              <a:buNone/>
            </a:pPr>
            <a:r>
              <a:rPr lang="en-US" sz="2200" b="1" i="0" u="none" strike="noStrike" cap="none">
                <a:solidFill>
                  <a:srgbClr val="7C3AED"/>
                </a:solidFill>
                <a:latin typeface="Calibri"/>
                <a:ea typeface="Calibri"/>
                <a:cs typeface="Calibri"/>
                <a:sym typeface="Calibri"/>
              </a:rPr>
              <a:t>+29.7%</a:t>
            </a:r>
            <a:endParaRPr sz="2200" b="0" i="0" u="none" strike="noStrike" cap="none">
              <a:solidFill>
                <a:schemeClr val="dk1"/>
              </a:solidFill>
              <a:latin typeface="Calibri"/>
              <a:ea typeface="Calibri"/>
              <a:cs typeface="Calibri"/>
              <a:sym typeface="Calibri"/>
            </a:endParaRPr>
          </a:p>
        </p:txBody>
      </p:sp>
      <p:sp>
        <p:nvSpPr>
          <p:cNvPr id="291" name="Google Shape;291;p15"/>
          <p:cNvSpPr/>
          <p:nvPr/>
        </p:nvSpPr>
        <p:spPr>
          <a:xfrm>
            <a:off x="7315200" y="2980944"/>
            <a:ext cx="1371600" cy="5943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332"/>
              </a:buClr>
              <a:buSzPts val="1200"/>
              <a:buFont typeface="Calibri"/>
              <a:buNone/>
            </a:pPr>
            <a:r>
              <a:rPr lang="en-US" sz="1200" b="0" i="0" u="none" strike="noStrike" cap="none">
                <a:solidFill>
                  <a:srgbClr val="1A2332"/>
                </a:solidFill>
                <a:latin typeface="Calibri"/>
                <a:ea typeface="Calibri"/>
                <a:cs typeface="Calibri"/>
                <a:sym typeface="Calibri"/>
              </a:rPr>
              <a:t>ROUGE-L</a:t>
            </a:r>
            <a:endParaRPr sz="1200" b="0" i="0" u="none" strike="noStrike" cap="none">
              <a:solidFill>
                <a:schemeClr val="dk1"/>
              </a:solidFill>
              <a:latin typeface="Calibri"/>
              <a:ea typeface="Calibri"/>
              <a:cs typeface="Calibri"/>
              <a:sym typeface="Calibri"/>
            </a:endParaRPr>
          </a:p>
        </p:txBody>
      </p:sp>
      <p:sp>
        <p:nvSpPr>
          <p:cNvPr id="292" name="Google Shape;292;p15"/>
          <p:cNvSpPr/>
          <p:nvPr/>
        </p:nvSpPr>
        <p:spPr>
          <a:xfrm>
            <a:off x="6080760" y="3803904"/>
            <a:ext cx="2697480" cy="749808"/>
          </a:xfrm>
          <a:prstGeom prst="roundRect">
            <a:avLst>
              <a:gd name="adj" fmla="val 9756"/>
            </a:avLst>
          </a:prstGeom>
          <a:solidFill>
            <a:srgbClr val="F5F3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5"/>
          <p:cNvSpPr/>
          <p:nvPr/>
        </p:nvSpPr>
        <p:spPr>
          <a:xfrm>
            <a:off x="6126480" y="3840480"/>
            <a:ext cx="1188720" cy="65836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7C3AED"/>
              </a:buClr>
              <a:buSzPts val="2200"/>
              <a:buFont typeface="Calibri"/>
              <a:buNone/>
            </a:pPr>
            <a:r>
              <a:rPr lang="en-US" sz="2200" b="1" i="0" u="none" strike="noStrike" cap="none">
                <a:solidFill>
                  <a:srgbClr val="7C3AED"/>
                </a:solidFill>
                <a:latin typeface="Calibri"/>
                <a:ea typeface="Calibri"/>
                <a:cs typeface="Calibri"/>
                <a:sym typeface="Calibri"/>
              </a:rPr>
              <a:t>+18.8%</a:t>
            </a:r>
            <a:endParaRPr sz="2200" b="0" i="0" u="none" strike="noStrike" cap="none">
              <a:solidFill>
                <a:schemeClr val="dk1"/>
              </a:solidFill>
              <a:latin typeface="Calibri"/>
              <a:ea typeface="Calibri"/>
              <a:cs typeface="Calibri"/>
              <a:sym typeface="Calibri"/>
            </a:endParaRPr>
          </a:p>
        </p:txBody>
      </p:sp>
      <p:sp>
        <p:nvSpPr>
          <p:cNvPr id="294" name="Google Shape;294;p15"/>
          <p:cNvSpPr/>
          <p:nvPr/>
        </p:nvSpPr>
        <p:spPr>
          <a:xfrm>
            <a:off x="7315200" y="3877056"/>
            <a:ext cx="1371600" cy="5943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332"/>
              </a:buClr>
              <a:buSzPts val="1200"/>
              <a:buFont typeface="Calibri"/>
              <a:buNone/>
            </a:pPr>
            <a:r>
              <a:rPr lang="en-US" sz="1200" b="0" i="0" u="none" strike="noStrike" cap="none">
                <a:solidFill>
                  <a:srgbClr val="1A2332"/>
                </a:solidFill>
                <a:latin typeface="Calibri"/>
                <a:ea typeface="Calibri"/>
                <a:cs typeface="Calibri"/>
                <a:sym typeface="Calibri"/>
              </a:rPr>
              <a:t>Semantic</a:t>
            </a:r>
            <a:endParaRPr sz="1200" b="0" i="0" u="none" strike="noStrike" cap="none">
              <a:solidFill>
                <a:schemeClr val="dk1"/>
              </a:solidFill>
              <a:latin typeface="Calibri"/>
              <a:ea typeface="Calibri"/>
              <a:cs typeface="Calibri"/>
              <a:sym typeface="Calibri"/>
            </a:endParaRPr>
          </a:p>
        </p:txBody>
      </p:sp>
      <p:pic>
        <p:nvPicPr>
          <p:cNvPr id="295" name="Google Shape;295;p15"/>
          <p:cNvPicPr preferRelativeResize="0"/>
          <p:nvPr/>
        </p:nvPicPr>
        <p:blipFill>
          <a:blip r:embed="rId3">
            <a:alphaModFix/>
          </a:blip>
          <a:stretch>
            <a:fillRect/>
          </a:stretch>
        </p:blipFill>
        <p:spPr>
          <a:xfrm>
            <a:off x="152400" y="1107948"/>
            <a:ext cx="5775959" cy="379929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0"/>
        <p:cNvGrpSpPr/>
        <p:nvPr/>
      </p:nvGrpSpPr>
      <p:grpSpPr>
        <a:xfrm>
          <a:off x="0" y="0"/>
          <a:ext cx="0" cy="0"/>
          <a:chOff x="0" y="0"/>
          <a:chExt cx="0" cy="0"/>
        </a:xfrm>
      </p:grpSpPr>
      <p:sp>
        <p:nvSpPr>
          <p:cNvPr id="301" name="Google Shape;301;p16"/>
          <p:cNvSpPr/>
          <p:nvPr/>
        </p:nvSpPr>
        <p:spPr>
          <a:xfrm>
            <a:off x="457200" y="201168"/>
            <a:ext cx="822960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A1628"/>
              </a:buClr>
              <a:buSzPts val="2800"/>
              <a:buFont typeface="Calibri"/>
              <a:buNone/>
            </a:pPr>
            <a:r>
              <a:rPr lang="en-US" sz="2800" b="1" i="0" u="none" strike="noStrike" cap="none">
                <a:solidFill>
                  <a:srgbClr val="0A1628"/>
                </a:solidFill>
                <a:latin typeface="Calibri"/>
                <a:ea typeface="Calibri"/>
                <a:cs typeface="Calibri"/>
                <a:sym typeface="Calibri"/>
              </a:rPr>
              <a:t>Genel Karşılaştırma</a:t>
            </a:r>
            <a:endParaRPr sz="2800" b="0" i="0" u="none" strike="noStrike" cap="none">
              <a:solidFill>
                <a:schemeClr val="dk1"/>
              </a:solidFill>
              <a:latin typeface="Calibri"/>
              <a:ea typeface="Calibri"/>
              <a:cs typeface="Calibri"/>
              <a:sym typeface="Calibri"/>
            </a:endParaRPr>
          </a:p>
        </p:txBody>
      </p:sp>
      <p:sp>
        <p:nvSpPr>
          <p:cNvPr id="302" name="Google Shape;302;p16"/>
          <p:cNvSpPr/>
          <p:nvPr/>
        </p:nvSpPr>
        <p:spPr>
          <a:xfrm>
            <a:off x="457200" y="932688"/>
            <a:ext cx="8229600" cy="22860"/>
          </a:xfrm>
          <a:prstGeom prst="rect">
            <a:avLst/>
          </a:prstGeom>
          <a:solidFill>
            <a:srgbClr val="DBEA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303" name="Google Shape;303;p16"/>
          <p:cNvGraphicFramePr/>
          <p:nvPr/>
        </p:nvGraphicFramePr>
        <p:xfrm>
          <a:off x="457200" y="1051560"/>
          <a:ext cx="8229600" cy="3200400"/>
        </p:xfrm>
        <a:graphic>
          <a:graphicData uri="http://schemas.openxmlformats.org/drawingml/2006/table">
            <a:tbl>
              <a:tblPr>
                <a:noFill/>
                <a:tableStyleId>{B596FA54-F9A0-43AD-BEA4-D8A777AA7D07}</a:tableStyleId>
              </a:tblPr>
              <a:tblGrid>
                <a:gridCol w="1645925">
                  <a:extLst>
                    <a:ext uri="{9D8B030D-6E8A-4147-A177-3AD203B41FA5}">
                      <a16:colId xmlns:a16="http://schemas.microsoft.com/office/drawing/2014/main" val="20000"/>
                    </a:ext>
                  </a:extLst>
                </a:gridCol>
                <a:gridCol w="2103125">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194550">
                  <a:extLst>
                    <a:ext uri="{9D8B030D-6E8A-4147-A177-3AD203B41FA5}">
                      <a16:colId xmlns:a16="http://schemas.microsoft.com/office/drawing/2014/main" val="20003"/>
                    </a:ext>
                  </a:extLst>
                </a:gridCol>
              </a:tblGrid>
              <a:tr h="457200">
                <a:tc>
                  <a:txBody>
                    <a:bodyPr/>
                    <a:lstStyle/>
                    <a:p>
                      <a:pPr marL="0" marR="0" lvl="0" indent="0" algn="l" rtl="0">
                        <a:spcBef>
                          <a:spcPts val="0"/>
                        </a:spcBef>
                        <a:spcAft>
                          <a:spcPts val="0"/>
                        </a:spcAft>
                        <a:buClr>
                          <a:srgbClr val="FFFFFF"/>
                        </a:buClr>
                        <a:buSzPts val="1200"/>
                        <a:buFont typeface="Calibri"/>
                        <a:buNone/>
                      </a:pPr>
                      <a:r>
                        <a:rPr lang="en-US" sz="1200" b="1" u="none" strike="noStrike" cap="none">
                          <a:solidFill>
                            <a:srgbClr val="FFFFFF"/>
                          </a:solidFill>
                          <a:latin typeface="Calibri"/>
                          <a:ea typeface="Calibri"/>
                          <a:cs typeface="Calibri"/>
                          <a:sym typeface="Calibri"/>
                        </a:rPr>
                        <a:t>Metrik</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0A1628"/>
                    </a:solidFill>
                  </a:tcPr>
                </a:tc>
                <a:tc>
                  <a:txBody>
                    <a:bodyPr/>
                    <a:lstStyle/>
                    <a:p>
                      <a:pPr marL="0" marR="0" lvl="0" indent="0" algn="ctr" rtl="0">
                        <a:spcBef>
                          <a:spcPts val="0"/>
                        </a:spcBef>
                        <a:spcAft>
                          <a:spcPts val="0"/>
                        </a:spcAft>
                        <a:buClr>
                          <a:srgbClr val="FFFFFF"/>
                        </a:buClr>
                        <a:buSzPts val="1200"/>
                        <a:buFont typeface="Calibri"/>
                        <a:buNone/>
                      </a:pPr>
                      <a:r>
                        <a:rPr lang="en-US" sz="1200" b="1" u="none" strike="noStrike" cap="none">
                          <a:solidFill>
                            <a:srgbClr val="FFFFFF"/>
                          </a:solidFill>
                          <a:latin typeface="Calibri"/>
                          <a:ea typeface="Calibri"/>
                          <a:cs typeface="Calibri"/>
                          <a:sym typeface="Calibri"/>
                        </a:rPr>
                        <a:t>BigVul</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0A7EC2"/>
                    </a:solidFill>
                  </a:tcPr>
                </a:tc>
                <a:tc>
                  <a:txBody>
                    <a:bodyPr/>
                    <a:lstStyle/>
                    <a:p>
                      <a:pPr marL="0" marR="0" lvl="0" indent="0" algn="ctr" rtl="0">
                        <a:spcBef>
                          <a:spcPts val="0"/>
                        </a:spcBef>
                        <a:spcAft>
                          <a:spcPts val="0"/>
                        </a:spcAft>
                        <a:buClr>
                          <a:srgbClr val="FFFFFF"/>
                        </a:buClr>
                        <a:buSzPts val="1200"/>
                        <a:buFont typeface="Calibri"/>
                        <a:buNone/>
                      </a:pPr>
                      <a:r>
                        <a:rPr lang="en-US" sz="1200" b="1" u="none" strike="noStrike" cap="none">
                          <a:solidFill>
                            <a:srgbClr val="FFFFFF"/>
                          </a:solidFill>
                          <a:latin typeface="Calibri"/>
                          <a:ea typeface="Calibri"/>
                          <a:cs typeface="Calibri"/>
                          <a:sym typeface="Calibri"/>
                        </a:rPr>
                        <a:t>SecureCode-Web</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D97706"/>
                    </a:solidFill>
                  </a:tcPr>
                </a:tc>
                <a:tc>
                  <a:txBody>
                    <a:bodyPr/>
                    <a:lstStyle/>
                    <a:p>
                      <a:pPr marL="0" marR="0" lvl="0" indent="0" algn="ctr" rtl="0">
                        <a:spcBef>
                          <a:spcPts val="0"/>
                        </a:spcBef>
                        <a:spcAft>
                          <a:spcPts val="0"/>
                        </a:spcAft>
                        <a:buClr>
                          <a:srgbClr val="FFFFFF"/>
                        </a:buClr>
                        <a:buSzPts val="1200"/>
                        <a:buFont typeface="Calibri"/>
                        <a:buNone/>
                      </a:pPr>
                      <a:r>
                        <a:rPr lang="en-US" sz="1200" b="1" u="none" strike="noStrike" cap="none">
                          <a:solidFill>
                            <a:srgbClr val="FFFFFF"/>
                          </a:solidFill>
                          <a:latin typeface="Calibri"/>
                          <a:ea typeface="Calibri"/>
                          <a:cs typeface="Calibri"/>
                          <a:sym typeface="Calibri"/>
                        </a:rPr>
                        <a:t>Fenrir-v2.1</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7C3AED"/>
                    </a:solidFill>
                  </a:tcPr>
                </a:tc>
                <a:extLst>
                  <a:ext uri="{0D108BD9-81ED-4DB2-BD59-A6C34878D82A}">
                    <a16:rowId xmlns:a16="http://schemas.microsoft.com/office/drawing/2014/main" val="10000"/>
                  </a:ext>
                </a:extLst>
              </a:tr>
              <a:tr h="457200">
                <a:tc>
                  <a:txBody>
                    <a:bodyPr/>
                    <a:lstStyle/>
                    <a:p>
                      <a:pPr marL="0" marR="0" lvl="0" indent="0" algn="l" rtl="0">
                        <a:spcBef>
                          <a:spcPts val="0"/>
                        </a:spcBef>
                        <a:spcAft>
                          <a:spcPts val="0"/>
                        </a:spcAft>
                        <a:buClr>
                          <a:srgbClr val="1A2332"/>
                        </a:buClr>
                        <a:buSzPts val="1200"/>
                        <a:buFont typeface="Calibri"/>
                        <a:buNone/>
                      </a:pPr>
                      <a:r>
                        <a:rPr lang="en-US" sz="1200" u="none" strike="noStrike" cap="none">
                          <a:solidFill>
                            <a:srgbClr val="1A2332"/>
                          </a:solidFill>
                          <a:latin typeface="Calibri"/>
                          <a:ea typeface="Calibri"/>
                          <a:cs typeface="Calibri"/>
                          <a:sym typeface="Calibri"/>
                        </a:rPr>
                        <a:t>Accuracy</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tc>
                  <a:txBody>
                    <a:bodyPr/>
                    <a:lstStyle/>
                    <a:p>
                      <a:pPr marL="0" marR="0" lvl="0" indent="0" algn="ctr" rtl="0">
                        <a:spcBef>
                          <a:spcPts val="0"/>
                        </a:spcBef>
                        <a:spcAft>
                          <a:spcPts val="0"/>
                        </a:spcAft>
                        <a:buClr>
                          <a:srgbClr val="059669"/>
                        </a:buClr>
                        <a:buSzPts val="1200"/>
                        <a:buFont typeface="Calibri"/>
                        <a:buNone/>
                      </a:pPr>
                      <a:r>
                        <a:rPr lang="en-US" sz="1200" b="1" u="none" strike="noStrike" cap="none">
                          <a:solidFill>
                            <a:srgbClr val="059669"/>
                          </a:solidFill>
                          <a:latin typeface="Calibri"/>
                          <a:ea typeface="Calibri"/>
                          <a:cs typeface="Calibri"/>
                          <a:sym typeface="Calibri"/>
                        </a:rPr>
                        <a:t>+40.4% ↑</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tc>
                  <a:txBody>
                    <a:bodyPr/>
                    <a:lstStyle/>
                    <a:p>
                      <a:pPr marL="0" marR="0" lvl="0" indent="0" algn="ctr" rtl="0">
                        <a:spcBef>
                          <a:spcPts val="0"/>
                        </a:spcBef>
                        <a:spcAft>
                          <a:spcPts val="0"/>
                        </a:spcAft>
                        <a:buClr>
                          <a:srgbClr val="DC2626"/>
                        </a:buClr>
                        <a:buSzPts val="1200"/>
                        <a:buFont typeface="Calibri"/>
                        <a:buNone/>
                      </a:pPr>
                      <a:r>
                        <a:rPr lang="en-US" sz="1200" b="1" u="none" strike="noStrike" cap="none">
                          <a:solidFill>
                            <a:srgbClr val="DC2626"/>
                          </a:solidFill>
                          <a:latin typeface="Calibri"/>
                          <a:ea typeface="Calibri"/>
                          <a:cs typeface="Calibri"/>
                          <a:sym typeface="Calibri"/>
                        </a:rPr>
                        <a:t>-9.8% ↓</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tc>
                  <a:txBody>
                    <a:bodyPr/>
                    <a:lstStyle/>
                    <a:p>
                      <a:pPr marL="0" marR="0" lvl="0" indent="0" algn="ctr" rtl="0">
                        <a:spcBef>
                          <a:spcPts val="0"/>
                        </a:spcBef>
                        <a:spcAft>
                          <a:spcPts val="0"/>
                        </a:spcAft>
                        <a:buClr>
                          <a:srgbClr val="059669"/>
                        </a:buClr>
                        <a:buSzPts val="1200"/>
                        <a:buFont typeface="Calibri"/>
                        <a:buNone/>
                      </a:pPr>
                      <a:r>
                        <a:rPr lang="en-US" sz="1200" b="1" u="none" strike="noStrike" cap="none">
                          <a:solidFill>
                            <a:srgbClr val="059669"/>
                          </a:solidFill>
                          <a:latin typeface="Calibri"/>
                          <a:ea typeface="Calibri"/>
                          <a:cs typeface="Calibri"/>
                          <a:sym typeface="Calibri"/>
                        </a:rPr>
                        <a:t>+11.0% ↑</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extLst>
                  <a:ext uri="{0D108BD9-81ED-4DB2-BD59-A6C34878D82A}">
                    <a16:rowId xmlns:a16="http://schemas.microsoft.com/office/drawing/2014/main" val="10001"/>
                  </a:ext>
                </a:extLst>
              </a:tr>
              <a:tr h="457200">
                <a:tc>
                  <a:txBody>
                    <a:bodyPr/>
                    <a:lstStyle/>
                    <a:p>
                      <a:pPr marL="0" marR="0" lvl="0" indent="0" algn="l" rtl="0">
                        <a:spcBef>
                          <a:spcPts val="0"/>
                        </a:spcBef>
                        <a:spcAft>
                          <a:spcPts val="0"/>
                        </a:spcAft>
                        <a:buClr>
                          <a:srgbClr val="1A2332"/>
                        </a:buClr>
                        <a:buSzPts val="1200"/>
                        <a:buFont typeface="Calibri"/>
                        <a:buNone/>
                      </a:pPr>
                      <a:r>
                        <a:rPr lang="en-US" sz="1200" u="none" strike="noStrike" cap="none">
                          <a:solidFill>
                            <a:srgbClr val="1A2332"/>
                          </a:solidFill>
                          <a:latin typeface="Calibri"/>
                          <a:ea typeface="Calibri"/>
                          <a:cs typeface="Calibri"/>
                          <a:sym typeface="Calibri"/>
                        </a:rPr>
                        <a:t>F1-Score</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tcPr>
                </a:tc>
                <a:tc>
                  <a:txBody>
                    <a:bodyPr/>
                    <a:lstStyle/>
                    <a:p>
                      <a:pPr marL="0" marR="0" lvl="0" indent="0" algn="ctr" rtl="0">
                        <a:spcBef>
                          <a:spcPts val="0"/>
                        </a:spcBef>
                        <a:spcAft>
                          <a:spcPts val="0"/>
                        </a:spcAft>
                        <a:buClr>
                          <a:srgbClr val="059669"/>
                        </a:buClr>
                        <a:buSzPts val="1200"/>
                        <a:buFont typeface="Calibri"/>
                        <a:buNone/>
                      </a:pPr>
                      <a:r>
                        <a:rPr lang="en-US" sz="1200" b="1" u="none" strike="noStrike" cap="none">
                          <a:solidFill>
                            <a:srgbClr val="059669"/>
                          </a:solidFill>
                          <a:latin typeface="Calibri"/>
                          <a:ea typeface="Calibri"/>
                          <a:cs typeface="Calibri"/>
                          <a:sym typeface="Calibri"/>
                        </a:rPr>
                        <a:t>0→0.90 ↑</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tcPr>
                </a:tc>
                <a:tc>
                  <a:txBody>
                    <a:bodyPr/>
                    <a:lstStyle/>
                    <a:p>
                      <a:pPr marL="0" marR="0" lvl="0" indent="0" algn="ctr" rtl="0">
                        <a:spcBef>
                          <a:spcPts val="0"/>
                        </a:spcBef>
                        <a:spcAft>
                          <a:spcPts val="0"/>
                        </a:spcAft>
                        <a:buClr>
                          <a:srgbClr val="DC2626"/>
                        </a:buClr>
                        <a:buSzPts val="1200"/>
                        <a:buFont typeface="Calibri"/>
                        <a:buNone/>
                      </a:pPr>
                      <a:r>
                        <a:rPr lang="en-US" sz="1200" b="1" u="none" strike="noStrike" cap="none">
                          <a:solidFill>
                            <a:srgbClr val="DC2626"/>
                          </a:solidFill>
                          <a:latin typeface="Calibri"/>
                          <a:ea typeface="Calibri"/>
                          <a:cs typeface="Calibri"/>
                          <a:sym typeface="Calibri"/>
                        </a:rPr>
                        <a:t>-5.9% ↓</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tcPr>
                </a:tc>
                <a:tc>
                  <a:txBody>
                    <a:bodyPr/>
                    <a:lstStyle/>
                    <a:p>
                      <a:pPr marL="0" marR="0" lvl="0" indent="0" algn="ctr" rtl="0">
                        <a:spcBef>
                          <a:spcPts val="0"/>
                        </a:spcBef>
                        <a:spcAft>
                          <a:spcPts val="0"/>
                        </a:spcAft>
                        <a:buClr>
                          <a:srgbClr val="059669"/>
                        </a:buClr>
                        <a:buSzPts val="1200"/>
                        <a:buFont typeface="Calibri"/>
                        <a:buNone/>
                      </a:pPr>
                      <a:r>
                        <a:rPr lang="en-US" sz="1200" b="1" u="none" strike="noStrike" cap="none">
                          <a:solidFill>
                            <a:srgbClr val="059669"/>
                          </a:solidFill>
                          <a:latin typeface="Calibri"/>
                          <a:ea typeface="Calibri"/>
                          <a:cs typeface="Calibri"/>
                          <a:sym typeface="Calibri"/>
                        </a:rPr>
                        <a:t>+7.5% ↑</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tcPr>
                </a:tc>
                <a:extLst>
                  <a:ext uri="{0D108BD9-81ED-4DB2-BD59-A6C34878D82A}">
                    <a16:rowId xmlns:a16="http://schemas.microsoft.com/office/drawing/2014/main" val="10002"/>
                  </a:ext>
                </a:extLst>
              </a:tr>
              <a:tr h="457200">
                <a:tc>
                  <a:txBody>
                    <a:bodyPr/>
                    <a:lstStyle/>
                    <a:p>
                      <a:pPr marL="0" marR="0" lvl="0" indent="0" algn="l" rtl="0">
                        <a:spcBef>
                          <a:spcPts val="0"/>
                        </a:spcBef>
                        <a:spcAft>
                          <a:spcPts val="0"/>
                        </a:spcAft>
                        <a:buClr>
                          <a:srgbClr val="1A2332"/>
                        </a:buClr>
                        <a:buSzPts val="1200"/>
                        <a:buFont typeface="Calibri"/>
                        <a:buNone/>
                      </a:pPr>
                      <a:r>
                        <a:rPr lang="en-US" sz="1200" u="none" strike="noStrike" cap="none">
                          <a:solidFill>
                            <a:srgbClr val="1A2332"/>
                          </a:solidFill>
                          <a:latin typeface="Calibri"/>
                          <a:ea typeface="Calibri"/>
                          <a:cs typeface="Calibri"/>
                          <a:sym typeface="Calibri"/>
                        </a:rPr>
                        <a:t>Precision</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tc>
                  <a:txBody>
                    <a:bodyPr/>
                    <a:lstStyle/>
                    <a:p>
                      <a:pPr marL="0" marR="0" lvl="0" indent="0" algn="ctr" rtl="0">
                        <a:spcBef>
                          <a:spcPts val="0"/>
                        </a:spcBef>
                        <a:spcAft>
                          <a:spcPts val="0"/>
                        </a:spcAft>
                        <a:buClr>
                          <a:srgbClr val="059669"/>
                        </a:buClr>
                        <a:buSzPts val="1200"/>
                        <a:buFont typeface="Calibri"/>
                        <a:buNone/>
                      </a:pPr>
                      <a:r>
                        <a:rPr lang="en-US" sz="1200" b="1" u="none" strike="noStrike" cap="none">
                          <a:solidFill>
                            <a:srgbClr val="059669"/>
                          </a:solidFill>
                          <a:latin typeface="Calibri"/>
                          <a:ea typeface="Calibri"/>
                          <a:cs typeface="Calibri"/>
                          <a:sym typeface="Calibri"/>
                        </a:rPr>
                        <a:t>0→0.92 ↑</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tc>
                  <a:txBody>
                    <a:bodyPr/>
                    <a:lstStyle/>
                    <a:p>
                      <a:pPr marL="0" marR="0" lvl="0" indent="0" algn="ctr" rtl="0">
                        <a:spcBef>
                          <a:spcPts val="0"/>
                        </a:spcBef>
                        <a:spcAft>
                          <a:spcPts val="0"/>
                        </a:spcAft>
                        <a:buClr>
                          <a:srgbClr val="059669"/>
                        </a:buClr>
                        <a:buSzPts val="1200"/>
                        <a:buFont typeface="Calibri"/>
                        <a:buNone/>
                      </a:pPr>
                      <a:r>
                        <a:rPr lang="en-US" sz="1200" b="1" u="none" strike="noStrike" cap="none">
                          <a:solidFill>
                            <a:srgbClr val="059669"/>
                          </a:solidFill>
                          <a:latin typeface="Calibri"/>
                          <a:ea typeface="Calibri"/>
                          <a:cs typeface="Calibri"/>
                          <a:sym typeface="Calibri"/>
                        </a:rPr>
                        <a:t>+1.3% ↑</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tc>
                  <a:txBody>
                    <a:bodyPr/>
                    <a:lstStyle/>
                    <a:p>
                      <a:pPr marL="0" marR="0" lvl="0" indent="0" algn="ctr" rtl="0">
                        <a:spcBef>
                          <a:spcPts val="0"/>
                        </a:spcBef>
                        <a:spcAft>
                          <a:spcPts val="0"/>
                        </a:spcAft>
                        <a:buClr>
                          <a:srgbClr val="059669"/>
                        </a:buClr>
                        <a:buSzPts val="1200"/>
                        <a:buFont typeface="Calibri"/>
                        <a:buNone/>
                      </a:pPr>
                      <a:r>
                        <a:rPr lang="en-US" sz="1200" b="1" u="none" strike="noStrike" cap="none">
                          <a:solidFill>
                            <a:srgbClr val="059669"/>
                          </a:solidFill>
                          <a:latin typeface="Calibri"/>
                          <a:ea typeface="Calibri"/>
                          <a:cs typeface="Calibri"/>
                          <a:sym typeface="Calibri"/>
                        </a:rPr>
                        <a:t>+0.2% ↑</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extLst>
                  <a:ext uri="{0D108BD9-81ED-4DB2-BD59-A6C34878D82A}">
                    <a16:rowId xmlns:a16="http://schemas.microsoft.com/office/drawing/2014/main" val="10003"/>
                  </a:ext>
                </a:extLst>
              </a:tr>
              <a:tr h="457200">
                <a:tc>
                  <a:txBody>
                    <a:bodyPr/>
                    <a:lstStyle/>
                    <a:p>
                      <a:pPr marL="0" marR="0" lvl="0" indent="0" algn="l" rtl="0">
                        <a:spcBef>
                          <a:spcPts val="0"/>
                        </a:spcBef>
                        <a:spcAft>
                          <a:spcPts val="0"/>
                        </a:spcAft>
                        <a:buClr>
                          <a:srgbClr val="1A2332"/>
                        </a:buClr>
                        <a:buSzPts val="1200"/>
                        <a:buFont typeface="Calibri"/>
                        <a:buNone/>
                      </a:pPr>
                      <a:r>
                        <a:rPr lang="en-US" sz="1200" u="none" strike="noStrike" cap="none">
                          <a:solidFill>
                            <a:srgbClr val="1A2332"/>
                          </a:solidFill>
                          <a:latin typeface="Calibri"/>
                          <a:ea typeface="Calibri"/>
                          <a:cs typeface="Calibri"/>
                          <a:sym typeface="Calibri"/>
                        </a:rPr>
                        <a:t>Recall</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tcPr>
                </a:tc>
                <a:tc>
                  <a:txBody>
                    <a:bodyPr/>
                    <a:lstStyle/>
                    <a:p>
                      <a:pPr marL="0" marR="0" lvl="0" indent="0" algn="ctr" rtl="0">
                        <a:spcBef>
                          <a:spcPts val="0"/>
                        </a:spcBef>
                        <a:spcAft>
                          <a:spcPts val="0"/>
                        </a:spcAft>
                        <a:buClr>
                          <a:srgbClr val="059669"/>
                        </a:buClr>
                        <a:buSzPts val="1200"/>
                        <a:buFont typeface="Calibri"/>
                        <a:buNone/>
                      </a:pPr>
                      <a:r>
                        <a:rPr lang="en-US" sz="1200" b="1" u="none" strike="noStrike" cap="none">
                          <a:solidFill>
                            <a:srgbClr val="059669"/>
                          </a:solidFill>
                          <a:latin typeface="Calibri"/>
                          <a:ea typeface="Calibri"/>
                          <a:cs typeface="Calibri"/>
                          <a:sym typeface="Calibri"/>
                        </a:rPr>
                        <a:t>0→0.89 ↑</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tcPr>
                </a:tc>
                <a:tc>
                  <a:txBody>
                    <a:bodyPr/>
                    <a:lstStyle/>
                    <a:p>
                      <a:pPr marL="0" marR="0" lvl="0" indent="0" algn="ctr" rtl="0">
                        <a:spcBef>
                          <a:spcPts val="0"/>
                        </a:spcBef>
                        <a:spcAft>
                          <a:spcPts val="0"/>
                        </a:spcAft>
                        <a:buClr>
                          <a:srgbClr val="DC2626"/>
                        </a:buClr>
                        <a:buSzPts val="1200"/>
                        <a:buFont typeface="Calibri"/>
                        <a:buNone/>
                      </a:pPr>
                      <a:r>
                        <a:rPr lang="en-US" sz="1200" b="1" u="none" strike="noStrike" cap="none">
                          <a:solidFill>
                            <a:srgbClr val="DC2626"/>
                          </a:solidFill>
                          <a:latin typeface="Calibri"/>
                          <a:ea typeface="Calibri"/>
                          <a:cs typeface="Calibri"/>
                          <a:sym typeface="Calibri"/>
                        </a:rPr>
                        <a:t>-11.9% ↓</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tcPr>
                </a:tc>
                <a:tc>
                  <a:txBody>
                    <a:bodyPr/>
                    <a:lstStyle/>
                    <a:p>
                      <a:pPr marL="0" marR="0" lvl="0" indent="0" algn="ctr" rtl="0">
                        <a:spcBef>
                          <a:spcPts val="0"/>
                        </a:spcBef>
                        <a:spcAft>
                          <a:spcPts val="0"/>
                        </a:spcAft>
                        <a:buClr>
                          <a:srgbClr val="059669"/>
                        </a:buClr>
                        <a:buSzPts val="1200"/>
                        <a:buFont typeface="Calibri"/>
                        <a:buNone/>
                      </a:pPr>
                      <a:r>
                        <a:rPr lang="en-US" sz="1200" b="1" u="none" strike="noStrike" cap="none">
                          <a:solidFill>
                            <a:srgbClr val="059669"/>
                          </a:solidFill>
                          <a:latin typeface="Calibri"/>
                          <a:ea typeface="Calibri"/>
                          <a:cs typeface="Calibri"/>
                          <a:sym typeface="Calibri"/>
                        </a:rPr>
                        <a:t>+14.3% ↑</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tcPr>
                </a:tc>
                <a:extLst>
                  <a:ext uri="{0D108BD9-81ED-4DB2-BD59-A6C34878D82A}">
                    <a16:rowId xmlns:a16="http://schemas.microsoft.com/office/drawing/2014/main" val="10004"/>
                  </a:ext>
                </a:extLst>
              </a:tr>
              <a:tr h="457200">
                <a:tc>
                  <a:txBody>
                    <a:bodyPr/>
                    <a:lstStyle/>
                    <a:p>
                      <a:pPr marL="0" marR="0" lvl="0" indent="0" algn="l" rtl="0">
                        <a:spcBef>
                          <a:spcPts val="0"/>
                        </a:spcBef>
                        <a:spcAft>
                          <a:spcPts val="0"/>
                        </a:spcAft>
                        <a:buClr>
                          <a:srgbClr val="1A2332"/>
                        </a:buClr>
                        <a:buSzPts val="1200"/>
                        <a:buFont typeface="Calibri"/>
                        <a:buNone/>
                      </a:pPr>
                      <a:r>
                        <a:rPr lang="en-US" sz="1200" u="none" strike="noStrike" cap="none">
                          <a:solidFill>
                            <a:srgbClr val="1A2332"/>
                          </a:solidFill>
                          <a:latin typeface="Calibri"/>
                          <a:ea typeface="Calibri"/>
                          <a:cs typeface="Calibri"/>
                          <a:sym typeface="Calibri"/>
                        </a:rPr>
                        <a:t>ROUGE-1</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tc>
                  <a:txBody>
                    <a:bodyPr/>
                    <a:lstStyle/>
                    <a:p>
                      <a:pPr marL="0" marR="0" lvl="0" indent="0" algn="ctr" rtl="0">
                        <a:spcBef>
                          <a:spcPts val="0"/>
                        </a:spcBef>
                        <a:spcAft>
                          <a:spcPts val="0"/>
                        </a:spcAft>
                        <a:buClr>
                          <a:srgbClr val="059669"/>
                        </a:buClr>
                        <a:buSzPts val="1200"/>
                        <a:buFont typeface="Calibri"/>
                        <a:buNone/>
                      </a:pPr>
                      <a:r>
                        <a:rPr lang="en-US" sz="1200" b="1" u="none" strike="noStrike" cap="none">
                          <a:solidFill>
                            <a:srgbClr val="059669"/>
                          </a:solidFill>
                          <a:latin typeface="Calibri"/>
                          <a:ea typeface="Calibri"/>
                          <a:cs typeface="Calibri"/>
                          <a:sym typeface="Calibri"/>
                        </a:rPr>
                        <a:t>+1136% ↑</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tc>
                  <a:txBody>
                    <a:bodyPr/>
                    <a:lstStyle/>
                    <a:p>
                      <a:pPr marL="0" marR="0" lvl="0" indent="0" algn="ctr" rtl="0">
                        <a:spcBef>
                          <a:spcPts val="0"/>
                        </a:spcBef>
                        <a:spcAft>
                          <a:spcPts val="0"/>
                        </a:spcAft>
                        <a:buClr>
                          <a:srgbClr val="DC2626"/>
                        </a:buClr>
                        <a:buSzPts val="1200"/>
                        <a:buFont typeface="Calibri"/>
                        <a:buNone/>
                      </a:pPr>
                      <a:r>
                        <a:rPr lang="en-US" sz="1200" b="1" u="none" strike="noStrike" cap="none">
                          <a:solidFill>
                            <a:srgbClr val="DC2626"/>
                          </a:solidFill>
                          <a:latin typeface="Calibri"/>
                          <a:ea typeface="Calibri"/>
                          <a:cs typeface="Calibri"/>
                          <a:sym typeface="Calibri"/>
                        </a:rPr>
                        <a:t>-7.5% ↓</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tc>
                  <a:txBody>
                    <a:bodyPr/>
                    <a:lstStyle/>
                    <a:p>
                      <a:pPr marL="0" marR="0" lvl="0" indent="0" algn="ctr" rtl="0">
                        <a:spcBef>
                          <a:spcPts val="0"/>
                        </a:spcBef>
                        <a:spcAft>
                          <a:spcPts val="0"/>
                        </a:spcAft>
                        <a:buClr>
                          <a:srgbClr val="059669"/>
                        </a:buClr>
                        <a:buSzPts val="1200"/>
                        <a:buFont typeface="Calibri"/>
                        <a:buNone/>
                      </a:pPr>
                      <a:r>
                        <a:rPr lang="en-US" sz="1200" b="1" u="none" strike="noStrike" cap="none">
                          <a:solidFill>
                            <a:srgbClr val="059669"/>
                          </a:solidFill>
                          <a:latin typeface="Calibri"/>
                          <a:ea typeface="Calibri"/>
                          <a:cs typeface="Calibri"/>
                          <a:sym typeface="Calibri"/>
                        </a:rPr>
                        <a:t>+28.5% ↑</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solidFill>
                      <a:srgbClr val="F5F9FF"/>
                    </a:solidFill>
                  </a:tcPr>
                </a:tc>
                <a:extLst>
                  <a:ext uri="{0D108BD9-81ED-4DB2-BD59-A6C34878D82A}">
                    <a16:rowId xmlns:a16="http://schemas.microsoft.com/office/drawing/2014/main" val="10005"/>
                  </a:ext>
                </a:extLst>
              </a:tr>
              <a:tr h="457200">
                <a:tc>
                  <a:txBody>
                    <a:bodyPr/>
                    <a:lstStyle/>
                    <a:p>
                      <a:pPr marL="0" marR="0" lvl="0" indent="0" algn="l" rtl="0">
                        <a:spcBef>
                          <a:spcPts val="0"/>
                        </a:spcBef>
                        <a:spcAft>
                          <a:spcPts val="0"/>
                        </a:spcAft>
                        <a:buClr>
                          <a:srgbClr val="1A2332"/>
                        </a:buClr>
                        <a:buSzPts val="1200"/>
                        <a:buFont typeface="Calibri"/>
                        <a:buNone/>
                      </a:pPr>
                      <a:r>
                        <a:rPr lang="en-US" sz="1200" u="none" strike="noStrike" cap="none">
                          <a:solidFill>
                            <a:srgbClr val="1A2332"/>
                          </a:solidFill>
                          <a:latin typeface="Calibri"/>
                          <a:ea typeface="Calibri"/>
                          <a:cs typeface="Calibri"/>
                          <a:sym typeface="Calibri"/>
                        </a:rPr>
                        <a:t>Semantic Sim.</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tcPr>
                </a:tc>
                <a:tc>
                  <a:txBody>
                    <a:bodyPr/>
                    <a:lstStyle/>
                    <a:p>
                      <a:pPr marL="0" marR="0" lvl="0" indent="0" algn="ctr" rtl="0">
                        <a:spcBef>
                          <a:spcPts val="0"/>
                        </a:spcBef>
                        <a:spcAft>
                          <a:spcPts val="0"/>
                        </a:spcAft>
                        <a:buClr>
                          <a:srgbClr val="059669"/>
                        </a:buClr>
                        <a:buSzPts val="1200"/>
                        <a:buFont typeface="Calibri"/>
                        <a:buNone/>
                      </a:pPr>
                      <a:r>
                        <a:rPr lang="en-US" sz="1200" b="1" u="none" strike="noStrike" cap="none">
                          <a:solidFill>
                            <a:srgbClr val="059669"/>
                          </a:solidFill>
                          <a:latin typeface="Calibri"/>
                          <a:ea typeface="Calibri"/>
                          <a:cs typeface="Calibri"/>
                          <a:sym typeface="Calibri"/>
                        </a:rPr>
                        <a:t>+153.2% ↑</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tcPr>
                </a:tc>
                <a:tc>
                  <a:txBody>
                    <a:bodyPr/>
                    <a:lstStyle/>
                    <a:p>
                      <a:pPr marL="0" marR="0" lvl="0" indent="0" algn="ctr" rtl="0">
                        <a:spcBef>
                          <a:spcPts val="0"/>
                        </a:spcBef>
                        <a:spcAft>
                          <a:spcPts val="0"/>
                        </a:spcAft>
                        <a:buClr>
                          <a:srgbClr val="059669"/>
                        </a:buClr>
                        <a:buSzPts val="1200"/>
                        <a:buFont typeface="Calibri"/>
                        <a:buNone/>
                      </a:pPr>
                      <a:r>
                        <a:rPr lang="en-US" sz="1200" b="1" u="none" strike="noStrike" cap="none">
                          <a:solidFill>
                            <a:srgbClr val="059669"/>
                          </a:solidFill>
                          <a:latin typeface="Calibri"/>
                          <a:ea typeface="Calibri"/>
                          <a:cs typeface="Calibri"/>
                          <a:sym typeface="Calibri"/>
                        </a:rPr>
                        <a:t>+3.5% ↑</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tcPr>
                </a:tc>
                <a:tc>
                  <a:txBody>
                    <a:bodyPr/>
                    <a:lstStyle/>
                    <a:p>
                      <a:pPr marL="0" marR="0" lvl="0" indent="0" algn="ctr" rtl="0">
                        <a:spcBef>
                          <a:spcPts val="0"/>
                        </a:spcBef>
                        <a:spcAft>
                          <a:spcPts val="0"/>
                        </a:spcAft>
                        <a:buClr>
                          <a:srgbClr val="059669"/>
                        </a:buClr>
                        <a:buSzPts val="1200"/>
                        <a:buFont typeface="Calibri"/>
                        <a:buNone/>
                      </a:pPr>
                      <a:r>
                        <a:rPr lang="en-US" sz="1200" b="1" u="none" strike="noStrike" cap="none">
                          <a:solidFill>
                            <a:srgbClr val="059669"/>
                          </a:solidFill>
                          <a:latin typeface="Calibri"/>
                          <a:ea typeface="Calibri"/>
                          <a:cs typeface="Calibri"/>
                          <a:sym typeface="Calibri"/>
                        </a:rPr>
                        <a:t>+18.8% ↑</a:t>
                      </a:r>
                      <a:endParaRPr sz="1200" u="none" strike="noStrike" cap="none">
                        <a:latin typeface="Calibri"/>
                        <a:ea typeface="Calibri"/>
                        <a:cs typeface="Calibri"/>
                        <a:sym typeface="Calibri"/>
                      </a:endParaRPr>
                    </a:p>
                  </a:txBody>
                  <a:tcPr marL="91450" marR="91450" marT="45725" marB="45725" anchor="ctr">
                    <a:lnL w="9525" cap="flat" cmpd="sng">
                      <a:solidFill>
                        <a:srgbClr val="D4E4F7"/>
                      </a:solidFill>
                      <a:prstDash val="solid"/>
                      <a:round/>
                      <a:headEnd type="none" w="sm" len="sm"/>
                      <a:tailEnd type="none" w="sm" len="sm"/>
                    </a:lnL>
                    <a:lnR w="9525" cap="flat" cmpd="sng">
                      <a:solidFill>
                        <a:srgbClr val="D4E4F7"/>
                      </a:solidFill>
                      <a:prstDash val="solid"/>
                      <a:round/>
                      <a:headEnd type="none" w="sm" len="sm"/>
                      <a:tailEnd type="none" w="sm" len="sm"/>
                    </a:lnR>
                    <a:lnT w="9525" cap="flat" cmpd="sng">
                      <a:solidFill>
                        <a:srgbClr val="D4E4F7"/>
                      </a:solidFill>
                      <a:prstDash val="solid"/>
                      <a:round/>
                      <a:headEnd type="none" w="sm" len="sm"/>
                      <a:tailEnd type="none" w="sm" len="sm"/>
                    </a:lnT>
                    <a:lnB w="9525" cap="flat" cmpd="sng">
                      <a:solidFill>
                        <a:srgbClr val="D4E4F7"/>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304" name="Google Shape;304;p16"/>
          <p:cNvSpPr/>
          <p:nvPr/>
        </p:nvSpPr>
        <p:spPr>
          <a:xfrm>
            <a:off x="457200" y="4370832"/>
            <a:ext cx="8229600" cy="5029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A5568"/>
              </a:buClr>
              <a:buSzPts val="1100"/>
              <a:buFont typeface="Calibri"/>
              <a:buNone/>
            </a:pPr>
            <a:r>
              <a:rPr lang="en-US" sz="1100" b="0" i="1" u="none" strike="noStrike" cap="none">
                <a:solidFill>
                  <a:srgbClr val="4A5568"/>
                </a:solidFill>
                <a:latin typeface="Calibri"/>
                <a:ea typeface="Calibri"/>
                <a:cs typeface="Calibri"/>
                <a:sym typeface="Calibri"/>
              </a:rPr>
              <a:t>BigVul ve Fenrir-v2.1 veri setlerinde kapsamlı iyileşme sağlandı. SecureCode-Web'deki düşüş veri seti boyutu ve BigVul/Fenrir baskın etkisi ile açıklanabilir; semantik benzerlik ise bu sette de arttı.</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9"/>
        <p:cNvGrpSpPr/>
        <p:nvPr/>
      </p:nvGrpSpPr>
      <p:grpSpPr>
        <a:xfrm>
          <a:off x="0" y="0"/>
          <a:ext cx="0" cy="0"/>
          <a:chOff x="0" y="0"/>
          <a:chExt cx="0" cy="0"/>
        </a:xfrm>
      </p:grpSpPr>
      <p:sp>
        <p:nvSpPr>
          <p:cNvPr id="310" name="Google Shape;310;p17"/>
          <p:cNvSpPr/>
          <p:nvPr/>
        </p:nvSpPr>
        <p:spPr>
          <a:xfrm>
            <a:off x="457200" y="201168"/>
            <a:ext cx="822960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A1628"/>
              </a:buClr>
              <a:buSzPts val="2800"/>
              <a:buFont typeface="Calibri"/>
              <a:buNone/>
            </a:pPr>
            <a:r>
              <a:rPr lang="en-US" sz="2800" b="1">
                <a:solidFill>
                  <a:srgbClr val="0A1628"/>
                </a:solidFill>
                <a:latin typeface="Calibri"/>
                <a:ea typeface="Calibri"/>
                <a:cs typeface="Calibri"/>
                <a:sym typeface="Calibri"/>
              </a:rPr>
              <a:t>Çıktı Örnekleri</a:t>
            </a:r>
            <a:endParaRPr sz="2800" b="0" i="0" u="none" strike="noStrike" cap="none">
              <a:solidFill>
                <a:schemeClr val="dk1"/>
              </a:solidFill>
              <a:latin typeface="Calibri"/>
              <a:ea typeface="Calibri"/>
              <a:cs typeface="Calibri"/>
              <a:sym typeface="Calibri"/>
            </a:endParaRPr>
          </a:p>
        </p:txBody>
      </p:sp>
      <p:sp>
        <p:nvSpPr>
          <p:cNvPr id="311" name="Google Shape;311;p17"/>
          <p:cNvSpPr/>
          <p:nvPr/>
        </p:nvSpPr>
        <p:spPr>
          <a:xfrm>
            <a:off x="457200" y="932688"/>
            <a:ext cx="8229600" cy="22800"/>
          </a:xfrm>
          <a:prstGeom prst="rect">
            <a:avLst/>
          </a:prstGeom>
          <a:solidFill>
            <a:srgbClr val="DBEA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7"/>
          <p:cNvSpPr/>
          <p:nvPr/>
        </p:nvSpPr>
        <p:spPr>
          <a:xfrm>
            <a:off x="457200" y="1095375"/>
            <a:ext cx="8229600" cy="3238500"/>
          </a:xfrm>
          <a:prstGeom prst="roundRect">
            <a:avLst>
              <a:gd name="adj" fmla="val 2352"/>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3" name="Google Shape;313;p17"/>
          <p:cNvSpPr/>
          <p:nvPr/>
        </p:nvSpPr>
        <p:spPr>
          <a:xfrm>
            <a:off x="457200" y="1095375"/>
            <a:ext cx="38100" cy="3238500"/>
          </a:xfrm>
          <a:prstGeom prst="rect">
            <a:avLst/>
          </a:prstGeom>
          <a:solidFill>
            <a:srgbClr val="3B82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4" name="Google Shape;314;p17"/>
          <p:cNvSpPr txBox="1"/>
          <p:nvPr/>
        </p:nvSpPr>
        <p:spPr>
          <a:xfrm>
            <a:off x="619125" y="1095375"/>
            <a:ext cx="7905900" cy="3238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200" b="1" i="1">
                <a:solidFill>
                  <a:srgbClr val="1E293B"/>
                </a:solidFill>
                <a:latin typeface="Calibri"/>
                <a:ea typeface="Calibri"/>
                <a:cs typeface="Calibri"/>
                <a:sym typeface="Calibri"/>
              </a:rPr>
              <a:t>İnce Ayar Yapılmış Model Çıktısı:</a:t>
            </a:r>
            <a:endParaRPr sz="1200" b="1" i="1">
              <a:solidFill>
                <a:srgbClr val="1E293B"/>
              </a:solidFill>
              <a:latin typeface="Calibri"/>
              <a:ea typeface="Calibri"/>
              <a:cs typeface="Calibri"/>
              <a:sym typeface="Calibri"/>
            </a:endParaRPr>
          </a:p>
          <a:p>
            <a:pPr marL="0" lvl="0" indent="0" algn="l" rtl="0">
              <a:spcBef>
                <a:spcPts val="600"/>
              </a:spcBef>
              <a:spcAft>
                <a:spcPts val="0"/>
              </a:spcAft>
              <a:buClr>
                <a:schemeClr val="dk1"/>
              </a:buClr>
              <a:buSzPts val="1100"/>
              <a:buFont typeface="Arial"/>
              <a:buNone/>
            </a:pPr>
            <a:r>
              <a:rPr lang="en-US" sz="1000">
                <a:solidFill>
                  <a:srgbClr val="1E293B"/>
                </a:solidFill>
                <a:latin typeface="Calibri"/>
                <a:ea typeface="Calibri"/>
                <a:cs typeface="Calibri"/>
                <a:sym typeface="Calibri"/>
              </a:rPr>
              <a:t>Enabling advanced security features like Windows Defender Application Control (WDAC) and Credential Guard fundamentally alters the risk landscape for SharePoint privilege-escalation paths by introducing additional layers of isolation and integrity verification. These features significantly reduce the attack surface available to adversaries attempting to exploit SharePoint vulnerabilities, particularly those involving credential theft or lateral movement.</a:t>
            </a:r>
            <a:endParaRPr sz="1000">
              <a:solidFill>
                <a:srgbClr val="1E293B"/>
              </a:solidFill>
              <a:latin typeface="Calibri"/>
              <a:ea typeface="Calibri"/>
              <a:cs typeface="Calibri"/>
              <a:sym typeface="Calibri"/>
            </a:endParaRPr>
          </a:p>
          <a:p>
            <a:pPr marL="0" lvl="0" indent="0" algn="l" rtl="0">
              <a:spcBef>
                <a:spcPts val="600"/>
              </a:spcBef>
              <a:spcAft>
                <a:spcPts val="0"/>
              </a:spcAft>
              <a:buClr>
                <a:schemeClr val="dk1"/>
              </a:buClr>
              <a:buSzPts val="1100"/>
              <a:buFont typeface="Arial"/>
              <a:buNone/>
            </a:pPr>
            <a:r>
              <a:rPr lang="en-US" sz="1000" b="1">
                <a:solidFill>
                  <a:srgbClr val="1E293B"/>
                </a:solidFill>
                <a:latin typeface="Calibri"/>
                <a:ea typeface="Calibri"/>
                <a:cs typeface="Calibri"/>
                <a:sym typeface="Calibri"/>
              </a:rPr>
              <a:t>Risk Landscape Transformation</a:t>
            </a:r>
            <a:endParaRPr sz="1000" b="1">
              <a:solidFill>
                <a:srgbClr val="1E293B"/>
              </a:solidFill>
              <a:latin typeface="Calibri"/>
              <a:ea typeface="Calibri"/>
              <a:cs typeface="Calibri"/>
              <a:sym typeface="Calibri"/>
            </a:endParaRPr>
          </a:p>
          <a:p>
            <a:pPr marL="0" lvl="0" indent="0" algn="l" rtl="0">
              <a:spcBef>
                <a:spcPts val="600"/>
              </a:spcBef>
              <a:spcAft>
                <a:spcPts val="0"/>
              </a:spcAft>
              <a:buClr>
                <a:schemeClr val="dk1"/>
              </a:buClr>
              <a:buSzPts val="1100"/>
              <a:buFont typeface="Arial"/>
              <a:buNone/>
            </a:pPr>
            <a:r>
              <a:rPr lang="en-US" sz="1000">
                <a:solidFill>
                  <a:srgbClr val="1E293B"/>
                </a:solidFill>
                <a:latin typeface="Calibri"/>
                <a:ea typeface="Calibri"/>
                <a:cs typeface="Calibri"/>
                <a:sym typeface="Calibri"/>
              </a:rPr>
              <a:t>Credential Guard: This feature isolates credentials within a virtualized environment, preventing unauthorized access even if an attacker gains kernel-level privileges. For SharePoint environments, this means that even if an attacker compromises a server hosting SharePoint services, they cannot extract cached credentials or Kerberos tickets used for authentication. This directly mitigates techniques such as T1003 (OS Credential Dumping) and T1552 (Unsecured Credentials), which are commonly exploited in SharePoint environments.</a:t>
            </a:r>
            <a:endParaRPr sz="1000">
              <a:solidFill>
                <a:srgbClr val="1E293B"/>
              </a:solidFill>
              <a:latin typeface="Calibri"/>
              <a:ea typeface="Calibri"/>
              <a:cs typeface="Calibri"/>
              <a:sym typeface="Calibri"/>
            </a:endParaRPr>
          </a:p>
          <a:p>
            <a:pPr marL="0" lvl="0" indent="0" algn="l" rtl="0">
              <a:spcBef>
                <a:spcPts val="600"/>
              </a:spcBef>
              <a:spcAft>
                <a:spcPts val="0"/>
              </a:spcAft>
              <a:buNone/>
            </a:pPr>
            <a:r>
              <a:rPr lang="en-US" sz="1000" b="1">
                <a:solidFill>
                  <a:srgbClr val="1E293B"/>
                </a:solidFill>
                <a:latin typeface="Calibri"/>
                <a:ea typeface="Calibri"/>
                <a:cs typeface="Calibri"/>
                <a:sym typeface="Calibri"/>
              </a:rPr>
              <a:t>WDAC: </a:t>
            </a:r>
            <a:r>
              <a:rPr lang="en-US" sz="1000">
                <a:solidFill>
                  <a:srgbClr val="1E293B"/>
                </a:solidFill>
                <a:latin typeface="Calibri"/>
                <a:ea typeface="Calibri"/>
                <a:cs typeface="Calibri"/>
                <a:sym typeface="Calibri"/>
              </a:rPr>
              <a:t>By enforcing digital signatures on applications and drivers, WDAC ensures that only trusted code executes on the system. This is particularly effective against techniques like T1546 (Event Triggered Execution) where attackers might attempt to inject malicious code into legitimate processes. In SharePoint scenarios, this prevents unauthorized modifications to SharePoint components or web parts, reducing the risk of privilege escalation through compromised extensions.</a:t>
            </a:r>
            <a:endParaRPr sz="1000">
              <a:solidFill>
                <a:srgbClr val="1E293B"/>
              </a:solidFill>
              <a:latin typeface="Calibri"/>
              <a:ea typeface="Calibri"/>
              <a:cs typeface="Calibri"/>
              <a:sym typeface="Calibri"/>
            </a:endParaRPr>
          </a:p>
          <a:p>
            <a:pPr marL="0" lvl="0" indent="0" algn="l" rtl="0">
              <a:spcBef>
                <a:spcPts val="600"/>
              </a:spcBef>
              <a:spcAft>
                <a:spcPts val="0"/>
              </a:spcAft>
              <a:buNone/>
            </a:pPr>
            <a:r>
              <a:rPr lang="en-US" sz="1000">
                <a:solidFill>
                  <a:srgbClr val="1E293B"/>
                </a:solidFill>
                <a:latin typeface="Calibri"/>
                <a:ea typeface="Calibri"/>
                <a:cs typeface="Calibri"/>
                <a:sym typeface="Calibri"/>
              </a:rPr>
              <a:t>…</a:t>
            </a:r>
            <a:endParaRPr sz="1000">
              <a:solidFill>
                <a:srgbClr val="1E293B"/>
              </a:solidFill>
              <a:latin typeface="Calibri"/>
              <a:ea typeface="Calibri"/>
              <a:cs typeface="Calibri"/>
              <a:sym typeface="Calibri"/>
            </a:endParaRPr>
          </a:p>
          <a:p>
            <a:pPr marL="0" lvl="0" indent="0" algn="l" rtl="0">
              <a:spcBef>
                <a:spcPts val="600"/>
              </a:spcBef>
              <a:spcAft>
                <a:spcPts val="0"/>
              </a:spcAft>
              <a:buClr>
                <a:schemeClr val="dk1"/>
              </a:buClr>
              <a:buSzPts val="1100"/>
              <a:buFont typeface="Arial"/>
              <a:buNone/>
            </a:pPr>
            <a:r>
              <a:rPr lang="en-US" sz="1000" b="1">
                <a:solidFill>
                  <a:srgbClr val="1E293B"/>
                </a:solidFill>
                <a:latin typeface="Calibri"/>
                <a:ea typeface="Calibri"/>
                <a:cs typeface="Calibri"/>
                <a:sym typeface="Calibri"/>
              </a:rPr>
              <a:t>Conclusion</a:t>
            </a:r>
            <a:endParaRPr sz="1000" b="1">
              <a:solidFill>
                <a:srgbClr val="1E293B"/>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000">
                <a:solidFill>
                  <a:srgbClr val="1E293B"/>
                </a:solidFill>
                <a:latin typeface="Calibri"/>
                <a:ea typeface="Calibri"/>
                <a:cs typeface="Calibri"/>
                <a:sym typeface="Calibri"/>
              </a:rPr>
              <a:t>While Credential Guard and WDAC significantly reduce the risk of credential theft and unauthorized code execution in SharePoint environments, they do not eliminate all threats. Organizations must continue to implement robust compensating controls, maintain strong patch management practices, and leverage comprehensive monitoring and logging to ensure a resilient security posture.</a:t>
            </a:r>
            <a:endParaRPr sz="1000">
              <a:solidFill>
                <a:srgbClr val="1E293B"/>
              </a:solidFill>
              <a:latin typeface="Calibri"/>
              <a:ea typeface="Calibri"/>
              <a:cs typeface="Calibri"/>
              <a:sym typeface="Calibri"/>
            </a:endParaRPr>
          </a:p>
          <a:p>
            <a:pPr marL="0" lvl="0" indent="0" algn="l" rtl="0">
              <a:spcBef>
                <a:spcPts val="0"/>
              </a:spcBef>
              <a:spcAft>
                <a:spcPts val="0"/>
              </a:spcAft>
              <a:buNone/>
            </a:pPr>
            <a:endParaRPr sz="1000" b="1">
              <a:solidFill>
                <a:srgbClr val="1E293B"/>
              </a:solidFill>
              <a:latin typeface="Calibri"/>
              <a:ea typeface="Calibri"/>
              <a:cs typeface="Calibri"/>
              <a:sym typeface="Calibri"/>
            </a:endParaRPr>
          </a:p>
        </p:txBody>
      </p:sp>
      <p:grpSp>
        <p:nvGrpSpPr>
          <p:cNvPr id="315" name="Google Shape;315;p17"/>
          <p:cNvGrpSpPr/>
          <p:nvPr/>
        </p:nvGrpSpPr>
        <p:grpSpPr>
          <a:xfrm>
            <a:off x="457200" y="4429125"/>
            <a:ext cx="8229600" cy="571500"/>
            <a:chOff x="457200" y="4429125"/>
            <a:chExt cx="8229600" cy="571500"/>
          </a:xfrm>
        </p:grpSpPr>
        <p:sp>
          <p:nvSpPr>
            <p:cNvPr id="316" name="Google Shape;316;p17"/>
            <p:cNvSpPr/>
            <p:nvPr/>
          </p:nvSpPr>
          <p:spPr>
            <a:xfrm>
              <a:off x="457200" y="4429125"/>
              <a:ext cx="8229600" cy="571500"/>
            </a:xfrm>
            <a:prstGeom prst="roundRect">
              <a:avLst>
                <a:gd name="adj" fmla="val 13333"/>
              </a:avLst>
            </a:prstGeom>
            <a:solidFill>
              <a:srgbClr val="EFF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7" name="Google Shape;317;p17"/>
            <p:cNvSpPr txBox="1"/>
            <p:nvPr/>
          </p:nvSpPr>
          <p:spPr>
            <a:xfrm>
              <a:off x="457200" y="4429125"/>
              <a:ext cx="8229600" cy="571500"/>
            </a:xfrm>
            <a:prstGeom prst="rect">
              <a:avLst/>
            </a:prstGeom>
            <a:noFill/>
            <a:ln>
              <a:noFill/>
            </a:ln>
          </p:spPr>
          <p:txBody>
            <a:bodyPr spcFirstLastPara="1" wrap="square" lIns="190500" tIns="0" rIns="190500" bIns="0" anchor="ctr" anchorCtr="0">
              <a:noAutofit/>
            </a:bodyPr>
            <a:lstStyle/>
            <a:p>
              <a:pPr marL="0" lvl="0" indent="0" algn="ctr" rtl="0">
                <a:spcBef>
                  <a:spcPts val="0"/>
                </a:spcBef>
                <a:spcAft>
                  <a:spcPts val="0"/>
                </a:spcAft>
                <a:buNone/>
              </a:pPr>
              <a:r>
                <a:rPr lang="en-US" sz="1100" b="1">
                  <a:solidFill>
                    <a:srgbClr val="1E40AF"/>
                  </a:solidFill>
                  <a:latin typeface="Calibri"/>
                  <a:ea typeface="Calibri"/>
                  <a:cs typeface="Calibri"/>
                  <a:sym typeface="Calibri"/>
                </a:rPr>
                <a:t>📊 </a:t>
              </a:r>
              <a:r>
                <a:rPr lang="en-US" sz="1100">
                  <a:solidFill>
                    <a:srgbClr val="1E40AF"/>
                  </a:solidFill>
                  <a:latin typeface="Calibri"/>
                  <a:ea typeface="Calibri"/>
                  <a:cs typeface="Calibri"/>
                  <a:sym typeface="Calibri"/>
                </a:rPr>
                <a:t>ROUGE-1: </a:t>
              </a:r>
              <a:r>
                <a:rPr lang="en-US" sz="1100" b="1">
                  <a:solidFill>
                    <a:srgbClr val="1E40AF"/>
                  </a:solidFill>
                  <a:latin typeface="Calibri"/>
                  <a:ea typeface="Calibri"/>
                  <a:cs typeface="Calibri"/>
                  <a:sym typeface="Calibri"/>
                </a:rPr>
                <a:t>0.4690 </a:t>
              </a:r>
              <a:r>
                <a:rPr lang="en-US" sz="1100">
                  <a:solidFill>
                    <a:srgbClr val="1E40AF"/>
                  </a:solidFill>
                  <a:latin typeface="Calibri"/>
                  <a:ea typeface="Calibri"/>
                  <a:cs typeface="Calibri"/>
                  <a:sym typeface="Calibri"/>
                </a:rPr>
                <a:t>ROUGE-L: </a:t>
              </a:r>
              <a:r>
                <a:rPr lang="en-US" sz="1100" b="1">
                  <a:solidFill>
                    <a:srgbClr val="1E40AF"/>
                  </a:solidFill>
                  <a:latin typeface="Calibri"/>
                  <a:ea typeface="Calibri"/>
                  <a:cs typeface="Calibri"/>
                  <a:sym typeface="Calibri"/>
                </a:rPr>
                <a:t>0.2071 </a:t>
              </a:r>
              <a:r>
                <a:rPr lang="en-US" sz="1100">
                  <a:solidFill>
                    <a:srgbClr val="1E40AF"/>
                  </a:solidFill>
                  <a:latin typeface="Calibri"/>
                  <a:ea typeface="Calibri"/>
                  <a:cs typeface="Calibri"/>
                  <a:sym typeface="Calibri"/>
                </a:rPr>
                <a:t>Semantik Benzerlik: </a:t>
              </a:r>
              <a:r>
                <a:rPr lang="en-US" sz="1100" b="1">
                  <a:solidFill>
                    <a:srgbClr val="1E40AF"/>
                  </a:solidFill>
                  <a:latin typeface="Calibri"/>
                  <a:ea typeface="Calibri"/>
                  <a:cs typeface="Calibri"/>
                  <a:sym typeface="Calibri"/>
                </a:rPr>
                <a:t>0.9186</a:t>
              </a:r>
              <a:endParaRPr sz="1100">
                <a:solidFill>
                  <a:srgbClr val="1E40AF"/>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2"/>
        <p:cNvGrpSpPr/>
        <p:nvPr/>
      </p:nvGrpSpPr>
      <p:grpSpPr>
        <a:xfrm>
          <a:off x="0" y="0"/>
          <a:ext cx="0" cy="0"/>
          <a:chOff x="0" y="0"/>
          <a:chExt cx="0" cy="0"/>
        </a:xfrm>
      </p:grpSpPr>
      <p:sp>
        <p:nvSpPr>
          <p:cNvPr id="323" name="Google Shape;323;p18"/>
          <p:cNvSpPr/>
          <p:nvPr/>
        </p:nvSpPr>
        <p:spPr>
          <a:xfrm>
            <a:off x="457200" y="201168"/>
            <a:ext cx="822960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A1628"/>
              </a:buClr>
              <a:buSzPts val="2800"/>
              <a:buFont typeface="Calibri"/>
              <a:buNone/>
            </a:pPr>
            <a:r>
              <a:rPr lang="en-US" sz="2800" b="1">
                <a:solidFill>
                  <a:srgbClr val="0A1628"/>
                </a:solidFill>
                <a:latin typeface="Calibri"/>
                <a:ea typeface="Calibri"/>
                <a:cs typeface="Calibri"/>
                <a:sym typeface="Calibri"/>
              </a:rPr>
              <a:t>Çıktı Örnekleri</a:t>
            </a:r>
            <a:endParaRPr sz="2800" b="0" i="0" u="none" strike="noStrike" cap="none">
              <a:solidFill>
                <a:schemeClr val="dk1"/>
              </a:solidFill>
              <a:latin typeface="Calibri"/>
              <a:ea typeface="Calibri"/>
              <a:cs typeface="Calibri"/>
              <a:sym typeface="Calibri"/>
            </a:endParaRPr>
          </a:p>
        </p:txBody>
      </p:sp>
      <p:sp>
        <p:nvSpPr>
          <p:cNvPr id="324" name="Google Shape;324;p18"/>
          <p:cNvSpPr/>
          <p:nvPr/>
        </p:nvSpPr>
        <p:spPr>
          <a:xfrm>
            <a:off x="457200" y="932688"/>
            <a:ext cx="8229600" cy="22800"/>
          </a:xfrm>
          <a:prstGeom prst="rect">
            <a:avLst/>
          </a:prstGeom>
          <a:solidFill>
            <a:srgbClr val="DBEA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8"/>
          <p:cNvSpPr/>
          <p:nvPr/>
        </p:nvSpPr>
        <p:spPr>
          <a:xfrm>
            <a:off x="457200" y="1095375"/>
            <a:ext cx="8229600" cy="3238500"/>
          </a:xfrm>
          <a:prstGeom prst="roundRect">
            <a:avLst>
              <a:gd name="adj" fmla="val 2352"/>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26" name="Google Shape;326;p18"/>
          <p:cNvSpPr/>
          <p:nvPr/>
        </p:nvSpPr>
        <p:spPr>
          <a:xfrm>
            <a:off x="457200" y="1095375"/>
            <a:ext cx="38100" cy="3238500"/>
          </a:xfrm>
          <a:prstGeom prst="rect">
            <a:avLst/>
          </a:prstGeom>
          <a:solidFill>
            <a:srgbClr val="3B82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27" name="Google Shape;327;p18"/>
          <p:cNvSpPr txBox="1"/>
          <p:nvPr/>
        </p:nvSpPr>
        <p:spPr>
          <a:xfrm>
            <a:off x="619125" y="1095375"/>
            <a:ext cx="7905900" cy="3238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200" b="1" i="1">
                <a:solidFill>
                  <a:srgbClr val="1E293B"/>
                </a:solidFill>
                <a:latin typeface="Calibri"/>
                <a:ea typeface="Calibri"/>
                <a:cs typeface="Calibri"/>
                <a:sym typeface="Calibri"/>
              </a:rPr>
              <a:t>Temel Model Çıktısı:</a:t>
            </a:r>
            <a:endParaRPr sz="1200" b="1" i="1">
              <a:solidFill>
                <a:srgbClr val="1E293B"/>
              </a:solidFill>
              <a:latin typeface="Calibri"/>
              <a:ea typeface="Calibri"/>
              <a:cs typeface="Calibri"/>
              <a:sym typeface="Calibri"/>
            </a:endParaRPr>
          </a:p>
          <a:p>
            <a:pPr marL="0" lvl="0" indent="0" algn="l" rtl="0">
              <a:spcBef>
                <a:spcPts val="600"/>
              </a:spcBef>
              <a:spcAft>
                <a:spcPts val="0"/>
              </a:spcAft>
              <a:buNone/>
            </a:pPr>
            <a:r>
              <a:rPr lang="en-US" sz="1000" b="1">
                <a:solidFill>
                  <a:srgbClr val="1E293B"/>
                </a:solidFill>
                <a:latin typeface="Calibri"/>
                <a:ea typeface="Calibri"/>
                <a:cs typeface="Calibri"/>
                <a:sym typeface="Calibri"/>
              </a:rPr>
              <a:t>Direct Answer</a:t>
            </a:r>
            <a:endParaRPr sz="1000" b="1">
              <a:solidFill>
                <a:srgbClr val="1E293B"/>
              </a:solidFill>
              <a:latin typeface="Calibri"/>
              <a:ea typeface="Calibri"/>
              <a:cs typeface="Calibri"/>
              <a:sym typeface="Calibri"/>
            </a:endParaRPr>
          </a:p>
          <a:p>
            <a:pPr marL="0" lvl="0" indent="0" algn="l" rtl="0">
              <a:spcBef>
                <a:spcPts val="600"/>
              </a:spcBef>
              <a:spcAft>
                <a:spcPts val="0"/>
              </a:spcAft>
              <a:buNone/>
            </a:pPr>
            <a:r>
              <a:rPr lang="en-US" sz="1000">
                <a:solidFill>
                  <a:srgbClr val="1E293B"/>
                </a:solidFill>
                <a:latin typeface="Calibri"/>
                <a:ea typeface="Calibri"/>
                <a:cs typeface="Calibri"/>
                <a:sym typeface="Calibri"/>
              </a:rPr>
              <a:t>Enabling advanced security features like Credential Guard and Windows Defender Application Control (WDAC) significantly reduces the risk of privilege escalation in SharePoint environments by isolating critical system processes and preventing malicious code execution.</a:t>
            </a:r>
            <a:endParaRPr sz="1000">
              <a:solidFill>
                <a:srgbClr val="1E293B"/>
              </a:solidFill>
              <a:latin typeface="Calibri"/>
              <a:ea typeface="Calibri"/>
              <a:cs typeface="Calibri"/>
              <a:sym typeface="Calibri"/>
            </a:endParaRPr>
          </a:p>
          <a:p>
            <a:pPr marL="0" lvl="0" indent="0" algn="l" rtl="0">
              <a:spcBef>
                <a:spcPts val="600"/>
              </a:spcBef>
              <a:spcAft>
                <a:spcPts val="0"/>
              </a:spcAft>
              <a:buNone/>
            </a:pPr>
            <a:r>
              <a:rPr lang="en-US" sz="1000" b="1">
                <a:solidFill>
                  <a:srgbClr val="1E293B"/>
                </a:solidFill>
                <a:latin typeface="Calibri"/>
                <a:ea typeface="Calibri"/>
                <a:cs typeface="Calibri"/>
                <a:sym typeface="Calibri"/>
              </a:rPr>
              <a:t>Technical Analysis</a:t>
            </a:r>
            <a:endParaRPr sz="1000" b="1">
              <a:solidFill>
                <a:srgbClr val="1E293B"/>
              </a:solidFill>
              <a:latin typeface="Calibri"/>
              <a:ea typeface="Calibri"/>
              <a:cs typeface="Calibri"/>
              <a:sym typeface="Calibri"/>
            </a:endParaRPr>
          </a:p>
          <a:p>
            <a:pPr marL="0" lvl="0" indent="0" algn="l" rtl="0">
              <a:spcBef>
                <a:spcPts val="600"/>
              </a:spcBef>
              <a:spcAft>
                <a:spcPts val="0"/>
              </a:spcAft>
              <a:buNone/>
            </a:pPr>
            <a:r>
              <a:rPr lang="en-US" sz="1000">
                <a:solidFill>
                  <a:srgbClr val="1E293B"/>
                </a:solidFill>
                <a:latin typeface="Calibri"/>
                <a:ea typeface="Calibri"/>
                <a:cs typeface="Calibri"/>
                <a:sym typeface="Calibri"/>
              </a:rPr>
              <a:t>Credential Guard enhances security by isolating the Windows Credential Manager in a virtualized environment, making it difficult for attackers to steal credentials even if they gain access to other parts of the system. WDAC, on the other hand, uses policies to enforce code integrity, ensuring that only trusted applications can run on the system.</a:t>
            </a:r>
            <a:endParaRPr sz="1000">
              <a:solidFill>
                <a:srgbClr val="1E293B"/>
              </a:solidFill>
              <a:latin typeface="Calibri"/>
              <a:ea typeface="Calibri"/>
              <a:cs typeface="Calibri"/>
              <a:sym typeface="Calibri"/>
            </a:endParaRPr>
          </a:p>
          <a:p>
            <a:pPr marL="0" lvl="0" indent="0" algn="l" rtl="0">
              <a:spcBef>
                <a:spcPts val="600"/>
              </a:spcBef>
              <a:spcAft>
                <a:spcPts val="0"/>
              </a:spcAft>
              <a:buNone/>
            </a:pPr>
            <a:r>
              <a:rPr lang="en-US" sz="1000" b="1">
                <a:solidFill>
                  <a:srgbClr val="1E293B"/>
                </a:solidFill>
                <a:latin typeface="Calibri"/>
                <a:ea typeface="Calibri"/>
                <a:cs typeface="Calibri"/>
                <a:sym typeface="Calibri"/>
              </a:rPr>
              <a:t>Attack Mechanics</a:t>
            </a:r>
            <a:endParaRPr sz="1000" b="1">
              <a:solidFill>
                <a:srgbClr val="1E293B"/>
              </a:solidFill>
              <a:latin typeface="Calibri"/>
              <a:ea typeface="Calibri"/>
              <a:cs typeface="Calibri"/>
              <a:sym typeface="Calibri"/>
            </a:endParaRPr>
          </a:p>
          <a:p>
            <a:pPr marL="0" lvl="0" indent="0" algn="l" rtl="0">
              <a:spcBef>
                <a:spcPts val="600"/>
              </a:spcBef>
              <a:spcAft>
                <a:spcPts val="0"/>
              </a:spcAft>
              <a:buNone/>
            </a:pPr>
            <a:r>
              <a:rPr lang="en-US" sz="1000">
                <a:solidFill>
                  <a:srgbClr val="1E293B"/>
                </a:solidFill>
                <a:latin typeface="Calibri"/>
                <a:ea typeface="Calibri"/>
                <a:cs typeface="Calibri"/>
                <a:sym typeface="Calibri"/>
              </a:rPr>
              <a:t>Without advanced security features, an attacker could potentially exploit vulnerabilities in SharePoint or its underlying operating system to escalate privileges. For example, they might use a buffer overflow to overwrite return addresses and execute arbitrary code. With Credential Guard enabled, the attacker would need to bypass the isolation provided by the virtualized environment, which is much harder. Similarly, without WDAC, an attacker could inject malicious code into a process, but with WDAC, only code signed by trusted publishers can run.</a:t>
            </a:r>
            <a:endParaRPr sz="1000">
              <a:solidFill>
                <a:srgbClr val="1E293B"/>
              </a:solidFill>
              <a:latin typeface="Calibri"/>
              <a:ea typeface="Calibri"/>
              <a:cs typeface="Calibri"/>
              <a:sym typeface="Calibri"/>
            </a:endParaRPr>
          </a:p>
          <a:p>
            <a:pPr marL="0" lvl="0" indent="0" algn="l" rtl="0">
              <a:spcBef>
                <a:spcPts val="600"/>
              </a:spcBef>
              <a:spcAft>
                <a:spcPts val="0"/>
              </a:spcAft>
              <a:buNone/>
            </a:pPr>
            <a:r>
              <a:rPr lang="en-US" sz="1000">
                <a:solidFill>
                  <a:srgbClr val="1E293B"/>
                </a:solidFill>
                <a:latin typeface="Calibri"/>
                <a:ea typeface="Calibri"/>
                <a:cs typeface="Calibri"/>
                <a:sym typeface="Calibri"/>
              </a:rPr>
              <a:t>…</a:t>
            </a:r>
            <a:endParaRPr sz="1000">
              <a:solidFill>
                <a:srgbClr val="1E293B"/>
              </a:solidFill>
              <a:latin typeface="Calibri"/>
              <a:ea typeface="Calibri"/>
              <a:cs typeface="Calibri"/>
              <a:sym typeface="Calibri"/>
            </a:endParaRPr>
          </a:p>
          <a:p>
            <a:pPr marL="0" lvl="0" indent="0" algn="l" rtl="0">
              <a:spcBef>
                <a:spcPts val="600"/>
              </a:spcBef>
              <a:spcAft>
                <a:spcPts val="0"/>
              </a:spcAft>
              <a:buNone/>
            </a:pPr>
            <a:r>
              <a:rPr lang="en-US" sz="1000">
                <a:solidFill>
                  <a:srgbClr val="1E293B"/>
                </a:solidFill>
                <a:latin typeface="Calibri"/>
                <a:ea typeface="Calibri"/>
                <a:cs typeface="Calibri"/>
                <a:sym typeface="Calibri"/>
              </a:rPr>
              <a:t>In summary, enabling advanced security features like Credential Guard and WDAC significantly reduces the risk of privilege escalation in SharePoint environments. While these features provide robust protection, organizations should still implement additional compensating controls to ensure comprehensive security.</a:t>
            </a:r>
            <a:endParaRPr sz="1000">
              <a:solidFill>
                <a:srgbClr val="1E293B"/>
              </a:solidFill>
              <a:latin typeface="Calibri"/>
              <a:ea typeface="Calibri"/>
              <a:cs typeface="Calibri"/>
              <a:sym typeface="Calibri"/>
            </a:endParaRPr>
          </a:p>
          <a:p>
            <a:pPr marL="0" lvl="0" indent="0" algn="l" rtl="0">
              <a:spcBef>
                <a:spcPts val="0"/>
              </a:spcBef>
              <a:spcAft>
                <a:spcPts val="0"/>
              </a:spcAft>
              <a:buNone/>
            </a:pPr>
            <a:endParaRPr sz="1000" b="1">
              <a:solidFill>
                <a:srgbClr val="1E293B"/>
              </a:solidFill>
              <a:latin typeface="Calibri"/>
              <a:ea typeface="Calibri"/>
              <a:cs typeface="Calibri"/>
              <a:sym typeface="Calibri"/>
            </a:endParaRPr>
          </a:p>
        </p:txBody>
      </p:sp>
      <p:grpSp>
        <p:nvGrpSpPr>
          <p:cNvPr id="328" name="Google Shape;328;p18"/>
          <p:cNvGrpSpPr/>
          <p:nvPr/>
        </p:nvGrpSpPr>
        <p:grpSpPr>
          <a:xfrm>
            <a:off x="457200" y="4429125"/>
            <a:ext cx="8229600" cy="571500"/>
            <a:chOff x="457200" y="4429125"/>
            <a:chExt cx="8229600" cy="571500"/>
          </a:xfrm>
        </p:grpSpPr>
        <p:sp>
          <p:nvSpPr>
            <p:cNvPr id="329" name="Google Shape;329;p18"/>
            <p:cNvSpPr/>
            <p:nvPr/>
          </p:nvSpPr>
          <p:spPr>
            <a:xfrm>
              <a:off x="457200" y="4429125"/>
              <a:ext cx="8229600" cy="571500"/>
            </a:xfrm>
            <a:prstGeom prst="roundRect">
              <a:avLst>
                <a:gd name="adj" fmla="val 13333"/>
              </a:avLst>
            </a:prstGeom>
            <a:solidFill>
              <a:srgbClr val="EFF6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0" name="Google Shape;330;p18"/>
            <p:cNvSpPr txBox="1"/>
            <p:nvPr/>
          </p:nvSpPr>
          <p:spPr>
            <a:xfrm>
              <a:off x="457200" y="4429125"/>
              <a:ext cx="8229600" cy="571500"/>
            </a:xfrm>
            <a:prstGeom prst="rect">
              <a:avLst/>
            </a:prstGeom>
            <a:noFill/>
            <a:ln>
              <a:noFill/>
            </a:ln>
          </p:spPr>
          <p:txBody>
            <a:bodyPr spcFirstLastPara="1" wrap="square" lIns="190500" tIns="0" rIns="190500" bIns="0" anchor="ctr" anchorCtr="0">
              <a:noAutofit/>
            </a:bodyPr>
            <a:lstStyle/>
            <a:p>
              <a:pPr marL="0" lvl="0" indent="0" algn="ctr" rtl="0">
                <a:spcBef>
                  <a:spcPts val="0"/>
                </a:spcBef>
                <a:spcAft>
                  <a:spcPts val="0"/>
                </a:spcAft>
                <a:buNone/>
              </a:pPr>
              <a:r>
                <a:rPr lang="en-US" sz="1100" b="1">
                  <a:solidFill>
                    <a:srgbClr val="1E40AF"/>
                  </a:solidFill>
                  <a:latin typeface="Calibri"/>
                  <a:ea typeface="Calibri"/>
                  <a:cs typeface="Calibri"/>
                  <a:sym typeface="Calibri"/>
                </a:rPr>
                <a:t>📊 </a:t>
              </a:r>
              <a:r>
                <a:rPr lang="en-US" sz="1100">
                  <a:solidFill>
                    <a:srgbClr val="1E40AF"/>
                  </a:solidFill>
                  <a:latin typeface="Calibri"/>
                  <a:ea typeface="Calibri"/>
                  <a:cs typeface="Calibri"/>
                  <a:sym typeface="Calibri"/>
                </a:rPr>
                <a:t>ROUGE-1: </a:t>
              </a:r>
              <a:r>
                <a:rPr lang="en-US" sz="1100" b="1">
                  <a:solidFill>
                    <a:srgbClr val="1E40AF"/>
                  </a:solidFill>
                  <a:latin typeface="Calibri"/>
                  <a:ea typeface="Calibri"/>
                  <a:cs typeface="Calibri"/>
                  <a:sym typeface="Calibri"/>
                </a:rPr>
                <a:t>0.3795 </a:t>
              </a:r>
              <a:r>
                <a:rPr lang="en-US" sz="1100">
                  <a:solidFill>
                    <a:srgbClr val="1E40AF"/>
                  </a:solidFill>
                  <a:latin typeface="Calibri"/>
                  <a:ea typeface="Calibri"/>
                  <a:cs typeface="Calibri"/>
                  <a:sym typeface="Calibri"/>
                </a:rPr>
                <a:t>ROUGE-L: </a:t>
              </a:r>
              <a:r>
                <a:rPr lang="en-US" sz="1100" b="1">
                  <a:solidFill>
                    <a:srgbClr val="1E40AF"/>
                  </a:solidFill>
                  <a:latin typeface="Calibri"/>
                  <a:ea typeface="Calibri"/>
                  <a:cs typeface="Calibri"/>
                  <a:sym typeface="Calibri"/>
                </a:rPr>
                <a:t>0.1598 </a:t>
              </a:r>
              <a:r>
                <a:rPr lang="en-US" sz="1100">
                  <a:solidFill>
                    <a:srgbClr val="1E40AF"/>
                  </a:solidFill>
                  <a:latin typeface="Calibri"/>
                  <a:ea typeface="Calibri"/>
                  <a:cs typeface="Calibri"/>
                  <a:sym typeface="Calibri"/>
                </a:rPr>
                <a:t>Semantik Benzerlik: </a:t>
              </a:r>
              <a:r>
                <a:rPr lang="en-US" sz="1100" b="1">
                  <a:solidFill>
                    <a:srgbClr val="1E40AF"/>
                  </a:solidFill>
                  <a:latin typeface="Calibri"/>
                  <a:ea typeface="Calibri"/>
                  <a:cs typeface="Calibri"/>
                  <a:sym typeface="Calibri"/>
                </a:rPr>
                <a:t>0.8013</a:t>
              </a:r>
              <a:endParaRPr sz="1100">
                <a:solidFill>
                  <a:srgbClr val="1E40AF"/>
                </a:solidFill>
                <a:latin typeface="Calibri"/>
                <a:ea typeface="Calibri"/>
                <a:cs typeface="Calibri"/>
                <a:sym typeface="Calibri"/>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35"/>
        <p:cNvGrpSpPr/>
        <p:nvPr/>
      </p:nvGrpSpPr>
      <p:grpSpPr>
        <a:xfrm>
          <a:off x="0" y="0"/>
          <a:ext cx="0" cy="0"/>
          <a:chOff x="0" y="0"/>
          <a:chExt cx="0" cy="0"/>
        </a:xfrm>
      </p:grpSpPr>
      <p:sp>
        <p:nvSpPr>
          <p:cNvPr id="336" name="Google Shape;336;p19"/>
          <p:cNvSpPr/>
          <p:nvPr/>
        </p:nvSpPr>
        <p:spPr>
          <a:xfrm>
            <a:off x="457200" y="285750"/>
            <a:ext cx="8229600" cy="571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3600" b="1">
                <a:solidFill>
                  <a:srgbClr val="0A1628"/>
                </a:solidFill>
                <a:latin typeface="Calibri"/>
                <a:ea typeface="Calibri"/>
                <a:cs typeface="Calibri"/>
                <a:sym typeface="Calibri"/>
              </a:rPr>
              <a:t>Sonuç</a:t>
            </a:r>
            <a:endParaRPr sz="3600" b="1">
              <a:solidFill>
                <a:srgbClr val="0A1628"/>
              </a:solidFill>
              <a:latin typeface="Calibri"/>
              <a:ea typeface="Calibri"/>
              <a:cs typeface="Calibri"/>
              <a:sym typeface="Calibri"/>
            </a:endParaRPr>
          </a:p>
        </p:txBody>
      </p:sp>
      <p:sp>
        <p:nvSpPr>
          <p:cNvPr id="337" name="Google Shape;337;p19"/>
          <p:cNvSpPr/>
          <p:nvPr/>
        </p:nvSpPr>
        <p:spPr>
          <a:xfrm>
            <a:off x="4000500" y="904875"/>
            <a:ext cx="1143000" cy="38100"/>
          </a:xfrm>
          <a:prstGeom prst="rect">
            <a:avLst/>
          </a:prstGeom>
          <a:solidFill>
            <a:srgbClr val="00C4E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338" name="Google Shape;338;p19"/>
          <p:cNvGrpSpPr/>
          <p:nvPr/>
        </p:nvGrpSpPr>
        <p:grpSpPr>
          <a:xfrm>
            <a:off x="457200" y="1190625"/>
            <a:ext cx="4019700" cy="1047900"/>
            <a:chOff x="457200" y="1190625"/>
            <a:chExt cx="4019700" cy="1047900"/>
          </a:xfrm>
        </p:grpSpPr>
        <p:sp>
          <p:nvSpPr>
            <p:cNvPr id="339" name="Google Shape;339;p19"/>
            <p:cNvSpPr/>
            <p:nvPr/>
          </p:nvSpPr>
          <p:spPr>
            <a:xfrm>
              <a:off x="457200" y="1190625"/>
              <a:ext cx="4019700" cy="1047900"/>
            </a:xfrm>
            <a:prstGeom prst="roundRect">
              <a:avLst>
                <a:gd name="adj" fmla="val 10907"/>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1" name="Google Shape;341;p19"/>
            <p:cNvSpPr txBox="1"/>
            <p:nvPr/>
          </p:nvSpPr>
          <p:spPr>
            <a:xfrm>
              <a:off x="1123950" y="1285875"/>
              <a:ext cx="3162300" cy="857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0">
                  <a:solidFill>
                    <a:srgbClr val="1E293B"/>
                  </a:solidFill>
                  <a:latin typeface="Calibri"/>
                  <a:ea typeface="Calibri"/>
                  <a:cs typeface="Calibri"/>
                  <a:sym typeface="Calibri"/>
                </a:rPr>
                <a:t>LoRA ince ayarı, temel modeli siber güvenlik açıklarını analiz edebilen uzmanlaşmış bir modele dönüştürdü.</a:t>
              </a:r>
              <a:endParaRPr sz="1100" b="0">
                <a:solidFill>
                  <a:srgbClr val="1E293B"/>
                </a:solidFill>
                <a:latin typeface="Calibri"/>
                <a:ea typeface="Calibri"/>
                <a:cs typeface="Calibri"/>
                <a:sym typeface="Calibri"/>
              </a:endParaRPr>
            </a:p>
          </p:txBody>
        </p:sp>
      </p:grpSp>
      <p:grpSp>
        <p:nvGrpSpPr>
          <p:cNvPr id="342" name="Google Shape;342;p19"/>
          <p:cNvGrpSpPr/>
          <p:nvPr/>
        </p:nvGrpSpPr>
        <p:grpSpPr>
          <a:xfrm>
            <a:off x="4667250" y="1190625"/>
            <a:ext cx="4019700" cy="1047900"/>
            <a:chOff x="4667250" y="1190625"/>
            <a:chExt cx="4019700" cy="1047900"/>
          </a:xfrm>
        </p:grpSpPr>
        <p:sp>
          <p:nvSpPr>
            <p:cNvPr id="343" name="Google Shape;343;p19"/>
            <p:cNvSpPr/>
            <p:nvPr/>
          </p:nvSpPr>
          <p:spPr>
            <a:xfrm>
              <a:off x="4667250" y="1190625"/>
              <a:ext cx="4019700" cy="1047900"/>
            </a:xfrm>
            <a:prstGeom prst="roundRect">
              <a:avLst>
                <a:gd name="adj" fmla="val 10907"/>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5" name="Google Shape;345;p19"/>
            <p:cNvSpPr txBox="1"/>
            <p:nvPr/>
          </p:nvSpPr>
          <p:spPr>
            <a:xfrm>
              <a:off x="5334000" y="1285875"/>
              <a:ext cx="3162300" cy="857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0">
                  <a:solidFill>
                    <a:srgbClr val="1E293B"/>
                  </a:solidFill>
                  <a:latin typeface="Calibri"/>
                  <a:ea typeface="Calibri"/>
                  <a:cs typeface="Calibri"/>
                  <a:sym typeface="Calibri"/>
                </a:rPr>
                <a:t>BigVul'da F1=0 → 0.90 ile dramatik performans artışı; model zafiyet tespitini sıfırdan öğrendi.</a:t>
              </a:r>
              <a:endParaRPr sz="1100" b="0">
                <a:solidFill>
                  <a:srgbClr val="1E293B"/>
                </a:solidFill>
                <a:latin typeface="Calibri"/>
                <a:ea typeface="Calibri"/>
                <a:cs typeface="Calibri"/>
                <a:sym typeface="Calibri"/>
              </a:endParaRPr>
            </a:p>
          </p:txBody>
        </p:sp>
      </p:grpSp>
      <p:grpSp>
        <p:nvGrpSpPr>
          <p:cNvPr id="346" name="Google Shape;346;p19"/>
          <p:cNvGrpSpPr/>
          <p:nvPr/>
        </p:nvGrpSpPr>
        <p:grpSpPr>
          <a:xfrm>
            <a:off x="457200" y="2428875"/>
            <a:ext cx="4019700" cy="1047900"/>
            <a:chOff x="457200" y="2428875"/>
            <a:chExt cx="4019700" cy="1047900"/>
          </a:xfrm>
        </p:grpSpPr>
        <p:sp>
          <p:nvSpPr>
            <p:cNvPr id="347" name="Google Shape;347;p19"/>
            <p:cNvSpPr/>
            <p:nvPr/>
          </p:nvSpPr>
          <p:spPr>
            <a:xfrm>
              <a:off x="457200" y="2428875"/>
              <a:ext cx="4019700" cy="1047900"/>
            </a:xfrm>
            <a:prstGeom prst="roundRect">
              <a:avLst>
                <a:gd name="adj" fmla="val 10907"/>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9" name="Google Shape;349;p19"/>
            <p:cNvSpPr txBox="1"/>
            <p:nvPr/>
          </p:nvSpPr>
          <p:spPr>
            <a:xfrm>
              <a:off x="1123950" y="2524125"/>
              <a:ext cx="3162300" cy="857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0">
                  <a:solidFill>
                    <a:srgbClr val="1E293B"/>
                  </a:solidFill>
                  <a:latin typeface="Calibri"/>
                  <a:ea typeface="Calibri"/>
                  <a:cs typeface="Calibri"/>
                  <a:sym typeface="Calibri"/>
                </a:rPr>
                <a:t>Fenrir-v2.1'de tüm metriklerde iyileşme sağlandı; diyalogsal siber güvenlik muhakemesi güçlendi.</a:t>
              </a:r>
              <a:endParaRPr sz="1100" b="0">
                <a:solidFill>
                  <a:srgbClr val="1E293B"/>
                </a:solidFill>
                <a:latin typeface="Calibri"/>
                <a:ea typeface="Calibri"/>
                <a:cs typeface="Calibri"/>
                <a:sym typeface="Calibri"/>
              </a:endParaRPr>
            </a:p>
          </p:txBody>
        </p:sp>
      </p:grpSp>
      <p:grpSp>
        <p:nvGrpSpPr>
          <p:cNvPr id="350" name="Google Shape;350;p19"/>
          <p:cNvGrpSpPr/>
          <p:nvPr/>
        </p:nvGrpSpPr>
        <p:grpSpPr>
          <a:xfrm>
            <a:off x="457200" y="3667125"/>
            <a:ext cx="8229600" cy="857400"/>
            <a:chOff x="457200" y="3667125"/>
            <a:chExt cx="8229600" cy="857400"/>
          </a:xfrm>
        </p:grpSpPr>
        <p:sp>
          <p:nvSpPr>
            <p:cNvPr id="351" name="Google Shape;351;p19"/>
            <p:cNvSpPr/>
            <p:nvPr/>
          </p:nvSpPr>
          <p:spPr>
            <a:xfrm>
              <a:off x="457200" y="3667125"/>
              <a:ext cx="8229600" cy="857400"/>
            </a:xfrm>
            <a:prstGeom prst="roundRect">
              <a:avLst>
                <a:gd name="adj" fmla="val 13331"/>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53" name="Google Shape;353;p19"/>
            <p:cNvSpPr txBox="1"/>
            <p:nvPr/>
          </p:nvSpPr>
          <p:spPr>
            <a:xfrm>
              <a:off x="1123950" y="3667125"/>
              <a:ext cx="7372500" cy="857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0">
                  <a:solidFill>
                    <a:srgbClr val="1E293B"/>
                  </a:solidFill>
                  <a:latin typeface="Calibri"/>
                  <a:ea typeface="Calibri"/>
                  <a:cs typeface="Calibri"/>
                  <a:sym typeface="Calibri"/>
                </a:rPr>
                <a:t>Heterojen veri setlerinin birlikte kullanımı LLM'lere güvenlik farkındalığı kazandırmada etkili bir stratejidir.</a:t>
              </a:r>
              <a:endParaRPr sz="1100" b="0">
                <a:solidFill>
                  <a:srgbClr val="1E293B"/>
                </a:solidFill>
                <a:latin typeface="Calibri"/>
                <a:ea typeface="Calibri"/>
                <a:cs typeface="Calibri"/>
                <a:sym typeface="Calibri"/>
              </a:endParaRPr>
            </a:p>
          </p:txBody>
        </p:sp>
      </p:grpSp>
      <p:grpSp>
        <p:nvGrpSpPr>
          <p:cNvPr id="354" name="Google Shape;354;p19"/>
          <p:cNvGrpSpPr/>
          <p:nvPr/>
        </p:nvGrpSpPr>
        <p:grpSpPr>
          <a:xfrm>
            <a:off x="4667250" y="2428875"/>
            <a:ext cx="4019700" cy="1047900"/>
            <a:chOff x="4667250" y="2428875"/>
            <a:chExt cx="4019700" cy="1047900"/>
          </a:xfrm>
        </p:grpSpPr>
        <p:sp>
          <p:nvSpPr>
            <p:cNvPr id="355" name="Google Shape;355;p19"/>
            <p:cNvSpPr/>
            <p:nvPr/>
          </p:nvSpPr>
          <p:spPr>
            <a:xfrm>
              <a:off x="4667250" y="2428875"/>
              <a:ext cx="4019700" cy="1047900"/>
            </a:xfrm>
            <a:prstGeom prst="roundRect">
              <a:avLst>
                <a:gd name="adj" fmla="val 10907"/>
              </a:avLst>
            </a:prstGeom>
            <a:solidFill>
              <a:srgbClr val="FFFBEB"/>
            </a:solidFill>
            <a:ln w="9525" cap="flat" cmpd="sng">
              <a:solidFill>
                <a:srgbClr val="FED7AA"/>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56" name="Google Shape;356;p19"/>
            <p:cNvSpPr txBox="1"/>
            <p:nvPr/>
          </p:nvSpPr>
          <p:spPr>
            <a:xfrm>
              <a:off x="5334000" y="2524125"/>
              <a:ext cx="3162300" cy="857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0">
                  <a:solidFill>
                    <a:srgbClr val="92400E"/>
                  </a:solidFill>
                  <a:latin typeface="Calibri"/>
                  <a:ea typeface="Calibri"/>
                  <a:cs typeface="Calibri"/>
                  <a:sym typeface="Calibri"/>
                </a:rPr>
                <a:t>SecureCode-Web'de precision arttı ancak küçük veri seti etkisiyle recall düştü — gelecekte ele alınabilir.</a:t>
              </a:r>
              <a:endParaRPr sz="1100" b="0">
                <a:solidFill>
                  <a:srgbClr val="92400E"/>
                </a:solidFill>
                <a:latin typeface="Calibri"/>
                <a:ea typeface="Calibri"/>
                <a:cs typeface="Calibri"/>
                <a:sym typeface="Calibri"/>
              </a:endParaRPr>
            </a:p>
          </p:txBody>
        </p:sp>
      </p:grpSp>
      <p:pic>
        <p:nvPicPr>
          <p:cNvPr id="2" name="Resim 1">
            <a:extLst>
              <a:ext uri="{FF2B5EF4-FFF2-40B4-BE49-F238E27FC236}">
                <a16:creationId xmlns:a16="http://schemas.microsoft.com/office/drawing/2014/main" id="{C822B121-A4EA-1815-6EBA-6739E90B28E5}"/>
              </a:ext>
            </a:extLst>
          </p:cNvPr>
          <p:cNvPicPr>
            <a:picLocks noChangeAspect="1"/>
          </p:cNvPicPr>
          <p:nvPr/>
        </p:nvPicPr>
        <p:blipFill>
          <a:blip r:embed="rId4"/>
          <a:stretch>
            <a:fillRect/>
          </a:stretch>
        </p:blipFill>
        <p:spPr>
          <a:xfrm>
            <a:off x="642205" y="1368552"/>
            <a:ext cx="386495" cy="475686"/>
          </a:xfrm>
          <a:prstGeom prst="rect">
            <a:avLst/>
          </a:prstGeom>
        </p:spPr>
      </p:pic>
      <p:pic>
        <p:nvPicPr>
          <p:cNvPr id="3" name="Resim 2">
            <a:extLst>
              <a:ext uri="{FF2B5EF4-FFF2-40B4-BE49-F238E27FC236}">
                <a16:creationId xmlns:a16="http://schemas.microsoft.com/office/drawing/2014/main" id="{57F75C90-95BC-756F-B84E-FF4FB49F4B89}"/>
              </a:ext>
            </a:extLst>
          </p:cNvPr>
          <p:cNvPicPr>
            <a:picLocks noChangeAspect="1"/>
          </p:cNvPicPr>
          <p:nvPr/>
        </p:nvPicPr>
        <p:blipFill>
          <a:blip r:embed="rId5"/>
          <a:stretch>
            <a:fillRect/>
          </a:stretch>
        </p:blipFill>
        <p:spPr>
          <a:xfrm>
            <a:off x="626342" y="2724665"/>
            <a:ext cx="358089" cy="432914"/>
          </a:xfrm>
          <a:prstGeom prst="rect">
            <a:avLst/>
          </a:prstGeom>
        </p:spPr>
      </p:pic>
      <p:pic>
        <p:nvPicPr>
          <p:cNvPr id="4" name="Resim 3">
            <a:extLst>
              <a:ext uri="{FF2B5EF4-FFF2-40B4-BE49-F238E27FC236}">
                <a16:creationId xmlns:a16="http://schemas.microsoft.com/office/drawing/2014/main" id="{A6DD85F5-6BE1-4F1F-F714-2B75D3C90E5E}"/>
              </a:ext>
            </a:extLst>
          </p:cNvPr>
          <p:cNvPicPr>
            <a:picLocks noChangeAspect="1"/>
          </p:cNvPicPr>
          <p:nvPr/>
        </p:nvPicPr>
        <p:blipFill>
          <a:blip r:embed="rId6"/>
          <a:stretch>
            <a:fillRect/>
          </a:stretch>
        </p:blipFill>
        <p:spPr>
          <a:xfrm>
            <a:off x="603835" y="3848074"/>
            <a:ext cx="403105" cy="459353"/>
          </a:xfrm>
          <a:prstGeom prst="rect">
            <a:avLst/>
          </a:prstGeom>
        </p:spPr>
      </p:pic>
      <p:pic>
        <p:nvPicPr>
          <p:cNvPr id="5" name="Resim 4">
            <a:extLst>
              <a:ext uri="{FF2B5EF4-FFF2-40B4-BE49-F238E27FC236}">
                <a16:creationId xmlns:a16="http://schemas.microsoft.com/office/drawing/2014/main" id="{8C9D7D01-A630-2223-A38A-244C2771879F}"/>
              </a:ext>
            </a:extLst>
          </p:cNvPr>
          <p:cNvPicPr>
            <a:picLocks noChangeAspect="1"/>
          </p:cNvPicPr>
          <p:nvPr/>
        </p:nvPicPr>
        <p:blipFill>
          <a:blip r:embed="rId7"/>
          <a:stretch>
            <a:fillRect/>
          </a:stretch>
        </p:blipFill>
        <p:spPr>
          <a:xfrm>
            <a:off x="4794397" y="1411148"/>
            <a:ext cx="444353" cy="473332"/>
          </a:xfrm>
          <a:prstGeom prst="rect">
            <a:avLst/>
          </a:prstGeom>
        </p:spPr>
      </p:pic>
      <p:pic>
        <p:nvPicPr>
          <p:cNvPr id="6" name="Resim 5">
            <a:extLst>
              <a:ext uri="{FF2B5EF4-FFF2-40B4-BE49-F238E27FC236}">
                <a16:creationId xmlns:a16="http://schemas.microsoft.com/office/drawing/2014/main" id="{47DBC6D5-1FFC-53C4-689D-5FB0F378F7F6}"/>
              </a:ext>
            </a:extLst>
          </p:cNvPr>
          <p:cNvPicPr>
            <a:picLocks noChangeAspect="1"/>
          </p:cNvPicPr>
          <p:nvPr/>
        </p:nvPicPr>
        <p:blipFill>
          <a:blip r:embed="rId8"/>
          <a:stretch>
            <a:fillRect/>
          </a:stretch>
        </p:blipFill>
        <p:spPr>
          <a:xfrm>
            <a:off x="4764860" y="2724665"/>
            <a:ext cx="471531" cy="4563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62"/>
        <p:cNvGrpSpPr/>
        <p:nvPr/>
      </p:nvGrpSpPr>
      <p:grpSpPr>
        <a:xfrm>
          <a:off x="0" y="0"/>
          <a:ext cx="0" cy="0"/>
          <a:chOff x="0" y="0"/>
          <a:chExt cx="0" cy="0"/>
        </a:xfrm>
      </p:grpSpPr>
      <p:sp>
        <p:nvSpPr>
          <p:cNvPr id="363" name="Google Shape;363;p20"/>
          <p:cNvSpPr/>
          <p:nvPr/>
        </p:nvSpPr>
        <p:spPr>
          <a:xfrm>
            <a:off x="457200" y="201168"/>
            <a:ext cx="822960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A1628"/>
              </a:buClr>
              <a:buSzPts val="2800"/>
              <a:buFont typeface="Calibri"/>
              <a:buNone/>
            </a:pPr>
            <a:r>
              <a:rPr lang="en-US" sz="2800" b="1" i="0" u="none" strike="noStrike" cap="none">
                <a:solidFill>
                  <a:srgbClr val="0A1628"/>
                </a:solidFill>
                <a:latin typeface="Calibri"/>
                <a:ea typeface="Calibri"/>
                <a:cs typeface="Calibri"/>
                <a:sym typeface="Calibri"/>
              </a:rPr>
              <a:t>Gelecek Çalışmalar</a:t>
            </a:r>
            <a:endParaRPr sz="2800" b="0" i="0" u="none" strike="noStrike" cap="none">
              <a:solidFill>
                <a:schemeClr val="dk1"/>
              </a:solidFill>
              <a:latin typeface="Calibri"/>
              <a:ea typeface="Calibri"/>
              <a:cs typeface="Calibri"/>
              <a:sym typeface="Calibri"/>
            </a:endParaRPr>
          </a:p>
        </p:txBody>
      </p:sp>
      <p:sp>
        <p:nvSpPr>
          <p:cNvPr id="364" name="Google Shape;364;p20"/>
          <p:cNvSpPr/>
          <p:nvPr/>
        </p:nvSpPr>
        <p:spPr>
          <a:xfrm>
            <a:off x="457200" y="932688"/>
            <a:ext cx="8229600" cy="22860"/>
          </a:xfrm>
          <a:prstGeom prst="rect">
            <a:avLst/>
          </a:prstGeom>
          <a:solidFill>
            <a:srgbClr val="DBEA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0"/>
          <p:cNvSpPr/>
          <p:nvPr/>
        </p:nvSpPr>
        <p:spPr>
          <a:xfrm>
            <a:off x="365760" y="1078992"/>
            <a:ext cx="4023360" cy="1143000"/>
          </a:xfrm>
          <a:prstGeom prst="roundRect">
            <a:avLst>
              <a:gd name="adj" fmla="val 6400"/>
            </a:avLst>
          </a:prstGeom>
          <a:solidFill>
            <a:srgbClr val="F8FB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0"/>
          <p:cNvSpPr/>
          <p:nvPr/>
        </p:nvSpPr>
        <p:spPr>
          <a:xfrm>
            <a:off x="548590" y="1206877"/>
            <a:ext cx="274200" cy="274200"/>
          </a:xfrm>
          <a:prstGeom prst="ellipse">
            <a:avLst/>
          </a:prstGeom>
          <a:solidFill>
            <a:srgbClr val="0A7E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0"/>
          <p:cNvSpPr/>
          <p:nvPr/>
        </p:nvSpPr>
        <p:spPr>
          <a:xfrm>
            <a:off x="932688" y="1170432"/>
            <a:ext cx="3291840" cy="3474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332"/>
              </a:buClr>
              <a:buSzPts val="1300"/>
              <a:buFont typeface="Calibri"/>
              <a:buNone/>
            </a:pPr>
            <a:r>
              <a:rPr lang="en-US" sz="1300" b="1" i="0" u="none" strike="noStrike" cap="none">
                <a:solidFill>
                  <a:srgbClr val="1A2332"/>
                </a:solidFill>
                <a:latin typeface="Calibri"/>
                <a:ea typeface="Calibri"/>
                <a:cs typeface="Calibri"/>
                <a:sym typeface="Calibri"/>
              </a:rPr>
              <a:t>Veri Seti Genişletme</a:t>
            </a:r>
            <a:endParaRPr sz="1300" b="0" i="0" u="none" strike="noStrike" cap="none">
              <a:solidFill>
                <a:schemeClr val="dk1"/>
              </a:solidFill>
              <a:latin typeface="Calibri"/>
              <a:ea typeface="Calibri"/>
              <a:cs typeface="Calibri"/>
              <a:sym typeface="Calibri"/>
            </a:endParaRPr>
          </a:p>
        </p:txBody>
      </p:sp>
      <p:sp>
        <p:nvSpPr>
          <p:cNvPr id="368" name="Google Shape;368;p20"/>
          <p:cNvSpPr/>
          <p:nvPr/>
        </p:nvSpPr>
        <p:spPr>
          <a:xfrm>
            <a:off x="548640" y="1554480"/>
            <a:ext cx="3657600" cy="5943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A5568"/>
              </a:buClr>
              <a:buSzPts val="1100"/>
              <a:buFont typeface="Calibri"/>
              <a:buNone/>
            </a:pPr>
            <a:r>
              <a:rPr lang="en-US" sz="1100" b="0" i="0" u="none" strike="noStrike" cap="none">
                <a:solidFill>
                  <a:srgbClr val="4A5568"/>
                </a:solidFill>
                <a:latin typeface="Calibri"/>
                <a:ea typeface="Calibri"/>
                <a:cs typeface="Calibri"/>
                <a:sym typeface="Calibri"/>
              </a:rPr>
              <a:t>SecureCode-Web için ek OWASP odaklı veri toplanabilir; yeni veri setleri eklenerek kapsam genişletilebilir.</a:t>
            </a:r>
            <a:endParaRPr sz="1100" b="0" i="0" u="none" strike="noStrike" cap="none">
              <a:solidFill>
                <a:schemeClr val="dk1"/>
              </a:solidFill>
              <a:latin typeface="Calibri"/>
              <a:ea typeface="Calibri"/>
              <a:cs typeface="Calibri"/>
              <a:sym typeface="Calibri"/>
            </a:endParaRPr>
          </a:p>
        </p:txBody>
      </p:sp>
      <p:sp>
        <p:nvSpPr>
          <p:cNvPr id="369" name="Google Shape;369;p20"/>
          <p:cNvSpPr/>
          <p:nvPr/>
        </p:nvSpPr>
        <p:spPr>
          <a:xfrm>
            <a:off x="4754880" y="1078992"/>
            <a:ext cx="4023360" cy="1143000"/>
          </a:xfrm>
          <a:prstGeom prst="roundRect">
            <a:avLst>
              <a:gd name="adj" fmla="val 6400"/>
            </a:avLst>
          </a:prstGeom>
          <a:solidFill>
            <a:srgbClr val="F8FB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0"/>
          <p:cNvSpPr/>
          <p:nvPr/>
        </p:nvSpPr>
        <p:spPr>
          <a:xfrm>
            <a:off x="4919472" y="1207002"/>
            <a:ext cx="274200" cy="274200"/>
          </a:xfrm>
          <a:prstGeom prst="ellipse">
            <a:avLst/>
          </a:prstGeom>
          <a:solidFill>
            <a:srgbClr val="0E9F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0"/>
          <p:cNvSpPr/>
          <p:nvPr/>
        </p:nvSpPr>
        <p:spPr>
          <a:xfrm>
            <a:off x="5321808" y="1170432"/>
            <a:ext cx="3291840" cy="3474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332"/>
              </a:buClr>
              <a:buSzPts val="1300"/>
              <a:buFont typeface="Calibri"/>
              <a:buNone/>
            </a:pPr>
            <a:r>
              <a:rPr lang="en-US" sz="1300" b="1" i="0" u="none" strike="noStrike" cap="none">
                <a:solidFill>
                  <a:srgbClr val="1A2332"/>
                </a:solidFill>
                <a:latin typeface="Calibri"/>
                <a:ea typeface="Calibri"/>
                <a:cs typeface="Calibri"/>
                <a:sym typeface="Calibri"/>
              </a:rPr>
              <a:t>Daha Büyük Modeller</a:t>
            </a:r>
            <a:endParaRPr sz="1300" b="0" i="0" u="none" strike="noStrike" cap="none">
              <a:solidFill>
                <a:schemeClr val="dk1"/>
              </a:solidFill>
              <a:latin typeface="Calibri"/>
              <a:ea typeface="Calibri"/>
              <a:cs typeface="Calibri"/>
              <a:sym typeface="Calibri"/>
            </a:endParaRPr>
          </a:p>
        </p:txBody>
      </p:sp>
      <p:sp>
        <p:nvSpPr>
          <p:cNvPr id="372" name="Google Shape;372;p20"/>
          <p:cNvSpPr/>
          <p:nvPr/>
        </p:nvSpPr>
        <p:spPr>
          <a:xfrm>
            <a:off x="4937760" y="1554480"/>
            <a:ext cx="3657600" cy="5943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A5568"/>
              </a:buClr>
              <a:buSzPts val="1100"/>
              <a:buFont typeface="Calibri"/>
              <a:buNone/>
            </a:pPr>
            <a:r>
              <a:rPr lang="en-US" sz="1100" b="0" i="0" u="none" strike="noStrike" cap="none">
                <a:solidFill>
                  <a:srgbClr val="4A5568"/>
                </a:solidFill>
                <a:latin typeface="Calibri"/>
                <a:ea typeface="Calibri"/>
                <a:cs typeface="Calibri"/>
                <a:sym typeface="Calibri"/>
              </a:rPr>
              <a:t>Qwen 2.5 Coder 32B veya Llama 3 gibi daha büyük modeller ile deneylerin tekrarlanması.</a:t>
            </a:r>
            <a:endParaRPr sz="1100" b="0" i="0" u="none" strike="noStrike" cap="none">
              <a:solidFill>
                <a:schemeClr val="dk1"/>
              </a:solidFill>
              <a:latin typeface="Calibri"/>
              <a:ea typeface="Calibri"/>
              <a:cs typeface="Calibri"/>
              <a:sym typeface="Calibri"/>
            </a:endParaRPr>
          </a:p>
        </p:txBody>
      </p:sp>
      <p:sp>
        <p:nvSpPr>
          <p:cNvPr id="373" name="Google Shape;373;p20"/>
          <p:cNvSpPr/>
          <p:nvPr/>
        </p:nvSpPr>
        <p:spPr>
          <a:xfrm>
            <a:off x="365760" y="2377440"/>
            <a:ext cx="4023360" cy="1143000"/>
          </a:xfrm>
          <a:prstGeom prst="roundRect">
            <a:avLst>
              <a:gd name="adj" fmla="val 6400"/>
            </a:avLst>
          </a:prstGeom>
          <a:solidFill>
            <a:srgbClr val="F8FB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0"/>
          <p:cNvSpPr/>
          <p:nvPr/>
        </p:nvSpPr>
        <p:spPr>
          <a:xfrm>
            <a:off x="548652" y="2505450"/>
            <a:ext cx="274200" cy="274200"/>
          </a:xfrm>
          <a:prstGeom prst="ellipse">
            <a:avLst/>
          </a:prstGeom>
          <a:solidFill>
            <a:srgbClr val="7C3A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0"/>
          <p:cNvSpPr/>
          <p:nvPr/>
        </p:nvSpPr>
        <p:spPr>
          <a:xfrm>
            <a:off x="932688" y="2468880"/>
            <a:ext cx="3291840" cy="3474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332"/>
              </a:buClr>
              <a:buSzPts val="1300"/>
              <a:buFont typeface="Calibri"/>
              <a:buNone/>
            </a:pPr>
            <a:r>
              <a:rPr lang="en-US" sz="1300" b="1" i="0" u="none" strike="noStrike" cap="none">
                <a:solidFill>
                  <a:srgbClr val="1A2332"/>
                </a:solidFill>
                <a:latin typeface="Calibri"/>
                <a:ea typeface="Calibri"/>
                <a:cs typeface="Calibri"/>
                <a:sym typeface="Calibri"/>
              </a:rPr>
              <a:t>Gerçek Dünya Değerlendirmesi</a:t>
            </a:r>
            <a:endParaRPr sz="1300" b="0" i="0" u="none" strike="noStrike" cap="none">
              <a:solidFill>
                <a:schemeClr val="dk1"/>
              </a:solidFill>
              <a:latin typeface="Calibri"/>
              <a:ea typeface="Calibri"/>
              <a:cs typeface="Calibri"/>
              <a:sym typeface="Calibri"/>
            </a:endParaRPr>
          </a:p>
        </p:txBody>
      </p:sp>
      <p:sp>
        <p:nvSpPr>
          <p:cNvPr id="376" name="Google Shape;376;p20"/>
          <p:cNvSpPr/>
          <p:nvPr/>
        </p:nvSpPr>
        <p:spPr>
          <a:xfrm>
            <a:off x="548640" y="2852928"/>
            <a:ext cx="3657600" cy="5943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A5568"/>
              </a:buClr>
              <a:buSzPts val="1100"/>
              <a:buFont typeface="Calibri"/>
              <a:buNone/>
            </a:pPr>
            <a:r>
              <a:rPr lang="en-US" sz="1100" b="0" i="0" u="none" strike="noStrike" cap="none">
                <a:solidFill>
                  <a:srgbClr val="4A5568"/>
                </a:solidFill>
                <a:latin typeface="Calibri"/>
                <a:ea typeface="Calibri"/>
                <a:cs typeface="Calibri"/>
                <a:sym typeface="Calibri"/>
              </a:rPr>
              <a:t>Modelin sızma testi ve gerçek zafiyet taraması senaryolarında test edilmesi.</a:t>
            </a:r>
            <a:endParaRPr sz="1100" b="0" i="0" u="none" strike="noStrike" cap="none">
              <a:solidFill>
                <a:schemeClr val="dk1"/>
              </a:solidFill>
              <a:latin typeface="Calibri"/>
              <a:ea typeface="Calibri"/>
              <a:cs typeface="Calibri"/>
              <a:sym typeface="Calibri"/>
            </a:endParaRPr>
          </a:p>
        </p:txBody>
      </p:sp>
      <p:sp>
        <p:nvSpPr>
          <p:cNvPr id="377" name="Google Shape;377;p20"/>
          <p:cNvSpPr/>
          <p:nvPr/>
        </p:nvSpPr>
        <p:spPr>
          <a:xfrm>
            <a:off x="4754880" y="2377440"/>
            <a:ext cx="4023360" cy="1143000"/>
          </a:xfrm>
          <a:prstGeom prst="roundRect">
            <a:avLst>
              <a:gd name="adj" fmla="val 6400"/>
            </a:avLst>
          </a:prstGeom>
          <a:solidFill>
            <a:srgbClr val="F8FB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0"/>
          <p:cNvSpPr/>
          <p:nvPr/>
        </p:nvSpPr>
        <p:spPr>
          <a:xfrm>
            <a:off x="4919472" y="2505450"/>
            <a:ext cx="274200" cy="274200"/>
          </a:xfrm>
          <a:prstGeom prst="ellipse">
            <a:avLst/>
          </a:prstGeom>
          <a:solidFill>
            <a:srgbClr val="D977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0"/>
          <p:cNvSpPr/>
          <p:nvPr/>
        </p:nvSpPr>
        <p:spPr>
          <a:xfrm>
            <a:off x="5321808" y="2468880"/>
            <a:ext cx="3291840" cy="3474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332"/>
              </a:buClr>
              <a:buSzPts val="1300"/>
              <a:buFont typeface="Calibri"/>
              <a:buNone/>
            </a:pPr>
            <a:r>
              <a:rPr lang="en-US" sz="1300" b="1" i="0" u="none" strike="noStrike" cap="none">
                <a:solidFill>
                  <a:srgbClr val="1A2332"/>
                </a:solidFill>
                <a:latin typeface="Calibri"/>
                <a:ea typeface="Calibri"/>
                <a:cs typeface="Calibri"/>
                <a:sym typeface="Calibri"/>
              </a:rPr>
              <a:t>RLHF Entegrasyonu</a:t>
            </a:r>
            <a:endParaRPr sz="1300" b="0" i="0" u="none" strike="noStrike" cap="none">
              <a:solidFill>
                <a:schemeClr val="dk1"/>
              </a:solidFill>
              <a:latin typeface="Calibri"/>
              <a:ea typeface="Calibri"/>
              <a:cs typeface="Calibri"/>
              <a:sym typeface="Calibri"/>
            </a:endParaRPr>
          </a:p>
        </p:txBody>
      </p:sp>
      <p:sp>
        <p:nvSpPr>
          <p:cNvPr id="380" name="Google Shape;380;p20"/>
          <p:cNvSpPr/>
          <p:nvPr/>
        </p:nvSpPr>
        <p:spPr>
          <a:xfrm>
            <a:off x="4937760" y="2852928"/>
            <a:ext cx="3657600" cy="594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A5568"/>
              </a:buClr>
              <a:buSzPts val="1100"/>
              <a:buFont typeface="Calibri"/>
              <a:buNone/>
            </a:pPr>
            <a:r>
              <a:rPr lang="en-US" sz="1100" b="0" i="0" u="none" strike="noStrike" cap="none">
                <a:solidFill>
                  <a:srgbClr val="4A5568"/>
                </a:solidFill>
                <a:latin typeface="Calibri"/>
                <a:ea typeface="Calibri"/>
                <a:cs typeface="Calibri"/>
                <a:sym typeface="Calibri"/>
              </a:rPr>
              <a:t>Güvenlik uzmanı geri bildirimiyle pekiştirmeli öğrenme uygulanarak model kalitesi </a:t>
            </a:r>
            <a:r>
              <a:rPr lang="en-US" sz="1100">
                <a:solidFill>
                  <a:srgbClr val="4A5568"/>
                </a:solidFill>
                <a:latin typeface="Calibri"/>
                <a:ea typeface="Calibri"/>
                <a:cs typeface="Calibri"/>
                <a:sym typeface="Calibri"/>
              </a:rPr>
              <a:t>arttırılabilir</a:t>
            </a:r>
            <a:r>
              <a:rPr lang="en-US" sz="1100" b="0" i="0" u="none" strike="noStrike" cap="none">
                <a:solidFill>
                  <a:srgbClr val="4A5568"/>
                </a:solidFill>
                <a:latin typeface="Calibri"/>
                <a:ea typeface="Calibri"/>
                <a:cs typeface="Calibri"/>
                <a:sym typeface="Calibri"/>
              </a:rPr>
              <a:t>.</a:t>
            </a:r>
            <a:endParaRPr sz="1100" b="0" i="0" u="none" strike="noStrike" cap="none">
              <a:solidFill>
                <a:schemeClr val="dk1"/>
              </a:solidFill>
              <a:latin typeface="Calibri"/>
              <a:ea typeface="Calibri"/>
              <a:cs typeface="Calibri"/>
              <a:sym typeface="Calibri"/>
            </a:endParaRPr>
          </a:p>
        </p:txBody>
      </p:sp>
      <p:sp>
        <p:nvSpPr>
          <p:cNvPr id="381" name="Google Shape;381;p20"/>
          <p:cNvSpPr/>
          <p:nvPr/>
        </p:nvSpPr>
        <p:spPr>
          <a:xfrm>
            <a:off x="365760" y="3675888"/>
            <a:ext cx="4023360" cy="1143000"/>
          </a:xfrm>
          <a:prstGeom prst="roundRect">
            <a:avLst>
              <a:gd name="adj" fmla="val 6400"/>
            </a:avLst>
          </a:prstGeom>
          <a:solidFill>
            <a:srgbClr val="F8FB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0"/>
          <p:cNvSpPr/>
          <p:nvPr/>
        </p:nvSpPr>
        <p:spPr>
          <a:xfrm>
            <a:off x="530352" y="3803898"/>
            <a:ext cx="274200" cy="274200"/>
          </a:xfrm>
          <a:prstGeom prst="ellipse">
            <a:avLst/>
          </a:prstGeom>
          <a:solidFill>
            <a:srgbClr val="DC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0"/>
          <p:cNvSpPr/>
          <p:nvPr/>
        </p:nvSpPr>
        <p:spPr>
          <a:xfrm>
            <a:off x="932688" y="3767328"/>
            <a:ext cx="3291840" cy="3474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332"/>
              </a:buClr>
              <a:buSzPts val="1300"/>
              <a:buFont typeface="Calibri"/>
              <a:buNone/>
            </a:pPr>
            <a:r>
              <a:rPr lang="en-US" sz="1300" b="1" i="0" u="none" strike="noStrike" cap="none">
                <a:solidFill>
                  <a:srgbClr val="1A2332"/>
                </a:solidFill>
                <a:latin typeface="Calibri"/>
                <a:ea typeface="Calibri"/>
                <a:cs typeface="Calibri"/>
                <a:sym typeface="Calibri"/>
              </a:rPr>
              <a:t>Adversarial Sağlamlık</a:t>
            </a:r>
            <a:endParaRPr sz="1300" b="0" i="0" u="none" strike="noStrike" cap="none">
              <a:solidFill>
                <a:schemeClr val="dk1"/>
              </a:solidFill>
              <a:latin typeface="Calibri"/>
              <a:ea typeface="Calibri"/>
              <a:cs typeface="Calibri"/>
              <a:sym typeface="Calibri"/>
            </a:endParaRPr>
          </a:p>
        </p:txBody>
      </p:sp>
      <p:sp>
        <p:nvSpPr>
          <p:cNvPr id="384" name="Google Shape;384;p20"/>
          <p:cNvSpPr/>
          <p:nvPr/>
        </p:nvSpPr>
        <p:spPr>
          <a:xfrm>
            <a:off x="548640" y="4151376"/>
            <a:ext cx="3657600" cy="5943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A5568"/>
              </a:buClr>
              <a:buSzPts val="1100"/>
              <a:buFont typeface="Calibri"/>
              <a:buNone/>
            </a:pPr>
            <a:r>
              <a:rPr lang="en-US" sz="1100" b="0" i="0" u="none" strike="noStrike" cap="none">
                <a:solidFill>
                  <a:srgbClr val="4A5568"/>
                </a:solidFill>
                <a:latin typeface="Calibri"/>
                <a:ea typeface="Calibri"/>
                <a:cs typeface="Calibri"/>
                <a:sym typeface="Calibri"/>
              </a:rPr>
              <a:t>Manipüle edilmiş örneklere karşı modelin dayanıklılığının ölçülmesi ve artırılması.</a:t>
            </a:r>
            <a:endParaRPr sz="1100" b="0" i="0" u="none" strike="noStrike" cap="none">
              <a:solidFill>
                <a:schemeClr val="dk1"/>
              </a:solidFill>
              <a:latin typeface="Calibri"/>
              <a:ea typeface="Calibri"/>
              <a:cs typeface="Calibri"/>
              <a:sym typeface="Calibri"/>
            </a:endParaRPr>
          </a:p>
        </p:txBody>
      </p:sp>
      <p:sp>
        <p:nvSpPr>
          <p:cNvPr id="385" name="Google Shape;385;p20"/>
          <p:cNvSpPr/>
          <p:nvPr/>
        </p:nvSpPr>
        <p:spPr>
          <a:xfrm>
            <a:off x="4754880" y="3675888"/>
            <a:ext cx="4023360" cy="1143000"/>
          </a:xfrm>
          <a:prstGeom prst="roundRect">
            <a:avLst>
              <a:gd name="adj" fmla="val 6400"/>
            </a:avLst>
          </a:prstGeom>
          <a:solidFill>
            <a:srgbClr val="F8FBFF"/>
          </a:solidFill>
          <a:ln>
            <a:noFill/>
          </a:ln>
          <a:effectLst>
            <a:outerShdw blurRad="127000" dist="381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0"/>
          <p:cNvSpPr/>
          <p:nvPr/>
        </p:nvSpPr>
        <p:spPr>
          <a:xfrm>
            <a:off x="4919410" y="3803898"/>
            <a:ext cx="274200" cy="274200"/>
          </a:xfrm>
          <a:prstGeom prst="ellipse">
            <a:avLst/>
          </a:prstGeom>
          <a:solidFill>
            <a:srgbClr val="00C4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0"/>
          <p:cNvSpPr/>
          <p:nvPr/>
        </p:nvSpPr>
        <p:spPr>
          <a:xfrm>
            <a:off x="5321808" y="3767328"/>
            <a:ext cx="3291840" cy="3474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332"/>
              </a:buClr>
              <a:buSzPts val="1300"/>
              <a:buFont typeface="Calibri"/>
              <a:buNone/>
            </a:pPr>
            <a:r>
              <a:rPr lang="en-US" sz="1300" b="1" i="0" u="none" strike="noStrike" cap="none">
                <a:solidFill>
                  <a:srgbClr val="1A2332"/>
                </a:solidFill>
                <a:latin typeface="Calibri"/>
                <a:ea typeface="Calibri"/>
                <a:cs typeface="Calibri"/>
                <a:sym typeface="Calibri"/>
              </a:rPr>
              <a:t>CI/CD Entegrasyonu</a:t>
            </a:r>
            <a:endParaRPr sz="1300" b="0" i="0" u="none" strike="noStrike" cap="none">
              <a:solidFill>
                <a:schemeClr val="dk1"/>
              </a:solidFill>
              <a:latin typeface="Calibri"/>
              <a:ea typeface="Calibri"/>
              <a:cs typeface="Calibri"/>
              <a:sym typeface="Calibri"/>
            </a:endParaRPr>
          </a:p>
        </p:txBody>
      </p:sp>
      <p:sp>
        <p:nvSpPr>
          <p:cNvPr id="388" name="Google Shape;388;p20"/>
          <p:cNvSpPr/>
          <p:nvPr/>
        </p:nvSpPr>
        <p:spPr>
          <a:xfrm>
            <a:off x="4937760" y="4151376"/>
            <a:ext cx="3657600" cy="5943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4A5568"/>
              </a:buClr>
              <a:buSzPts val="1100"/>
              <a:buFont typeface="Calibri"/>
              <a:buNone/>
            </a:pPr>
            <a:r>
              <a:rPr lang="en-US" sz="1100" b="0" i="0" u="none" strike="noStrike" cap="none">
                <a:solidFill>
                  <a:srgbClr val="4A5568"/>
                </a:solidFill>
                <a:latin typeface="Calibri"/>
                <a:ea typeface="Calibri"/>
                <a:cs typeface="Calibri"/>
                <a:sym typeface="Calibri"/>
              </a:rPr>
              <a:t>Gerçek zamanlı otomatik güvenlik analizi aracı olarak geliştirme pipeline'larına entegrasyon.</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3"/>
        <p:cNvGrpSpPr/>
        <p:nvPr/>
      </p:nvGrpSpPr>
      <p:grpSpPr>
        <a:xfrm>
          <a:off x="0" y="0"/>
          <a:ext cx="0" cy="0"/>
          <a:chOff x="0" y="0"/>
          <a:chExt cx="0" cy="0"/>
        </a:xfrm>
      </p:grpSpPr>
      <p:sp>
        <p:nvSpPr>
          <p:cNvPr id="394" name="Google Shape;394;p21"/>
          <p:cNvSpPr/>
          <p:nvPr/>
        </p:nvSpPr>
        <p:spPr>
          <a:xfrm>
            <a:off x="457200" y="201168"/>
            <a:ext cx="822960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A1628"/>
              </a:buClr>
              <a:buSzPts val="2800"/>
              <a:buFont typeface="Calibri"/>
              <a:buNone/>
            </a:pPr>
            <a:r>
              <a:rPr lang="en-US" sz="2800" b="1" i="0" u="none" strike="noStrike" cap="none">
                <a:solidFill>
                  <a:srgbClr val="0A1628"/>
                </a:solidFill>
                <a:latin typeface="Calibri"/>
                <a:ea typeface="Calibri"/>
                <a:cs typeface="Calibri"/>
                <a:sym typeface="Calibri"/>
              </a:rPr>
              <a:t>Kaynakça</a:t>
            </a:r>
            <a:endParaRPr sz="2800" b="0" i="0" u="none" strike="noStrike" cap="none">
              <a:solidFill>
                <a:schemeClr val="dk1"/>
              </a:solidFill>
              <a:latin typeface="Calibri"/>
              <a:ea typeface="Calibri"/>
              <a:cs typeface="Calibri"/>
              <a:sym typeface="Calibri"/>
            </a:endParaRPr>
          </a:p>
        </p:txBody>
      </p:sp>
      <p:sp>
        <p:nvSpPr>
          <p:cNvPr id="395" name="Google Shape;395;p21"/>
          <p:cNvSpPr/>
          <p:nvPr/>
        </p:nvSpPr>
        <p:spPr>
          <a:xfrm>
            <a:off x="457200" y="932688"/>
            <a:ext cx="8229600" cy="22860"/>
          </a:xfrm>
          <a:prstGeom prst="rect">
            <a:avLst/>
          </a:prstGeom>
          <a:solidFill>
            <a:srgbClr val="DBEA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396" name="Google Shape;396;p21"/>
          <p:cNvGraphicFramePr/>
          <p:nvPr/>
        </p:nvGraphicFramePr>
        <p:xfrm>
          <a:off x="365760" y="1051560"/>
          <a:ext cx="8412475" cy="3511200"/>
        </p:xfrm>
        <a:graphic>
          <a:graphicData uri="http://schemas.openxmlformats.org/drawingml/2006/table">
            <a:tbl>
              <a:tblPr>
                <a:noFill/>
                <a:tableStyleId>{B596FA54-F9A0-43AD-BEA4-D8A777AA7D07}</a:tableStyleId>
              </a:tblPr>
              <a:tblGrid>
                <a:gridCol w="8412475">
                  <a:extLst>
                    <a:ext uri="{9D8B030D-6E8A-4147-A177-3AD203B41FA5}">
                      <a16:colId xmlns:a16="http://schemas.microsoft.com/office/drawing/2014/main" val="20000"/>
                    </a:ext>
                  </a:extLst>
                </a:gridCol>
              </a:tblGrid>
              <a:tr h="438900">
                <a:tc>
                  <a:txBody>
                    <a:bodyPr/>
                    <a:lstStyle/>
                    <a:p>
                      <a:pPr marL="0" marR="0" lvl="0" indent="0" algn="l" rtl="0">
                        <a:spcBef>
                          <a:spcPts val="0"/>
                        </a:spcBef>
                        <a:spcAft>
                          <a:spcPts val="0"/>
                        </a:spcAft>
                        <a:buClr>
                          <a:srgbClr val="1A2332"/>
                        </a:buClr>
                        <a:buSzPts val="1100"/>
                        <a:buFont typeface="Calibri"/>
                        <a:buNone/>
                      </a:pPr>
                      <a:r>
                        <a:rPr lang="en-US" sz="1100" u="none" strike="noStrike" cap="none">
                          <a:solidFill>
                            <a:srgbClr val="1A2332"/>
                          </a:solidFill>
                          <a:latin typeface="Calibri"/>
                          <a:ea typeface="Calibri"/>
                          <a:cs typeface="Calibri"/>
                          <a:sym typeface="Calibri"/>
                        </a:rPr>
                        <a:t>[1] Y. Chen vd., "DiverseVul: A New Vulnerable Source Code Dataset..." arXiv:2304.00409, 2023.</a:t>
                      </a:r>
                      <a:endParaRPr sz="11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5F9FF"/>
                    </a:solidFill>
                  </a:tcPr>
                </a:tc>
                <a:extLst>
                  <a:ext uri="{0D108BD9-81ED-4DB2-BD59-A6C34878D82A}">
                    <a16:rowId xmlns:a16="http://schemas.microsoft.com/office/drawing/2014/main" val="10000"/>
                  </a:ext>
                </a:extLst>
              </a:tr>
              <a:tr h="438900">
                <a:tc>
                  <a:txBody>
                    <a:bodyPr/>
                    <a:lstStyle/>
                    <a:p>
                      <a:pPr marL="0" marR="0" lvl="0" indent="0" algn="l" rtl="0">
                        <a:spcBef>
                          <a:spcPts val="0"/>
                        </a:spcBef>
                        <a:spcAft>
                          <a:spcPts val="0"/>
                        </a:spcAft>
                        <a:buClr>
                          <a:srgbClr val="1A2332"/>
                        </a:buClr>
                        <a:buSzPts val="1100"/>
                        <a:buFont typeface="Calibri"/>
                        <a:buNone/>
                      </a:pPr>
                      <a:r>
                        <a:rPr lang="en-US" sz="1100" u="none" strike="noStrike" cap="none">
                          <a:solidFill>
                            <a:srgbClr val="1A2332"/>
                          </a:solidFill>
                          <a:latin typeface="Calibri"/>
                          <a:ea typeface="Calibri"/>
                          <a:cs typeface="Calibri"/>
                          <a:sym typeface="Calibri"/>
                        </a:rPr>
                        <a:t>[2] Dubniczky vd., "CASTLE: Benchmarking Dataset for Static Code Analyzers and LLMs towards CWE Detection," TASE 2025.</a:t>
                      </a:r>
                      <a:endParaRPr sz="11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38900">
                <a:tc>
                  <a:txBody>
                    <a:bodyPr/>
                    <a:lstStyle/>
                    <a:p>
                      <a:pPr marL="0" marR="0" lvl="0" indent="0" algn="l" rtl="0">
                        <a:spcBef>
                          <a:spcPts val="0"/>
                        </a:spcBef>
                        <a:spcAft>
                          <a:spcPts val="0"/>
                        </a:spcAft>
                        <a:buClr>
                          <a:srgbClr val="1A2332"/>
                        </a:buClr>
                        <a:buSzPts val="1100"/>
                        <a:buFont typeface="Calibri"/>
                        <a:buNone/>
                      </a:pPr>
                      <a:r>
                        <a:rPr lang="en-US" sz="1100" u="none" strike="noStrike" cap="none">
                          <a:solidFill>
                            <a:srgbClr val="1A2332"/>
                          </a:solidFill>
                          <a:latin typeface="Calibri"/>
                          <a:ea typeface="Calibri"/>
                          <a:cs typeface="Calibri"/>
                          <a:sym typeface="Calibri"/>
                        </a:rPr>
                        <a:t>[3] H. Pearce vd., "Asleep at the Keyboard? Assessing the Security of GitHub Copilot's Code Contributions," IEEE S&amp;P 2022.</a:t>
                      </a:r>
                      <a:endParaRPr sz="11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5F9FF"/>
                    </a:solidFill>
                  </a:tcPr>
                </a:tc>
                <a:extLst>
                  <a:ext uri="{0D108BD9-81ED-4DB2-BD59-A6C34878D82A}">
                    <a16:rowId xmlns:a16="http://schemas.microsoft.com/office/drawing/2014/main" val="10002"/>
                  </a:ext>
                </a:extLst>
              </a:tr>
              <a:tr h="438900">
                <a:tc>
                  <a:txBody>
                    <a:bodyPr/>
                    <a:lstStyle/>
                    <a:p>
                      <a:pPr marL="0" marR="0" lvl="0" indent="0" algn="l" rtl="0">
                        <a:spcBef>
                          <a:spcPts val="0"/>
                        </a:spcBef>
                        <a:spcAft>
                          <a:spcPts val="0"/>
                        </a:spcAft>
                        <a:buClr>
                          <a:srgbClr val="1A2332"/>
                        </a:buClr>
                        <a:buSzPts val="1100"/>
                        <a:buFont typeface="Calibri"/>
                        <a:buNone/>
                      </a:pPr>
                      <a:r>
                        <a:rPr lang="en-US" sz="1100" u="none" strike="noStrike" cap="none">
                          <a:solidFill>
                            <a:srgbClr val="1A2332"/>
                          </a:solidFill>
                          <a:latin typeface="Calibri"/>
                          <a:ea typeface="Calibri"/>
                          <a:cs typeface="Calibri"/>
                          <a:sym typeface="Calibri"/>
                        </a:rPr>
                        <a:t>[4] M. Fu &amp; C. Tantithamthavorn, "LineVul: A Transformer-based Line-level Vulnerability Prediction," MSR 2022.</a:t>
                      </a:r>
                      <a:endParaRPr sz="11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38900">
                <a:tc>
                  <a:txBody>
                    <a:bodyPr/>
                    <a:lstStyle/>
                    <a:p>
                      <a:pPr marL="0" marR="0" lvl="0" indent="0" algn="l" rtl="0">
                        <a:spcBef>
                          <a:spcPts val="0"/>
                        </a:spcBef>
                        <a:spcAft>
                          <a:spcPts val="0"/>
                        </a:spcAft>
                        <a:buClr>
                          <a:srgbClr val="1A2332"/>
                        </a:buClr>
                        <a:buSzPts val="1100"/>
                        <a:buFont typeface="Calibri"/>
                        <a:buNone/>
                      </a:pPr>
                      <a:r>
                        <a:rPr lang="en-US" sz="1100" u="none" strike="noStrike" cap="none">
                          <a:solidFill>
                            <a:srgbClr val="1A2332"/>
                          </a:solidFill>
                          <a:latin typeface="Calibri"/>
                          <a:ea typeface="Calibri"/>
                          <a:cs typeface="Calibri"/>
                          <a:sym typeface="Calibri"/>
                        </a:rPr>
                        <a:t>[5] E. Aghaei vd., "SecureBERT: A Domain-Specific Language Model for Cybersecurity," SecureComm 2022.</a:t>
                      </a:r>
                      <a:endParaRPr sz="11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5F9FF"/>
                    </a:solidFill>
                  </a:tcPr>
                </a:tc>
                <a:extLst>
                  <a:ext uri="{0D108BD9-81ED-4DB2-BD59-A6C34878D82A}">
                    <a16:rowId xmlns:a16="http://schemas.microsoft.com/office/drawing/2014/main" val="10004"/>
                  </a:ext>
                </a:extLst>
              </a:tr>
              <a:tr h="438900">
                <a:tc>
                  <a:txBody>
                    <a:bodyPr/>
                    <a:lstStyle/>
                    <a:p>
                      <a:pPr marL="0" marR="0" lvl="0" indent="0" algn="l" rtl="0">
                        <a:spcBef>
                          <a:spcPts val="0"/>
                        </a:spcBef>
                        <a:spcAft>
                          <a:spcPts val="0"/>
                        </a:spcAft>
                        <a:buClr>
                          <a:srgbClr val="1A2332"/>
                        </a:buClr>
                        <a:buSzPts val="1100"/>
                        <a:buFont typeface="Calibri"/>
                        <a:buNone/>
                      </a:pPr>
                      <a:r>
                        <a:rPr lang="en-US" sz="1100" u="none" strike="noStrike" cap="none">
                          <a:solidFill>
                            <a:srgbClr val="1A2332"/>
                          </a:solidFill>
                          <a:latin typeface="Calibri"/>
                          <a:ea typeface="Calibri"/>
                          <a:cs typeface="Calibri"/>
                          <a:sym typeface="Calibri"/>
                        </a:rPr>
                        <a:t>[6] E. J. Hu vd., "LoRA: Low-Rank Adaptation of Large Language Models," arXiv:2106.09685, 2021.</a:t>
                      </a:r>
                      <a:endParaRPr sz="11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438900">
                <a:tc>
                  <a:txBody>
                    <a:bodyPr/>
                    <a:lstStyle/>
                    <a:p>
                      <a:pPr marL="0" marR="0" lvl="0" indent="0" algn="l" rtl="0">
                        <a:spcBef>
                          <a:spcPts val="0"/>
                        </a:spcBef>
                        <a:spcAft>
                          <a:spcPts val="0"/>
                        </a:spcAft>
                        <a:buClr>
                          <a:srgbClr val="1A2332"/>
                        </a:buClr>
                        <a:buSzPts val="1100"/>
                        <a:buFont typeface="Calibri"/>
                        <a:buNone/>
                      </a:pPr>
                      <a:r>
                        <a:rPr lang="en-US" sz="1100" u="none" strike="noStrike" cap="none">
                          <a:solidFill>
                            <a:srgbClr val="1A2332"/>
                          </a:solidFill>
                          <a:latin typeface="Calibri"/>
                          <a:ea typeface="Calibri"/>
                          <a:cs typeface="Calibri"/>
                          <a:sym typeface="Calibri"/>
                        </a:rPr>
                        <a:t>[7] M. Alghawazi vd., "Detection of SQL Injection Attack Using ML Techniques," J. Cybersecurity and Privacy, 2022.</a:t>
                      </a:r>
                      <a:endParaRPr sz="11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5F9FF"/>
                    </a:solidFill>
                  </a:tcPr>
                </a:tc>
                <a:extLst>
                  <a:ext uri="{0D108BD9-81ED-4DB2-BD59-A6C34878D82A}">
                    <a16:rowId xmlns:a16="http://schemas.microsoft.com/office/drawing/2014/main" val="10006"/>
                  </a:ext>
                </a:extLst>
              </a:tr>
              <a:tr h="438900">
                <a:tc>
                  <a:txBody>
                    <a:bodyPr/>
                    <a:lstStyle/>
                    <a:p>
                      <a:pPr marL="0" marR="0" lvl="0" indent="0" algn="l" rtl="0">
                        <a:spcBef>
                          <a:spcPts val="0"/>
                        </a:spcBef>
                        <a:spcAft>
                          <a:spcPts val="0"/>
                        </a:spcAft>
                        <a:buClr>
                          <a:srgbClr val="1A2332"/>
                        </a:buClr>
                        <a:buSzPts val="1100"/>
                        <a:buFont typeface="Calibri"/>
                        <a:buNone/>
                      </a:pPr>
                      <a:r>
                        <a:rPr lang="en-US" sz="1100" u="none" strike="noStrike" cap="none">
                          <a:solidFill>
                            <a:srgbClr val="1A2332"/>
                          </a:solidFill>
                          <a:latin typeface="Calibri"/>
                          <a:ea typeface="Calibri"/>
                          <a:cs typeface="Calibri"/>
                          <a:sym typeface="Calibri"/>
                        </a:rPr>
                        <a:t>[8] J. He &amp; M. Vechev, "Large Language Models for Code: Security Hardening and Adversarial Testing," CCS 2023.</a:t>
                      </a:r>
                      <a:endParaRPr sz="11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01"/>
        <p:cNvGrpSpPr/>
        <p:nvPr/>
      </p:nvGrpSpPr>
      <p:grpSpPr>
        <a:xfrm>
          <a:off x="0" y="0"/>
          <a:ext cx="0" cy="0"/>
          <a:chOff x="0" y="0"/>
          <a:chExt cx="0" cy="0"/>
        </a:xfrm>
      </p:grpSpPr>
      <p:sp>
        <p:nvSpPr>
          <p:cNvPr id="402" name="Google Shape;402;p22"/>
          <p:cNvSpPr/>
          <p:nvPr/>
        </p:nvSpPr>
        <p:spPr>
          <a:xfrm>
            <a:off x="457200" y="914400"/>
            <a:ext cx="8229600" cy="7773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ctr" rtl="0">
              <a:spcBef>
                <a:spcPts val="0"/>
              </a:spcBef>
              <a:spcAft>
                <a:spcPts val="0"/>
              </a:spcAft>
              <a:buNone/>
            </a:pPr>
            <a:r>
              <a:rPr lang="en-US" sz="4200" b="1" i="0">
                <a:solidFill>
                  <a:srgbClr val="0A1628"/>
                </a:solidFill>
                <a:latin typeface="Calibri"/>
                <a:ea typeface="Calibri"/>
                <a:cs typeface="Calibri"/>
                <a:sym typeface="Calibri"/>
              </a:rPr>
              <a:t>Teşekkürler</a:t>
            </a:r>
            <a:endParaRPr sz="4200" b="1" i="0">
              <a:solidFill>
                <a:srgbClr val="0A1628"/>
              </a:solidFill>
              <a:latin typeface="Calibri"/>
              <a:ea typeface="Calibri"/>
              <a:cs typeface="Calibri"/>
              <a:sym typeface="Calibri"/>
            </a:endParaRPr>
          </a:p>
        </p:txBody>
      </p:sp>
      <p:sp>
        <p:nvSpPr>
          <p:cNvPr id="403" name="Google Shape;403;p22"/>
          <p:cNvSpPr/>
          <p:nvPr/>
        </p:nvSpPr>
        <p:spPr>
          <a:xfrm>
            <a:off x="1371600" y="1783080"/>
            <a:ext cx="6400800" cy="27300"/>
          </a:xfrm>
          <a:prstGeom prst="rect">
            <a:avLst/>
          </a:prstGeom>
          <a:solidFill>
            <a:srgbClr val="00C4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2"/>
          <p:cNvSpPr/>
          <p:nvPr/>
        </p:nvSpPr>
        <p:spPr>
          <a:xfrm>
            <a:off x="457200" y="1901952"/>
            <a:ext cx="8229600" cy="4572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ctr" rtl="0">
              <a:spcBef>
                <a:spcPts val="0"/>
              </a:spcBef>
              <a:spcAft>
                <a:spcPts val="0"/>
              </a:spcAft>
              <a:buNone/>
            </a:pPr>
            <a:r>
              <a:rPr lang="en-US" sz="2200" b="0" i="0">
                <a:solidFill>
                  <a:srgbClr val="0A7EC2"/>
                </a:solidFill>
                <a:latin typeface="Calibri"/>
                <a:ea typeface="Calibri"/>
                <a:cs typeface="Calibri"/>
                <a:sym typeface="Calibri"/>
              </a:rPr>
              <a:t>Sorularınız?</a:t>
            </a:r>
            <a:endParaRPr sz="2200" b="0" i="0">
              <a:solidFill>
                <a:srgbClr val="0A7EC2"/>
              </a:solidFill>
              <a:latin typeface="Calibri"/>
              <a:ea typeface="Calibri"/>
              <a:cs typeface="Calibri"/>
              <a:sym typeface="Calibri"/>
            </a:endParaRPr>
          </a:p>
        </p:txBody>
      </p:sp>
      <p:sp>
        <p:nvSpPr>
          <p:cNvPr id="405" name="Google Shape;405;p22"/>
          <p:cNvSpPr/>
          <p:nvPr/>
        </p:nvSpPr>
        <p:spPr>
          <a:xfrm>
            <a:off x="457200" y="2743200"/>
            <a:ext cx="8229600" cy="6402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ctr" rtl="0">
              <a:spcBef>
                <a:spcPts val="0"/>
              </a:spcBef>
              <a:spcAft>
                <a:spcPts val="0"/>
              </a:spcAft>
              <a:buNone/>
            </a:pPr>
            <a:r>
              <a:rPr lang="en-US" sz="1400" b="0" i="0">
                <a:solidFill>
                  <a:srgbClr val="1E293B"/>
                </a:solidFill>
                <a:latin typeface="Calibri"/>
                <a:ea typeface="Calibri"/>
                <a:cs typeface="Calibri"/>
                <a:sym typeface="Calibri"/>
              </a:rPr>
              <a:t>Ahmet Erdem Yabacı • Ali Mete Çıplak</a:t>
            </a:r>
            <a:endParaRPr sz="1400" b="0" i="0">
              <a:solidFill>
                <a:srgbClr val="1E293B"/>
              </a:solidFill>
              <a:latin typeface="Calibri"/>
              <a:ea typeface="Calibri"/>
              <a:cs typeface="Calibri"/>
              <a:sym typeface="Calibri"/>
            </a:endParaRPr>
          </a:p>
          <a:p>
            <a:pPr marL="0" lvl="0" indent="0" algn="ctr" rtl="0">
              <a:spcBef>
                <a:spcPts val="0"/>
              </a:spcBef>
              <a:spcAft>
                <a:spcPts val="0"/>
              </a:spcAft>
              <a:buNone/>
            </a:pPr>
            <a:r>
              <a:rPr lang="en-US" sz="1400" b="0" i="0">
                <a:solidFill>
                  <a:srgbClr val="1E293B"/>
                </a:solidFill>
                <a:latin typeface="Calibri"/>
                <a:ea typeface="Calibri"/>
                <a:cs typeface="Calibri"/>
                <a:sym typeface="Calibri"/>
              </a:rPr>
              <a:t>Ertunga Yusuf Ocak • Fatih Eren Durmuş</a:t>
            </a:r>
            <a:endParaRPr sz="1400" b="0" i="0">
              <a:solidFill>
                <a:srgbClr val="1E293B"/>
              </a:solidFill>
              <a:latin typeface="Calibri"/>
              <a:ea typeface="Calibri"/>
              <a:cs typeface="Calibri"/>
              <a:sym typeface="Calibri"/>
            </a:endParaRPr>
          </a:p>
        </p:txBody>
      </p:sp>
      <p:sp>
        <p:nvSpPr>
          <p:cNvPr id="406" name="Google Shape;406;p22"/>
          <p:cNvSpPr/>
          <p:nvPr/>
        </p:nvSpPr>
        <p:spPr>
          <a:xfrm>
            <a:off x="457200" y="3493008"/>
            <a:ext cx="8229600" cy="3201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ctr" rtl="0">
              <a:spcBef>
                <a:spcPts val="0"/>
              </a:spcBef>
              <a:spcAft>
                <a:spcPts val="0"/>
              </a:spcAft>
              <a:buNone/>
            </a:pPr>
            <a:r>
              <a:rPr lang="en-US" sz="1200" b="0" i="0">
                <a:solidFill>
                  <a:srgbClr val="475569"/>
                </a:solidFill>
                <a:latin typeface="Calibri"/>
                <a:ea typeface="Calibri"/>
                <a:cs typeface="Calibri"/>
                <a:sym typeface="Calibri"/>
              </a:rPr>
              <a:t>Danışman: Doç. Dr. Ayşe Berna ALTINEL GİRGİN</a:t>
            </a:r>
            <a:endParaRPr sz="1200" b="0" i="0">
              <a:solidFill>
                <a:srgbClr val="475569"/>
              </a:solidFill>
              <a:latin typeface="Calibri"/>
              <a:ea typeface="Calibri"/>
              <a:cs typeface="Calibri"/>
              <a:sym typeface="Calibri"/>
            </a:endParaRPr>
          </a:p>
        </p:txBody>
      </p:sp>
      <p:sp>
        <p:nvSpPr>
          <p:cNvPr id="407" name="Google Shape;407;p22"/>
          <p:cNvSpPr/>
          <p:nvPr/>
        </p:nvSpPr>
        <p:spPr>
          <a:xfrm>
            <a:off x="1828800" y="3913632"/>
            <a:ext cx="5486400" cy="22800"/>
          </a:xfrm>
          <a:prstGeom prst="rect">
            <a:avLst/>
          </a:prstGeom>
          <a:solidFill>
            <a:srgbClr val="0A7E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2"/>
          <p:cNvSpPr/>
          <p:nvPr/>
        </p:nvSpPr>
        <p:spPr>
          <a:xfrm>
            <a:off x="457200" y="4005072"/>
            <a:ext cx="8229600" cy="274200"/>
          </a:xfrm>
          <a:prstGeom prst="rect">
            <a:avLst/>
          </a:prstGeom>
          <a:solidFill>
            <a:srgbClr val="000000">
              <a:alpha val="0"/>
            </a:srgbClr>
          </a:solidFill>
          <a:ln>
            <a:noFill/>
          </a:ln>
        </p:spPr>
        <p:txBody>
          <a:bodyPr spcFirstLastPara="1" wrap="square" lIns="91400" tIns="45700" rIns="91400" bIns="45700" anchor="ctr" anchorCtr="0">
            <a:noAutofit/>
          </a:bodyPr>
          <a:lstStyle/>
          <a:p>
            <a:pPr marL="0" lvl="0" indent="0" algn="ctr" rtl="0">
              <a:spcBef>
                <a:spcPts val="0"/>
              </a:spcBef>
              <a:spcAft>
                <a:spcPts val="0"/>
              </a:spcAft>
              <a:buNone/>
            </a:pPr>
            <a:r>
              <a:rPr lang="en-US" sz="1000" b="0" i="0">
                <a:solidFill>
                  <a:srgbClr val="64748B"/>
                </a:solidFill>
                <a:latin typeface="Calibri"/>
                <a:ea typeface="Calibri"/>
                <a:cs typeface="Calibri"/>
                <a:sym typeface="Calibri"/>
              </a:rPr>
              <a:t>Marmara Üniversitesi • Teknoloji Fakültesi • Bilgisayar Mühendisliği • 2026</a:t>
            </a:r>
            <a:endParaRPr sz="1000" b="0" i="0">
              <a:solidFill>
                <a:srgbClr val="64748B"/>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3703</Words>
  <Application>Microsoft Office PowerPoint</Application>
  <PresentationFormat>Ekran Gösterisi (16:9)</PresentationFormat>
  <Paragraphs>319</Paragraphs>
  <Slides>20</Slides>
  <Notes>20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20</vt:i4>
      </vt:variant>
    </vt:vector>
  </HeadingPairs>
  <TitlesOfParts>
    <vt:vector size="25" baseType="lpstr">
      <vt:lpstr>Arial</vt:lpstr>
      <vt:lpstr>Calibri</vt:lpstr>
      <vt:lpstr>Roboto</vt:lpstr>
      <vt:lpstr>Times New Roman</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Fatih Eren Durmuş</cp:lastModifiedBy>
  <cp:revision>5</cp:revision>
  <dcterms:modified xsi:type="dcterms:W3CDTF">2026-06-10T19:58:01Z</dcterms:modified>
</cp:coreProperties>
</file>